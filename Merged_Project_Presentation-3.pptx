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Summary" id="{2A80FA2E-CD62-A1DF-8BDD-5004A5B8AA40}">
          <p14:sldIdLst>
            <p14:sldId id="256"/>
          </p14:sldIdLst>
        </p14:section>
        <p14:section name="JavaScript and React" id="{5A0A3910-00A3-1D00-4148-AFBB21C0D626}">
          <p14:sldIdLst>
            <p14:sldId id="257"/>
            <p14:sldId id="258"/>
            <p14:sldId id="259"/>
            <p14:sldId id="260"/>
            <p14:sldId id="261"/>
            <p14:sldId id="262"/>
          </p14:sldIdLst>
        </p14:section>
        <p14:section name="Industry 4.0 (NIRMAN)" id="{230FBC7B-BFF8-E386-38BE-ECB6B55CD244}">
          <p14:sldIdLst>
            <p14:sldId id="263"/>
            <p14:sldId id="264"/>
            <p14:sldId id="265"/>
            <p14:sldId id="266"/>
            <p14:sldId id="267"/>
            <p14:sldId id="268"/>
            <p14:sldId id="269"/>
          </p14:sldIdLst>
        </p14:section>
        <p14:section name="Industry 4.0 (GR TO UD)" id="{E05FAB89-F635-F6F4-38B0-4D304A579E07}">
          <p14:sldIdLst>
            <p14:sldId id="270"/>
            <p14:sldId id="271"/>
            <p14:sldId id="272"/>
            <p14:sldId id="273"/>
            <p14:sldId id="274"/>
            <p14:sldId id="275"/>
          </p14:sldIdLst>
        </p14:section>
        <p14:section name="PDM (Predictive Maintenance)" id="{8F60987C-98DC-F13A-9A89-A001BDE2B092}">
          <p14:sldIdLst>
            <p14:sldId id="276"/>
            <p14:sldId id="277"/>
            <p14:sldId id="278"/>
            <p14:sldId id="279"/>
            <p14:sldId id="280"/>
            <p14:sldId id="281"/>
            <p14:sldId id="282"/>
          </p14:sldIdLst>
        </p14:section>
        <p14:section name="Introduction" id="{62AC9D00-9380-F831-FA44-10F1AE1F5EF5}">
          <p14:sldIdLst>
            <p14:sldId id="283"/>
            <p14:sldId id="284"/>
          </p14:sldIdLst>
        </p14:section>
        <p14:section name="Problem and Goals" id="{F621D195-DCD3-95B1-86FB-F1EEBE3A874F}">
          <p14:sldIdLst>
            <p14:sldId id="285"/>
            <p14:sldId id="286"/>
          </p14:sldIdLst>
        </p14:section>
        <p14:section name="Solution" id="{2E069549-B131-9990-F212-44D90800CBBF}">
          <p14:sldIdLst>
            <p14:sldId id="287"/>
            <p14:sldId id="288"/>
            <p14:sldId id="289"/>
            <p14:sldId id="290"/>
            <p14:sldId id="291"/>
            <p14:sldId id="292"/>
            <p14:sldId id="293"/>
          </p14:sldIdLst>
        </p14:section>
        <p14:section name="Marketing Portal" id="{190F5DED-14D2-4E9C-29B5-8C721B98600F}">
          <p14:sldIdLst>
            <p14:sldId id="294"/>
            <p14:sldId id="295"/>
            <p14:sldId id="296"/>
            <p14:sldId id="297"/>
            <p14:sldId id="298"/>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8" Type="http://schemas.openxmlformats.org/officeDocument/2006/relationships/slide" Target="slides/slide7.xml" /><Relationship Id="rId51"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F7DAEFD8-B297-254F-A0DF-214232326871}" type="datetimeFigureOut">
              <a:rPr lang="en-US" smtClean="0"/>
              <a:t>10/13/2026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D5A0F44-4B3D-854A-8172-E36F24AC6491}" type="slidenum">
              <a:rPr lang="en-US" smtClean="0"/>
              <a:t>‹#›</a:t>
            </a:fld>
            <a:endParaRPr lang="en-US"/>
          </a:p>
        </p:txBody>
      </p:sp>
    </p:spTree>
    <p:extLst>
      <p:ext uri="{BB962C8B-B14F-4D97-AF65-F5344CB8AC3E}">
        <p14:creationId xmlns:p14="http://schemas.microsoft.com/office/powerpoint/2010/main" val="2645931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MROT stands for Maintenance Repair Operation Training, a web application for naval equipment support.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platform, four modules, five user roles, one PostgreSQL database.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data, defect logs, manuals and training material are spread across many places.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Repair, Training, Operation and Maintenance are the four modules.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Navy Maintainer maps to System Maintainer, Navy Operator to System Operator, Navy Supervisor to System Supervisor.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Officers and administrators use MROT with admin privileges.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client talks to Node, Python and third-party servers. Data is stored in PostgreSQL.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project: the Marketing Portal, which tracks every lead through six stages.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portal for the whole lead lifecycle with forms, dashboards and bulk upload.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Lead Enquiry, Budgetary Quotation, Tender, Bidding, Order Acquisition, Order Received.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lead has one row in the leads table. Detail tables for each stage link back to it, and stage history records stage changes.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_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8046720" cy="1005840"/>
          </a:xfrm>
          <a:prstGeom prst="rect">
            <a:avLst/>
          </a:prstGeom>
          <a:noFill/>
          <a:ln/>
        </p:spPr>
        <p:txBody>
          <a:bodyPr wrap="square" rtlCol="0"/>
          <a:lstStyle>
            <a:lvl1pPr marL="0" indent="0" algn="l">
              <a:buNone/>
              <a:defRPr lang="en-US" sz="5400" b="1" dirty="0">
                <a:solidFill>
                  <a:schemeClr val="tx2"/>
                </a:solidFill>
              </a:defRPr>
            </a:lvl1pPr>
          </a:lstStyle>
          <a:p>
            <a:pPr marL="0" indent="0" algn="l">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3.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8046720" cy="1005840"/>
          </a:xfrm>
          <a:prstGeom prst="rect">
            <a:avLst/>
          </a:prstGeom>
          <a:noFill/>
          <a:ln/>
        </p:spPr>
        <p:txBody>
          <a:bodyPr wrap="square" lIns="0" tIns="0" rIns="0" bIns="0" rtlCol="0" anchor="ctr"/>
          <a:lstStyle/>
          <a:p>
            <a:pPr marL="0" indent="0" algn="l">
              <a:buNone/>
            </a:pPr>
            <a:r>
              <a:rPr lang="en-US" sz="5400" b="1" dirty="0">
                <a:solidFill>
                  <a:schemeClr val="tx2"/>
                </a:solidFill>
              </a:rPr>
              <a:t>Project Summary</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JavaScript Learning</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Overview</a:t>
            </a:r>
            <a:endParaRPr lang="en-US" sz="2000" dirty="0"/>
          </a:p>
          <a:p>
            <a:pPr marL="342900" indent="-342900">
              <a:spcAft>
                <a:spcPts val="500"/>
              </a:spcAft>
              <a:buSzPct val="100000"/>
              <a:buChar char="•"/>
            </a:pPr>
            <a:r>
              <a:rPr lang="en-US" sz="1600" dirty="0">
                <a:solidFill>
                  <a:schemeClr val="tx1"/>
                </a:solidFill>
              </a:rPr>
              <a:t>Studied JavaScript fundamentals to build a strong foundation for frontend web development.</a:t>
            </a:r>
            <a:endParaRPr lang="en-US" sz="2000" dirty="0"/>
          </a:p>
          <a:p>
            <a:pPr marL="342900" indent="-342900">
              <a:spcAft>
                <a:spcPts val="500"/>
              </a:spcAft>
              <a:buSzPct val="100000"/>
              <a:buChar char="•"/>
            </a:pPr>
            <a:r>
              <a:rPr lang="en-US" sz="1600" dirty="0">
                <a:solidFill>
                  <a:schemeClr val="tx1"/>
                </a:solidFill>
              </a:rPr>
              <a:t>Learned the core programming concepts required for developing dynamic and interactive web applications.</a:t>
            </a:r>
            <a:endParaRPr lang="en-US" sz="2000" dirty="0"/>
          </a:p>
          <a:p>
            <a:pPr marL="342900" indent="-342900">
              <a:spcAft>
                <a:spcPts val="500"/>
              </a:spcAft>
              <a:buSzPct val="100000"/>
              <a:buChar char="•"/>
            </a:pPr>
            <a:r>
              <a:rPr lang="en-US" sz="1600" dirty="0">
                <a:solidFill>
                  <a:schemeClr val="tx1"/>
                </a:solidFill>
              </a:rPr>
              <a:t>Gained an understanding of how JavaScript interacts with HTML, CSS, and browser elements to create responsive user interfaces.</a:t>
            </a:r>
            <a:endParaRPr lang="en-US" sz="20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Topics Covered: JavaScript Fundamentals</a:t>
            </a:r>
            <a:endParaRPr lang="en-US" sz="2000" dirty="0"/>
          </a:p>
          <a:p>
            <a:pPr marL="342900" indent="-342900">
              <a:spcAft>
                <a:spcPts val="500"/>
              </a:spcAft>
              <a:buSzPct val="100000"/>
              <a:buChar char="•"/>
            </a:pPr>
            <a:r>
              <a:rPr lang="en-US" sz="1600" dirty="0">
                <a:solidFill>
                  <a:schemeClr val="tx1"/>
                </a:solidFill>
              </a:rPr>
              <a:t>JavaScript Introduction</a:t>
            </a:r>
            <a:endParaRPr lang="en-US" sz="2000" dirty="0"/>
          </a:p>
          <a:p>
            <a:pPr marL="342900" indent="-342900">
              <a:spcAft>
                <a:spcPts val="500"/>
              </a:spcAft>
              <a:buSzPct val="100000"/>
              <a:buChar char="•"/>
            </a:pPr>
            <a:r>
              <a:rPr lang="en-US" sz="1600" dirty="0">
                <a:solidFill>
                  <a:schemeClr val="tx1"/>
                </a:solidFill>
              </a:rPr>
              <a:t>JavaScript Syntax</a:t>
            </a:r>
            <a:endParaRPr lang="en-US" sz="2000" dirty="0"/>
          </a:p>
          <a:p>
            <a:pPr marL="342900" indent="-342900">
              <a:spcAft>
                <a:spcPts val="500"/>
              </a:spcAft>
              <a:buSzPct val="100000"/>
              <a:buChar char="•"/>
            </a:pPr>
            <a:r>
              <a:rPr lang="en-US" sz="1600" dirty="0">
                <a:solidFill>
                  <a:schemeClr val="tx1"/>
                </a:solidFill>
              </a:rPr>
              <a:t>Variables and Data Types</a:t>
            </a:r>
            <a:endParaRPr lang="en-US" sz="2000" dirty="0"/>
          </a:p>
          <a:p>
            <a:pPr marL="342900" indent="-342900">
              <a:spcAft>
                <a:spcPts val="500"/>
              </a:spcAft>
              <a:buSzPct val="100000"/>
              <a:buChar char="•"/>
            </a:pPr>
            <a:r>
              <a:rPr lang="en-US" sz="1600" dirty="0">
                <a:solidFill>
                  <a:schemeClr val="tx1"/>
                </a:solidFill>
              </a:rPr>
              <a:t>JavaScript Output</a:t>
            </a:r>
            <a:endParaRPr lang="en-US" sz="2000" dirty="0"/>
          </a:p>
          <a:p>
            <a:pPr marL="342900" indent="-342900">
              <a:spcAft>
                <a:spcPts val="500"/>
              </a:spcAft>
              <a:buSzPct val="100000"/>
              <a:buChar char="•"/>
            </a:pPr>
            <a:r>
              <a:rPr lang="en-US" sz="1600" dirty="0">
                <a:solidFill>
                  <a:schemeClr val="tx1"/>
                </a:solidFill>
              </a:rPr>
              <a:t>JavaScript Operators</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JavaScript: Concepts</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Programming Concepts</a:t>
            </a:r>
            <a:endParaRPr lang="en-US" sz="2000" dirty="0"/>
          </a:p>
          <a:p>
            <a:pPr marL="342900" indent="-342900">
              <a:spcAft>
                <a:spcPts val="500"/>
              </a:spcAft>
              <a:buSzPct val="100000"/>
              <a:buChar char="•"/>
            </a:pPr>
            <a:r>
              <a:rPr lang="en-US" sz="1600" dirty="0">
                <a:solidFill>
                  <a:schemeClr val="tx1"/>
                </a:solidFill>
              </a:rPr>
              <a:t>Conditional Statements (If, Else, Switch)</a:t>
            </a:r>
            <a:endParaRPr lang="en-US" sz="2000" dirty="0"/>
          </a:p>
          <a:p>
            <a:pPr marL="342900" indent="-342900">
              <a:spcAft>
                <a:spcPts val="500"/>
              </a:spcAft>
              <a:buSzPct val="100000"/>
              <a:buChar char="•"/>
            </a:pPr>
            <a:r>
              <a:rPr lang="en-US" sz="1600" dirty="0">
                <a:solidFill>
                  <a:schemeClr val="tx1"/>
                </a:solidFill>
              </a:rPr>
              <a:t>Loops and Iterations</a:t>
            </a:r>
            <a:endParaRPr lang="en-US" sz="2000" dirty="0"/>
          </a:p>
          <a:p>
            <a:pPr marL="342900" indent="-342900">
              <a:spcAft>
                <a:spcPts val="500"/>
              </a:spcAft>
              <a:buSzPct val="100000"/>
              <a:buChar char="•"/>
            </a:pPr>
            <a:r>
              <a:rPr lang="en-US" sz="1600" dirty="0">
                <a:solidFill>
                  <a:schemeClr val="tx1"/>
                </a:solidFill>
              </a:rPr>
              <a:t>Functions</a:t>
            </a:r>
            <a:endParaRPr lang="en-US" sz="2000" dirty="0"/>
          </a:p>
          <a:p>
            <a:pPr marL="342900" indent="-342900">
              <a:spcAft>
                <a:spcPts val="500"/>
              </a:spcAft>
              <a:buSzPct val="100000"/>
              <a:buChar char="•"/>
            </a:pPr>
            <a:r>
              <a:rPr lang="en-US" sz="1600" dirty="0">
                <a:solidFill>
                  <a:schemeClr val="tx1"/>
                </a:solidFill>
              </a:rPr>
              <a:t>Scope</a:t>
            </a:r>
            <a:endParaRPr lang="en-US" sz="2000" dirty="0"/>
          </a:p>
          <a:p>
            <a:pPr marL="342900" indent="-342900">
              <a:spcAft>
                <a:spcPts val="500"/>
              </a:spcAft>
              <a:buSzPct val="100000"/>
              <a:buChar char="•"/>
            </a:pPr>
            <a:r>
              <a:rPr lang="en-US" sz="1600" dirty="0">
                <a:solidFill>
                  <a:schemeClr val="tx1"/>
                </a:solidFill>
              </a:rPr>
              <a:t>Objects</a:t>
            </a:r>
            <a:endParaRPr lang="en-US" sz="2000" dirty="0"/>
          </a:p>
          <a:p>
            <a:pPr marL="342900" indent="-342900">
              <a:spcAft>
                <a:spcPts val="500"/>
              </a:spcAft>
              <a:buSzPct val="100000"/>
              <a:buChar char="•"/>
            </a:pPr>
            <a:r>
              <a:rPr lang="en-US" sz="1600" dirty="0">
                <a:solidFill>
                  <a:schemeClr val="tx1"/>
                </a:solidFill>
              </a:rPr>
              <a:t>Arrays</a:t>
            </a:r>
            <a:endParaRPr lang="en-US" sz="2000" dirty="0"/>
          </a:p>
          <a:p>
            <a:pPr marL="342900" indent="-342900">
              <a:spcAft>
                <a:spcPts val="500"/>
              </a:spcAft>
              <a:buSzPct val="100000"/>
              <a:buChar char="•"/>
            </a:pPr>
            <a:r>
              <a:rPr lang="en-US" sz="1600" dirty="0">
                <a:solidFill>
                  <a:schemeClr val="tx1"/>
                </a:solidFill>
              </a:rPr>
              <a:t>Strings</a:t>
            </a:r>
            <a:endParaRPr lang="en-US" sz="2000" dirty="0"/>
          </a:p>
          <a:p>
            <a:pPr marL="342900" indent="-342900">
              <a:spcAft>
                <a:spcPts val="500"/>
              </a:spcAft>
              <a:buSzPct val="100000"/>
              <a:buChar char="•"/>
            </a:pPr>
            <a:r>
              <a:rPr lang="en-US" sz="1600" dirty="0">
                <a:solidFill>
                  <a:schemeClr val="tx1"/>
                </a:solidFill>
              </a:rPr>
              <a:t>Numbers</a:t>
            </a:r>
            <a:endParaRPr lang="en-US" sz="2000" dirty="0"/>
          </a:p>
          <a:p>
            <a:pPr marL="342900" indent="-342900">
              <a:spcAft>
                <a:spcPts val="500"/>
              </a:spcAft>
              <a:buSzPct val="100000"/>
              <a:buChar char="•"/>
            </a:pPr>
            <a:r>
              <a:rPr lang="en-US" sz="1600" dirty="0">
                <a:solidFill>
                  <a:schemeClr val="tx1"/>
                </a:solidFill>
              </a:rPr>
              <a:t>Sets</a:t>
            </a:r>
            <a:endParaRPr lang="en-US" sz="2000" dirty="0"/>
          </a:p>
          <a:p>
            <a:pPr marL="342900" indent="-342900">
              <a:spcAft>
                <a:spcPts val="500"/>
              </a:spcAft>
              <a:buSzPct val="100000"/>
              <a:buChar char="•"/>
            </a:pPr>
            <a:r>
              <a:rPr lang="en-US" sz="1600" dirty="0">
                <a:solidFill>
                  <a:schemeClr val="tx1"/>
                </a:solidFill>
              </a:rPr>
              <a:t>Maps</a:t>
            </a:r>
            <a:endParaRPr lang="en-US" sz="20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Advanced JavaScript</a:t>
            </a:r>
            <a:endParaRPr lang="en-US" sz="2000" dirty="0"/>
          </a:p>
          <a:p>
            <a:pPr marL="342900" indent="-342900">
              <a:spcAft>
                <a:spcPts val="500"/>
              </a:spcAft>
              <a:buSzPct val="100000"/>
              <a:buChar char="•"/>
            </a:pPr>
            <a:r>
              <a:rPr lang="en-US" sz="1600" dirty="0">
                <a:solidFill>
                  <a:schemeClr val="tx1"/>
                </a:solidFill>
              </a:rPr>
              <a:t>Regular Expressions</a:t>
            </a:r>
            <a:endParaRPr lang="en-US" sz="2000" dirty="0"/>
          </a:p>
          <a:p>
            <a:pPr marL="342900" indent="-342900">
              <a:spcAft>
                <a:spcPts val="500"/>
              </a:spcAft>
              <a:buSzPct val="100000"/>
              <a:buChar char="•"/>
            </a:pPr>
            <a:r>
              <a:rPr lang="en-US" sz="1600" dirty="0">
                <a:solidFill>
                  <a:schemeClr val="tx1"/>
                </a:solidFill>
              </a:rPr>
              <a:t>Error Handling</a:t>
            </a:r>
            <a:endParaRPr lang="en-US" sz="2000" dirty="0"/>
          </a:p>
          <a:p>
            <a:pPr marL="342900" indent="-342900">
              <a:spcAft>
                <a:spcPts val="500"/>
              </a:spcAft>
              <a:buSzPct val="100000"/>
              <a:buChar char="•"/>
            </a:pPr>
            <a:r>
              <a:rPr lang="en-US" sz="1600" dirty="0">
                <a:solidFill>
                  <a:schemeClr val="tx1"/>
                </a:solidFill>
              </a:rPr>
              <a:t>Modern JavaScript (ES6)</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React.js Learning</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Overview</a:t>
            </a:r>
            <a:endParaRPr lang="en-US" sz="2200" dirty="0"/>
          </a:p>
          <a:p>
            <a:pPr marL="342900" indent="-342900">
              <a:spcAft>
                <a:spcPts val="500"/>
              </a:spcAft>
              <a:buSzPct val="100000"/>
              <a:buChar char="•"/>
            </a:pPr>
            <a:r>
              <a:rPr lang="en-US" sz="1800" dirty="0">
                <a:solidFill>
                  <a:schemeClr val="tx1"/>
                </a:solidFill>
              </a:rPr>
              <a:t>Learned React.js to understand modern frontend application development.</a:t>
            </a:r>
            <a:endParaRPr lang="en-US" sz="2200" dirty="0"/>
          </a:p>
          <a:p>
            <a:pPr marL="342900" indent="-342900">
              <a:spcAft>
                <a:spcPts val="500"/>
              </a:spcAft>
              <a:buSzPct val="100000"/>
              <a:buChar char="•"/>
            </a:pPr>
            <a:r>
              <a:rPr lang="en-US" sz="1800" dirty="0">
                <a:solidFill>
                  <a:schemeClr val="tx1"/>
                </a:solidFill>
              </a:rPr>
              <a:t>Studied component-based architecture for building scalable and reusable user interfaces.</a:t>
            </a:r>
            <a:endParaRPr lang="en-US" sz="2200" dirty="0"/>
          </a:p>
          <a:p>
            <a:pPr marL="342900" indent="-342900">
              <a:spcAft>
                <a:spcPts val="500"/>
              </a:spcAft>
              <a:buSzPct val="100000"/>
              <a:buChar char="•"/>
            </a:pPr>
            <a:r>
              <a:rPr lang="en-US" sz="1800" dirty="0">
                <a:solidFill>
                  <a:schemeClr val="tx1"/>
                </a:solidFill>
              </a:rPr>
              <a:t>Gained practical knowledge of React fundamentals required for enterprise web applications.</a:t>
            </a:r>
            <a:endParaRPr lang="en-US" sz="22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Topics Covered: React Fundamentals</a:t>
            </a:r>
            <a:endParaRPr lang="en-US" sz="2200" dirty="0"/>
          </a:p>
          <a:p>
            <a:pPr marL="342900" indent="-342900">
              <a:spcAft>
                <a:spcPts val="500"/>
              </a:spcAft>
              <a:buSzPct val="100000"/>
              <a:buChar char="•"/>
            </a:pPr>
            <a:r>
              <a:rPr lang="en-US" sz="1800" dirty="0">
                <a:solidFill>
                  <a:schemeClr val="tx1"/>
                </a:solidFill>
              </a:rPr>
              <a:t>React Introduction</a:t>
            </a:r>
            <a:endParaRPr lang="en-US" sz="2200" dirty="0"/>
          </a:p>
          <a:p>
            <a:pPr marL="342900" indent="-342900">
              <a:spcAft>
                <a:spcPts val="500"/>
              </a:spcAft>
              <a:buSzPct val="100000"/>
              <a:buChar char="•"/>
            </a:pPr>
            <a:r>
              <a:rPr lang="en-US" sz="1800" dirty="0">
                <a:solidFill>
                  <a:schemeClr val="tx1"/>
                </a:solidFill>
              </a:rPr>
              <a:t>Project Setup</a:t>
            </a:r>
            <a:endParaRPr lang="en-US" sz="2200" dirty="0"/>
          </a:p>
          <a:p>
            <a:pPr marL="342900" indent="-342900">
              <a:spcAft>
                <a:spcPts val="500"/>
              </a:spcAft>
              <a:buSzPct val="100000"/>
              <a:buChar char="•"/>
            </a:pPr>
            <a:r>
              <a:rPr lang="en-US" sz="1800" dirty="0">
                <a:solidFill>
                  <a:schemeClr val="tx1"/>
                </a:solidFill>
              </a:rPr>
              <a:t>First React Application</a:t>
            </a:r>
            <a:endParaRPr lang="en-US" sz="2200" dirty="0"/>
          </a:p>
          <a:p>
            <a:pPr marL="342900" indent="-342900">
              <a:spcAft>
                <a:spcPts val="500"/>
              </a:spcAft>
              <a:buSzPct val="100000"/>
              <a:buChar char="•"/>
            </a:pPr>
            <a:r>
              <a:rPr lang="en-US" sz="1800" dirty="0">
                <a:solidFill>
                  <a:schemeClr val="tx1"/>
                </a:solidFill>
              </a:rPr>
              <a:t>Rendering HTML</a:t>
            </a:r>
            <a:endParaRPr lang="en-US" sz="2200" dirty="0"/>
          </a:p>
          <a:p>
            <a:pPr marL="342900" indent="-342900">
              <a:spcAft>
                <a:spcPts val="500"/>
              </a:spcAft>
              <a:buSzPct val="100000"/>
              <a:buChar char="•"/>
            </a:pPr>
            <a:r>
              <a:rPr lang="en-US" sz="1800" dirty="0">
                <a:solidFill>
                  <a:schemeClr val="tx1"/>
                </a:solidFill>
              </a:rPr>
              <a:t>React Upgrade</a:t>
            </a:r>
            <a:endParaRPr lang="en-US" sz="2200" dirty="0"/>
          </a:p>
          <a:p>
            <a:pPr marL="342900" indent="-342900">
              <a:spcAft>
                <a:spcPts val="500"/>
              </a:spcAft>
              <a:buSzPct val="100000"/>
              <a:buChar char="•"/>
            </a:pPr>
            <a:r>
              <a:rPr lang="en-US" sz="1800" dirty="0">
                <a:solidFill>
                  <a:schemeClr val="tx1"/>
                </a:solidFill>
              </a:rPr>
              <a:t>ES6 Features</a:t>
            </a:r>
            <a:endParaRPr lang="en-US" sz="2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React.js: Components and Props</a:t>
            </a:r>
            <a:endParaRPr lang="en-US" sz="3200" dirty="0"/>
          </a:p>
        </p:txBody>
      </p:sp>
      <p:sp>
        <p:nvSpPr>
          <p:cNvPr id="3" name="Text 1"/>
          <p:cNvSpPr txBox="1"/>
          <p:nvPr/>
        </p:nvSpPr>
        <p:spPr>
          <a:xfrm>
            <a:off x="457200" y="1234440"/>
            <a:ext cx="256032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JSX</a:t>
            </a:r>
            <a:endParaRPr lang="en-US" sz="2200" dirty="0"/>
          </a:p>
          <a:p>
            <a:pPr marL="342900" indent="-342900">
              <a:spcAft>
                <a:spcPts val="500"/>
              </a:spcAft>
              <a:buSzPct val="100000"/>
              <a:buChar char="•"/>
            </a:pPr>
            <a:r>
              <a:rPr lang="en-US" sz="1800" dirty="0">
                <a:solidFill>
                  <a:schemeClr val="tx1"/>
                </a:solidFill>
              </a:rPr>
              <a:t>JSX Introduction</a:t>
            </a:r>
            <a:endParaRPr lang="en-US" sz="2200" dirty="0"/>
          </a:p>
          <a:p>
            <a:pPr marL="342900" indent="-342900">
              <a:spcAft>
                <a:spcPts val="500"/>
              </a:spcAft>
              <a:buSzPct val="100000"/>
              <a:buChar char="•"/>
            </a:pPr>
            <a:r>
              <a:rPr lang="en-US" sz="1800" dirty="0">
                <a:solidFill>
                  <a:schemeClr val="tx1"/>
                </a:solidFill>
              </a:rPr>
              <a:t>JSX Expressions</a:t>
            </a:r>
            <a:endParaRPr lang="en-US" sz="2200" dirty="0"/>
          </a:p>
          <a:p>
            <a:pPr marL="342900" indent="-342900">
              <a:spcAft>
                <a:spcPts val="500"/>
              </a:spcAft>
              <a:buSzPct val="100000"/>
              <a:buChar char="•"/>
            </a:pPr>
            <a:r>
              <a:rPr lang="en-US" sz="1800" dirty="0">
                <a:solidFill>
                  <a:schemeClr val="tx1"/>
                </a:solidFill>
              </a:rPr>
              <a:t>JSX Attributes</a:t>
            </a:r>
            <a:endParaRPr lang="en-US" sz="2200" dirty="0"/>
          </a:p>
          <a:p>
            <a:pPr marL="342900" indent="-342900">
              <a:spcAft>
                <a:spcPts val="500"/>
              </a:spcAft>
              <a:buSzPct val="100000"/>
              <a:buChar char="•"/>
            </a:pPr>
            <a:r>
              <a:rPr lang="en-US" sz="1800" dirty="0">
                <a:solidFill>
                  <a:schemeClr val="tx1"/>
                </a:solidFill>
              </a:rPr>
              <a:t>Conditional Rendering</a:t>
            </a:r>
            <a:endParaRPr lang="en-US" sz="2200" dirty="0"/>
          </a:p>
        </p:txBody>
      </p:sp>
      <p:sp>
        <p:nvSpPr>
          <p:cNvPr id="4" name="Text 2"/>
          <p:cNvSpPr txBox="1"/>
          <p:nvPr/>
        </p:nvSpPr>
        <p:spPr>
          <a:xfrm>
            <a:off x="3291840" y="1234440"/>
            <a:ext cx="256032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Component Architecture</a:t>
            </a:r>
            <a:endParaRPr lang="en-US" sz="2200" dirty="0"/>
          </a:p>
          <a:p>
            <a:pPr marL="342900" indent="-342900">
              <a:spcAft>
                <a:spcPts val="500"/>
              </a:spcAft>
              <a:buSzPct val="100000"/>
              <a:buChar char="•"/>
            </a:pPr>
            <a:r>
              <a:rPr lang="en-US" sz="1800" dirty="0">
                <a:solidFill>
                  <a:schemeClr val="tx1"/>
                </a:solidFill>
              </a:rPr>
              <a:t>React Components</a:t>
            </a:r>
            <a:endParaRPr lang="en-US" sz="2200" dirty="0"/>
          </a:p>
          <a:p>
            <a:pPr marL="342900" indent="-342900">
              <a:spcAft>
                <a:spcPts val="500"/>
              </a:spcAft>
              <a:buSzPct val="100000"/>
              <a:buChar char="•"/>
            </a:pPr>
            <a:r>
              <a:rPr lang="en-US" sz="1800" dirty="0">
                <a:solidFill>
                  <a:schemeClr val="tx1"/>
                </a:solidFill>
              </a:rPr>
              <a:t>Class Components</a:t>
            </a:r>
            <a:endParaRPr lang="en-US" sz="2200" dirty="0"/>
          </a:p>
          <a:p>
            <a:pPr marL="342900" indent="-342900">
              <a:spcAft>
                <a:spcPts val="500"/>
              </a:spcAft>
              <a:buSzPct val="100000"/>
              <a:buChar char="•"/>
            </a:pPr>
            <a:r>
              <a:rPr lang="en-US" sz="1800" dirty="0">
                <a:solidFill>
                  <a:schemeClr val="tx1"/>
                </a:solidFill>
              </a:rPr>
              <a:t>Functional Components</a:t>
            </a:r>
            <a:endParaRPr lang="en-US" sz="2200" dirty="0"/>
          </a:p>
          <a:p>
            <a:pPr marL="342900" indent="-342900">
              <a:spcAft>
                <a:spcPts val="500"/>
              </a:spcAft>
              <a:buSzPct val="100000"/>
              <a:buChar char="•"/>
            </a:pPr>
            <a:r>
              <a:rPr lang="en-US" sz="1800" dirty="0">
                <a:solidFill>
                  <a:schemeClr val="tx1"/>
                </a:solidFill>
              </a:rPr>
              <a:t>Component Reusability</a:t>
            </a:r>
            <a:endParaRPr lang="en-US" sz="2200" dirty="0"/>
          </a:p>
        </p:txBody>
      </p:sp>
      <p:sp>
        <p:nvSpPr>
          <p:cNvPr id="5" name="Text 3"/>
          <p:cNvSpPr txBox="1"/>
          <p:nvPr/>
        </p:nvSpPr>
        <p:spPr>
          <a:xfrm>
            <a:off x="6126480" y="1234440"/>
            <a:ext cx="256032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Props</a:t>
            </a:r>
            <a:endParaRPr lang="en-US" sz="2200" dirty="0"/>
          </a:p>
          <a:p>
            <a:pPr marL="342900" indent="-342900">
              <a:spcAft>
                <a:spcPts val="500"/>
              </a:spcAft>
              <a:buSzPct val="100000"/>
              <a:buChar char="•"/>
            </a:pPr>
            <a:r>
              <a:rPr lang="en-US" sz="1800" dirty="0">
                <a:solidFill>
                  <a:schemeClr val="tx1"/>
                </a:solidFill>
              </a:rPr>
              <a:t>Props</a:t>
            </a:r>
            <a:endParaRPr lang="en-US" sz="2200" dirty="0"/>
          </a:p>
          <a:p>
            <a:pPr marL="342900" indent="-342900">
              <a:spcAft>
                <a:spcPts val="500"/>
              </a:spcAft>
              <a:buSzPct val="100000"/>
              <a:buChar char="•"/>
            </a:pPr>
            <a:r>
              <a:rPr lang="en-US" sz="1800" dirty="0">
                <a:solidFill>
                  <a:schemeClr val="tx1"/>
                </a:solidFill>
              </a:rPr>
              <a:t>Props Destructuring</a:t>
            </a:r>
            <a:endParaRPr lang="en-US" sz="2200" dirty="0"/>
          </a:p>
          <a:p>
            <a:pPr marL="342900" indent="-342900">
              <a:spcAft>
                <a:spcPts val="500"/>
              </a:spcAft>
              <a:buSzPct val="100000"/>
              <a:buChar char="•"/>
            </a:pPr>
            <a:r>
              <a:rPr lang="en-US" sz="1800" dirty="0">
                <a:solidFill>
                  <a:schemeClr val="tx1"/>
                </a:solidFill>
              </a:rPr>
              <a:t>Props Children</a:t>
            </a:r>
            <a:endParaRPr lang="en-US" sz="2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React Hooks</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400" b="1" dirty="0">
                <a:solidFill>
                  <a:schemeClr val="tx2"/>
                </a:solidFill>
              </a:rPr>
              <a:t>Core Hooks</a:t>
            </a:r>
            <a:endParaRPr lang="en-US" sz="2400" dirty="0"/>
          </a:p>
          <a:p>
            <a:pPr marL="342900" indent="-342900">
              <a:spcAft>
                <a:spcPts val="500"/>
              </a:spcAft>
              <a:buSzPct val="100000"/>
              <a:buChar char="•"/>
            </a:pPr>
            <a:r>
              <a:rPr lang="en-US" sz="2000" dirty="0">
                <a:solidFill>
                  <a:schemeClr val="tx1"/>
                </a:solidFill>
              </a:rPr>
              <a:t>useState</a:t>
            </a:r>
            <a:endParaRPr lang="en-US" sz="2400" dirty="0"/>
          </a:p>
          <a:p>
            <a:pPr marL="342900" indent="-342900">
              <a:spcAft>
                <a:spcPts val="500"/>
              </a:spcAft>
              <a:buSzPct val="100000"/>
              <a:buChar char="•"/>
            </a:pPr>
            <a:r>
              <a:rPr lang="en-US" sz="2000" dirty="0">
                <a:solidFill>
                  <a:schemeClr val="tx1"/>
                </a:solidFill>
              </a:rPr>
              <a:t>useEffect</a:t>
            </a:r>
            <a:endParaRPr lang="en-US" sz="2400" dirty="0"/>
          </a:p>
          <a:p>
            <a:pPr marL="342900" indent="-342900">
              <a:spcAft>
                <a:spcPts val="500"/>
              </a:spcAft>
              <a:buSzPct val="100000"/>
              <a:buChar char="•"/>
            </a:pPr>
            <a:r>
              <a:rPr lang="en-US" sz="2000" dirty="0">
                <a:solidFill>
                  <a:schemeClr val="tx1"/>
                </a:solidFill>
              </a:rPr>
              <a:t>useContext</a:t>
            </a:r>
            <a:endParaRPr lang="en-US" sz="2400" dirty="0"/>
          </a:p>
          <a:p>
            <a:pPr marL="342900" indent="-342900">
              <a:spcAft>
                <a:spcPts val="500"/>
              </a:spcAft>
              <a:buSzPct val="100000"/>
              <a:buChar char="•"/>
            </a:pPr>
            <a:r>
              <a:rPr lang="en-US" sz="2000" dirty="0">
                <a:solidFill>
                  <a:schemeClr val="tx1"/>
                </a:solidFill>
              </a:rPr>
              <a:t>useRef</a:t>
            </a:r>
            <a:endParaRPr lang="en-US" sz="24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400" b="1" dirty="0">
                <a:solidFill>
                  <a:schemeClr val="tx2"/>
                </a:solidFill>
              </a:rPr>
              <a:t>More Hooks</a:t>
            </a:r>
            <a:endParaRPr lang="en-US" sz="2400" dirty="0"/>
          </a:p>
          <a:p>
            <a:pPr marL="342900" indent="-342900">
              <a:spcAft>
                <a:spcPts val="500"/>
              </a:spcAft>
              <a:buSzPct val="100000"/>
              <a:buChar char="•"/>
            </a:pPr>
            <a:r>
              <a:rPr lang="en-US" sz="2000" dirty="0">
                <a:solidFill>
                  <a:schemeClr val="tx1"/>
                </a:solidFill>
              </a:rPr>
              <a:t>useReducer</a:t>
            </a:r>
            <a:endParaRPr lang="en-US" sz="2400" dirty="0"/>
          </a:p>
          <a:p>
            <a:pPr marL="342900" indent="-342900">
              <a:spcAft>
                <a:spcPts val="500"/>
              </a:spcAft>
              <a:buSzPct val="100000"/>
              <a:buChar char="•"/>
            </a:pPr>
            <a:r>
              <a:rPr lang="en-US" sz="2000" dirty="0">
                <a:solidFill>
                  <a:schemeClr val="tx1"/>
                </a:solidFill>
              </a:rPr>
              <a:t>useCallback</a:t>
            </a:r>
            <a:endParaRPr lang="en-US" sz="2400" dirty="0"/>
          </a:p>
          <a:p>
            <a:pPr marL="342900" indent="-342900">
              <a:spcAft>
                <a:spcPts val="500"/>
              </a:spcAft>
              <a:buSzPct val="100000"/>
              <a:buChar char="•"/>
            </a:pPr>
            <a:r>
              <a:rPr lang="en-US" sz="2000" dirty="0">
                <a:solidFill>
                  <a:schemeClr val="tx1"/>
                </a:solidFill>
              </a:rPr>
              <a:t>useMemo</a:t>
            </a:r>
            <a:endParaRPr lang="en-US" sz="2400" dirty="0"/>
          </a:p>
          <a:p>
            <a:pPr marL="342900" indent="-342900">
              <a:spcAft>
                <a:spcPts val="500"/>
              </a:spcAft>
              <a:buSzPct val="100000"/>
              <a:buChar char="•"/>
            </a:pPr>
            <a:r>
              <a:rPr lang="en-US" sz="2000" dirty="0">
                <a:solidFill>
                  <a:schemeClr val="tx1"/>
                </a:solidFill>
              </a:rPr>
              <a:t>Custom Hooks</a:t>
            </a:r>
            <a:endParaRPr lang="en-US" sz="2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Overall Learning Outcome</a:t>
            </a:r>
            <a:endParaRPr lang="en-US" sz="3200" dirty="0"/>
          </a:p>
        </p:txBody>
      </p:sp>
      <p:sp>
        <p:nvSpPr>
          <p:cNvPr id="3" name="Text 1"/>
          <p:cNvSpPr txBox="1"/>
          <p:nvPr/>
        </p:nvSpPr>
        <p:spPr>
          <a:xfrm>
            <a:off x="457200" y="1234440"/>
            <a:ext cx="256032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Frontend Development Skills</a:t>
            </a:r>
            <a:endParaRPr lang="en-US" sz="1900" dirty="0"/>
          </a:p>
          <a:p>
            <a:pPr marL="342900" indent="-342900">
              <a:spcAft>
                <a:spcPts val="500"/>
              </a:spcAft>
              <a:buSzPct val="100000"/>
              <a:buChar char="•"/>
            </a:pPr>
            <a:r>
              <a:rPr lang="en-US" sz="1500" dirty="0">
                <a:solidFill>
                  <a:schemeClr val="tx1"/>
                </a:solidFill>
              </a:rPr>
              <a:t>Built a foundation in React.js.</a:t>
            </a:r>
            <a:endParaRPr lang="en-US" sz="1900" dirty="0"/>
          </a:p>
          <a:p>
            <a:pPr marL="342900" indent="-342900">
              <a:spcAft>
                <a:spcPts val="500"/>
              </a:spcAft>
              <a:buSzPct val="100000"/>
              <a:buChar char="•"/>
            </a:pPr>
            <a:r>
              <a:rPr lang="en-US" sz="1500" dirty="0">
                <a:solidFill>
                  <a:schemeClr val="tx1"/>
                </a:solidFill>
              </a:rPr>
              <a:t>Learned reusable component development.</a:t>
            </a:r>
            <a:endParaRPr lang="en-US" sz="1900" dirty="0"/>
          </a:p>
          <a:p>
            <a:pPr marL="342900" indent="-342900">
              <a:spcAft>
                <a:spcPts val="500"/>
              </a:spcAft>
              <a:buSzPct val="100000"/>
              <a:buChar char="•"/>
            </a:pPr>
            <a:r>
              <a:rPr lang="en-US" sz="1500" dirty="0">
                <a:solidFill>
                  <a:schemeClr val="tx1"/>
                </a:solidFill>
              </a:rPr>
              <a:t>Understood state and props management.</a:t>
            </a:r>
            <a:endParaRPr lang="en-US" sz="1900" dirty="0"/>
          </a:p>
          <a:p>
            <a:pPr marL="342900" indent="-342900">
              <a:spcAft>
                <a:spcPts val="500"/>
              </a:spcAft>
              <a:buSzPct val="100000"/>
              <a:buChar char="•"/>
            </a:pPr>
            <a:r>
              <a:rPr lang="en-US" sz="1500" dirty="0">
                <a:solidFill>
                  <a:schemeClr val="tx1"/>
                </a:solidFill>
              </a:rPr>
              <a:t>Learned modern UI development practices.</a:t>
            </a:r>
            <a:endParaRPr lang="en-US" sz="1900" dirty="0"/>
          </a:p>
        </p:txBody>
      </p:sp>
      <p:sp>
        <p:nvSpPr>
          <p:cNvPr id="4" name="Text 2"/>
          <p:cNvSpPr txBox="1"/>
          <p:nvPr/>
        </p:nvSpPr>
        <p:spPr>
          <a:xfrm>
            <a:off x="3291840" y="1234440"/>
            <a:ext cx="256032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Technical Understanding</a:t>
            </a:r>
            <a:endParaRPr lang="en-US" sz="1900" dirty="0"/>
          </a:p>
          <a:p>
            <a:pPr marL="342900" indent="-342900">
              <a:spcAft>
                <a:spcPts val="500"/>
              </a:spcAft>
              <a:buSzPct val="100000"/>
              <a:buChar char="•"/>
            </a:pPr>
            <a:r>
              <a:rPr lang="en-US" sz="1500" dirty="0">
                <a:solidFill>
                  <a:schemeClr val="tx1"/>
                </a:solidFill>
              </a:rPr>
              <a:t>JavaScript Programming</a:t>
            </a:r>
            <a:endParaRPr lang="en-US" sz="1900" dirty="0"/>
          </a:p>
          <a:p>
            <a:pPr marL="342900" indent="-342900">
              <a:spcAft>
                <a:spcPts val="500"/>
              </a:spcAft>
              <a:buSzPct val="100000"/>
              <a:buChar char="•"/>
            </a:pPr>
            <a:r>
              <a:rPr lang="en-US" sz="1500" dirty="0">
                <a:solidFill>
                  <a:schemeClr val="tx1"/>
                </a:solidFill>
              </a:rPr>
              <a:t>React.js Framework</a:t>
            </a:r>
            <a:endParaRPr lang="en-US" sz="1900" dirty="0"/>
          </a:p>
          <a:p>
            <a:pPr marL="342900" indent="-342900">
              <a:spcAft>
                <a:spcPts val="500"/>
              </a:spcAft>
              <a:buSzPct val="100000"/>
              <a:buChar char="•"/>
            </a:pPr>
            <a:r>
              <a:rPr lang="en-US" sz="1500" dirty="0">
                <a:solidFill>
                  <a:schemeClr val="tx1"/>
                </a:solidFill>
              </a:rPr>
              <a:t>Component-Based Architecture</a:t>
            </a:r>
            <a:endParaRPr lang="en-US" sz="1900" dirty="0"/>
          </a:p>
          <a:p>
            <a:pPr marL="342900" indent="-342900">
              <a:spcAft>
                <a:spcPts val="500"/>
              </a:spcAft>
              <a:buSzPct val="100000"/>
              <a:buChar char="•"/>
            </a:pPr>
            <a:r>
              <a:rPr lang="en-US" sz="1500" dirty="0">
                <a:solidFill>
                  <a:schemeClr val="tx1"/>
                </a:solidFill>
              </a:rPr>
              <a:t>JSX</a:t>
            </a:r>
            <a:endParaRPr lang="en-US" sz="1900" dirty="0"/>
          </a:p>
          <a:p>
            <a:pPr marL="342900" indent="-342900">
              <a:spcAft>
                <a:spcPts val="500"/>
              </a:spcAft>
              <a:buSzPct val="100000"/>
              <a:buChar char="•"/>
            </a:pPr>
            <a:r>
              <a:rPr lang="en-US" sz="1500" dirty="0">
                <a:solidFill>
                  <a:schemeClr val="tx1"/>
                </a:solidFill>
              </a:rPr>
              <a:t>React Hooks</a:t>
            </a:r>
            <a:endParaRPr lang="en-US" sz="1900" dirty="0"/>
          </a:p>
          <a:p>
            <a:pPr marL="342900" indent="-342900">
              <a:spcAft>
                <a:spcPts val="500"/>
              </a:spcAft>
              <a:buSzPct val="100000"/>
              <a:buChar char="•"/>
            </a:pPr>
            <a:r>
              <a:rPr lang="en-US" sz="1500" dirty="0">
                <a:solidFill>
                  <a:schemeClr val="tx1"/>
                </a:solidFill>
              </a:rPr>
              <a:t>State Management</a:t>
            </a:r>
            <a:endParaRPr lang="en-US" sz="1900" dirty="0"/>
          </a:p>
          <a:p>
            <a:pPr marL="342900" indent="-342900">
              <a:spcAft>
                <a:spcPts val="500"/>
              </a:spcAft>
              <a:buSzPct val="100000"/>
              <a:buChar char="•"/>
            </a:pPr>
            <a:r>
              <a:rPr lang="en-US" sz="1500" dirty="0">
                <a:solidFill>
                  <a:schemeClr val="tx1"/>
                </a:solidFill>
              </a:rPr>
              <a:t>Event Handling</a:t>
            </a:r>
            <a:endParaRPr lang="en-US" sz="1900" dirty="0"/>
          </a:p>
          <a:p>
            <a:pPr marL="342900" indent="-342900">
              <a:spcAft>
                <a:spcPts val="500"/>
              </a:spcAft>
              <a:buSzPct val="100000"/>
              <a:buChar char="•"/>
            </a:pPr>
            <a:r>
              <a:rPr lang="en-US" sz="1500" dirty="0">
                <a:solidFill>
                  <a:schemeClr val="tx1"/>
                </a:solidFill>
              </a:rPr>
              <a:t>Dynamic UI Rendering</a:t>
            </a:r>
            <a:endParaRPr lang="en-US" sz="1900" dirty="0"/>
          </a:p>
        </p:txBody>
      </p:sp>
      <p:sp>
        <p:nvSpPr>
          <p:cNvPr id="5" name="Text 3"/>
          <p:cNvSpPr txBox="1"/>
          <p:nvPr/>
        </p:nvSpPr>
        <p:spPr>
          <a:xfrm>
            <a:off x="6126480" y="1234440"/>
            <a:ext cx="256032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Outcome</a:t>
            </a:r>
            <a:endParaRPr lang="en-US" sz="1900" dirty="0"/>
          </a:p>
          <a:p>
            <a:pPr marL="342900" indent="-342900">
              <a:spcAft>
                <a:spcPts val="500"/>
              </a:spcAft>
              <a:buSzPct val="100000"/>
              <a:buChar char="•"/>
            </a:pPr>
            <a:r>
              <a:rPr lang="en-US" sz="1500" dirty="0">
                <a:solidFill>
                  <a:schemeClr val="tx1"/>
                </a:solidFill>
              </a:rPr>
              <a:t>Developed a strong foundation in JavaScript and React.js required for working on frontend web applications.</a:t>
            </a:r>
            <a:endParaRPr lang="en-US" sz="1900" dirty="0"/>
          </a:p>
          <a:p>
            <a:pPr marL="342900" indent="-342900">
              <a:spcAft>
                <a:spcPts val="500"/>
              </a:spcAft>
              <a:buSzPct val="100000"/>
              <a:buChar char="•"/>
            </a:pPr>
            <a:r>
              <a:rPr lang="en-US" sz="1500" dirty="0">
                <a:solidFill>
                  <a:schemeClr val="tx1"/>
                </a:solidFill>
              </a:rPr>
              <a:t>Gained the necessary knowledge to understand, modify, and contribute to React-based enterprise projects.</a:t>
            </a:r>
            <a:endParaRPr lang="en-US" sz="1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Industry 4.0 (NIRMAN)</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Project Overview</a:t>
            </a:r>
            <a:endParaRPr lang="en-US" sz="1900" dirty="0"/>
          </a:p>
          <a:p>
            <a:pPr marL="342900" indent="-342900">
              <a:spcAft>
                <a:spcPts val="500"/>
              </a:spcAft>
              <a:buSzPct val="100000"/>
              <a:buChar char="•"/>
            </a:pPr>
            <a:r>
              <a:rPr lang="en-US" sz="1500" dirty="0">
                <a:solidFill>
                  <a:schemeClr val="tx1"/>
                </a:solidFill>
              </a:rPr>
              <a:t>NIRMAN (Next-gen Intelligent Realtime Manufacturing Automation Network) is a centralized web-based manufacturing automation system for managing and monitoring the complete product development lifecycle.</a:t>
            </a:r>
            <a:endParaRPr lang="en-US" sz="1900" dirty="0"/>
          </a:p>
          <a:p>
            <a:pPr marL="342900" indent="-342900">
              <a:spcAft>
                <a:spcPts val="500"/>
              </a:spcAft>
              <a:buSzPct val="100000"/>
              <a:buChar char="•"/>
            </a:pPr>
            <a:r>
              <a:rPr lang="en-US" sz="1500" dirty="0">
                <a:solidFill>
                  <a:schemeClr val="tx1"/>
                </a:solidFill>
              </a:rPr>
              <a:t>Eliminates manual process tracking by maintaining structured digital records and workflow management.</a:t>
            </a:r>
            <a:endParaRPr lang="en-US" sz="1900" dirty="0"/>
          </a:p>
          <a:p>
            <a:pPr marL="342900" indent="-342900">
              <a:spcAft>
                <a:spcPts val="500"/>
              </a:spcAft>
              <a:buSzPct val="100000"/>
              <a:buChar char="•"/>
            </a:pPr>
            <a:r>
              <a:rPr lang="en-US" sz="1500" dirty="0">
                <a:solidFill>
                  <a:schemeClr val="tx1"/>
                </a:solidFill>
              </a:rPr>
              <a:t>Provides role-based access to ensure controlled system usage based on user responsibilities.</a:t>
            </a:r>
            <a:endParaRPr lang="en-US" sz="1900" dirty="0"/>
          </a:p>
          <a:p>
            <a:pPr marL="342900" indent="-342900">
              <a:spcAft>
                <a:spcPts val="500"/>
              </a:spcAft>
              <a:buSzPct val="100000"/>
              <a:buChar char="•"/>
            </a:pPr>
            <a:r>
              <a:rPr lang="en-US" sz="1500" dirty="0">
                <a:solidFill>
                  <a:schemeClr val="tx1"/>
                </a:solidFill>
              </a:rPr>
              <a:t>Assigns a unique Product ID to every product for complete lifecycle tracking and traceability.</a:t>
            </a:r>
            <a:endParaRPr lang="en-US" sz="1900" dirty="0"/>
          </a:p>
          <a:p>
            <a:pPr marL="342900" indent="-342900">
              <a:spcAft>
                <a:spcPts val="500"/>
              </a:spcAft>
              <a:buSzPct val="100000"/>
              <a:buChar char="•"/>
            </a:pPr>
            <a:r>
              <a:rPr lang="en-US" sz="1500" dirty="0">
                <a:solidFill>
                  <a:schemeClr val="tx1"/>
                </a:solidFill>
              </a:rPr>
              <a:t>Enables centralized monitoring of product progress, task allocation, documentation, and quality verification.</a:t>
            </a:r>
            <a:endParaRPr lang="en-US" sz="1900" dirty="0"/>
          </a:p>
          <a:p>
            <a:pPr marL="342900" indent="-342900">
              <a:spcAft>
                <a:spcPts val="500"/>
              </a:spcAft>
              <a:buSzPct val="100000"/>
              <a:buChar char="•"/>
            </a:pPr>
            <a:r>
              <a:rPr lang="en-US" sz="1500" dirty="0">
                <a:solidFill>
                  <a:schemeClr val="tx1"/>
                </a:solidFill>
              </a:rPr>
              <a:t>Improves accountability, process consistency, visibility, and operational efficiency across the entire workflow.</a:t>
            </a:r>
            <a:endParaRPr lang="en-US" sz="1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Problem and Objective</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Problem Statement</a:t>
            </a:r>
            <a:endParaRPr lang="en-US" sz="1700" dirty="0"/>
          </a:p>
          <a:p>
            <a:pPr marL="0" indent="0">
              <a:spcAft>
                <a:spcPts val="600"/>
              </a:spcAft>
              <a:buNone/>
            </a:pPr>
            <a:r>
              <a:rPr lang="en-US" sz="1300" dirty="0">
                <a:solidFill>
                  <a:schemeClr val="tx1"/>
                </a:solidFill>
              </a:rPr>
              <a:t>Modern product development involves multiple stages, users, approvals, and documentation, making manual process management increasingly difficult. As the complexity of the development process grows, organizations face challenges in maintaining workflow consistency, tracking product progress, coordinating multiple users, and ensuring proper documentation at every stage.</a:t>
            </a:r>
            <a:endParaRPr lang="en-US" sz="17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Objective</a:t>
            </a:r>
            <a:endParaRPr lang="en-US" sz="1700" dirty="0"/>
          </a:p>
          <a:p>
            <a:pPr marL="342900" indent="-342900">
              <a:spcAft>
                <a:spcPts val="500"/>
              </a:spcAft>
              <a:buSzPct val="100000"/>
              <a:buChar char="•"/>
            </a:pPr>
            <a:r>
              <a:rPr lang="en-US" sz="1300" dirty="0">
                <a:solidFill>
                  <a:schemeClr val="tx1"/>
                </a:solidFill>
              </a:rPr>
              <a:t>Automate and simplify the complete product development process.</a:t>
            </a:r>
            <a:endParaRPr lang="en-US" sz="1700" dirty="0"/>
          </a:p>
          <a:p>
            <a:pPr marL="342900" indent="-342900">
              <a:spcAft>
                <a:spcPts val="500"/>
              </a:spcAft>
              <a:buSzPct val="100000"/>
              <a:buChar char="•"/>
            </a:pPr>
            <a:r>
              <a:rPr lang="en-US" sz="1300" dirty="0">
                <a:solidFill>
                  <a:schemeClr val="tx1"/>
                </a:solidFill>
              </a:rPr>
              <a:t>Manage products through predefined sequential stages.</a:t>
            </a:r>
            <a:endParaRPr lang="en-US" sz="1700" dirty="0"/>
          </a:p>
          <a:p>
            <a:pPr marL="342900" indent="-342900">
              <a:spcAft>
                <a:spcPts val="500"/>
              </a:spcAft>
              <a:buSzPct val="100000"/>
              <a:buChar char="•"/>
            </a:pPr>
            <a:r>
              <a:rPr lang="en-US" sz="1300" dirty="0">
                <a:solidFill>
                  <a:schemeClr val="tx1"/>
                </a:solidFill>
              </a:rPr>
              <a:t>Ensure every stage is completed and validated before moving to the next stage.</a:t>
            </a:r>
            <a:endParaRPr lang="en-US" sz="1700" dirty="0"/>
          </a:p>
          <a:p>
            <a:pPr marL="342900" indent="-342900">
              <a:spcAft>
                <a:spcPts val="500"/>
              </a:spcAft>
              <a:buSzPct val="100000"/>
              <a:buChar char="•"/>
            </a:pPr>
            <a:r>
              <a:rPr lang="en-US" sz="1300" dirty="0">
                <a:solidFill>
                  <a:schemeClr val="tx1"/>
                </a:solidFill>
              </a:rPr>
              <a:t>Maintain centralized digital documentation throughout the product lifecycle.</a:t>
            </a:r>
            <a:endParaRPr lang="en-US" sz="1700" dirty="0"/>
          </a:p>
          <a:p>
            <a:pPr marL="342900" indent="-342900">
              <a:spcAft>
                <a:spcPts val="500"/>
              </a:spcAft>
              <a:buSzPct val="100000"/>
              <a:buChar char="•"/>
            </a:pPr>
            <a:r>
              <a:rPr lang="en-US" sz="1300" dirty="0">
                <a:solidFill>
                  <a:schemeClr val="tx1"/>
                </a:solidFill>
              </a:rPr>
              <a:t>Support secure role-based operations and controlled user access.</a:t>
            </a:r>
            <a:endParaRPr lang="en-US" sz="1700" dirty="0"/>
          </a:p>
          <a:p>
            <a:pPr marL="342900" indent="-342900">
              <a:spcAft>
                <a:spcPts val="500"/>
              </a:spcAft>
              <a:buSzPct val="100000"/>
              <a:buChar char="•"/>
            </a:pPr>
            <a:r>
              <a:rPr lang="en-US" sz="1300" dirty="0">
                <a:solidFill>
                  <a:schemeClr val="tx1"/>
                </a:solidFill>
              </a:rPr>
              <a:t>Improve product traceability and progress monitoring.</a:t>
            </a:r>
            <a:endParaRPr lang="en-US" sz="1700" dirty="0"/>
          </a:p>
          <a:p>
            <a:pPr marL="342900" indent="-342900">
              <a:spcAft>
                <a:spcPts val="500"/>
              </a:spcAft>
              <a:buSzPct val="100000"/>
              <a:buChar char="•"/>
            </a:pPr>
            <a:r>
              <a:rPr lang="en-US" sz="1300" dirty="0">
                <a:solidFill>
                  <a:schemeClr val="tx1"/>
                </a:solidFill>
              </a:rPr>
              <a:t>Strengthen quality assurance through qualification and verification mechanisms.</a:t>
            </a:r>
            <a:endParaRPr lang="en-US" sz="17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User Roles (1/2)</a:t>
            </a:r>
            <a:endParaRPr lang="en-US" sz="3200" dirty="0"/>
          </a:p>
        </p:txBody>
      </p:sp>
      <p:sp>
        <p:nvSpPr>
          <p:cNvPr id="3" name="Text 1"/>
          <p:cNvSpPr txBox="1"/>
          <p:nvPr/>
        </p:nvSpPr>
        <p:spPr>
          <a:xfrm>
            <a:off x="457200" y="1234440"/>
            <a:ext cx="2560320" cy="347472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Administrator</a:t>
            </a:r>
            <a:endParaRPr lang="en-US" sz="1800" dirty="0"/>
          </a:p>
          <a:p>
            <a:pPr marL="342900" indent="-342900">
              <a:spcAft>
                <a:spcPts val="500"/>
              </a:spcAft>
              <a:buSzPct val="100000"/>
              <a:buChar char="•"/>
            </a:pPr>
            <a:r>
              <a:rPr lang="en-US" sz="1400" dirty="0">
                <a:solidFill>
                  <a:schemeClr val="tx1"/>
                </a:solidFill>
              </a:rPr>
              <a:t>Manages the overall workflow and initial project setup.</a:t>
            </a:r>
            <a:endParaRPr lang="en-US" sz="1800" dirty="0"/>
          </a:p>
          <a:p>
            <a:pPr marL="342900" indent="-342900">
              <a:spcAft>
                <a:spcPts val="500"/>
              </a:spcAft>
              <a:buSzPct val="100000"/>
              <a:buChar char="•"/>
            </a:pPr>
            <a:r>
              <a:rPr lang="en-US" sz="1400" dirty="0">
                <a:solidFill>
                  <a:schemeClr val="tx1"/>
                </a:solidFill>
              </a:rPr>
              <a:t>Creates and allocates products for processing.</a:t>
            </a:r>
            <a:endParaRPr lang="en-US" sz="1800" dirty="0"/>
          </a:p>
          <a:p>
            <a:pPr marL="342900" indent="-342900">
              <a:spcAft>
                <a:spcPts val="500"/>
              </a:spcAft>
              <a:buSzPct val="100000"/>
              <a:buChar char="•"/>
            </a:pPr>
            <a:r>
              <a:rPr lang="en-US" sz="1400" dirty="0">
                <a:solidFill>
                  <a:schemeClr val="tx1"/>
                </a:solidFill>
              </a:rPr>
              <a:t>Organizes work distribution across different stages.</a:t>
            </a:r>
            <a:endParaRPr lang="en-US" sz="1800" dirty="0"/>
          </a:p>
          <a:p>
            <a:pPr marL="342900" indent="-342900">
              <a:spcAft>
                <a:spcPts val="500"/>
              </a:spcAft>
              <a:buSzPct val="100000"/>
              <a:buChar char="•"/>
            </a:pPr>
            <a:r>
              <a:rPr lang="en-US" sz="1400" dirty="0">
                <a:solidFill>
                  <a:schemeClr val="tx1"/>
                </a:solidFill>
              </a:rPr>
              <a:t>Assigns resources and coordinates the overall development process.</a:t>
            </a:r>
            <a:endParaRPr lang="en-US" sz="1800" dirty="0"/>
          </a:p>
        </p:txBody>
      </p:sp>
      <p:sp>
        <p:nvSpPr>
          <p:cNvPr id="4" name="Text 2"/>
          <p:cNvSpPr txBox="1"/>
          <p:nvPr/>
        </p:nvSpPr>
        <p:spPr>
          <a:xfrm>
            <a:off x="3291840" y="1234440"/>
            <a:ext cx="2560320" cy="347472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Internal Supervisor</a:t>
            </a:r>
            <a:endParaRPr lang="en-US" sz="1800" dirty="0"/>
          </a:p>
          <a:p>
            <a:pPr marL="342900" indent="-342900">
              <a:spcAft>
                <a:spcPts val="500"/>
              </a:spcAft>
              <a:buSzPct val="100000"/>
              <a:buChar char="•"/>
            </a:pPr>
            <a:r>
              <a:rPr lang="en-US" sz="1400" dirty="0">
                <a:solidFill>
                  <a:schemeClr val="tx1"/>
                </a:solidFill>
              </a:rPr>
              <a:t>Assigns stage-specific tasks to operators.</a:t>
            </a:r>
            <a:endParaRPr lang="en-US" sz="1800" dirty="0"/>
          </a:p>
          <a:p>
            <a:pPr marL="342900" indent="-342900">
              <a:spcAft>
                <a:spcPts val="500"/>
              </a:spcAft>
              <a:buSzPct val="100000"/>
              <a:buChar char="•"/>
            </a:pPr>
            <a:r>
              <a:rPr lang="en-US" sz="1400" dirty="0">
                <a:solidFill>
                  <a:schemeClr val="tx1"/>
                </a:solidFill>
              </a:rPr>
              <a:t>Coordinates task distribution among multiple users.</a:t>
            </a:r>
            <a:endParaRPr lang="en-US" sz="1800" dirty="0"/>
          </a:p>
          <a:p>
            <a:pPr marL="342900" indent="-342900">
              <a:spcAft>
                <a:spcPts val="500"/>
              </a:spcAft>
              <a:buSzPct val="100000"/>
              <a:buChar char="•"/>
            </a:pPr>
            <a:r>
              <a:rPr lang="en-US" sz="1400" dirty="0">
                <a:solidFill>
                  <a:schemeClr val="tx1"/>
                </a:solidFill>
              </a:rPr>
              <a:t>Monitors task allocation and stage completion.</a:t>
            </a:r>
            <a:endParaRPr lang="en-US" sz="1800" dirty="0"/>
          </a:p>
          <a:p>
            <a:pPr marL="342900" indent="-342900">
              <a:spcAft>
                <a:spcPts val="500"/>
              </a:spcAft>
              <a:buSzPct val="100000"/>
              <a:buChar char="•"/>
            </a:pPr>
            <a:r>
              <a:rPr lang="en-US" sz="1400" dirty="0">
                <a:solidFill>
                  <a:schemeClr val="tx1"/>
                </a:solidFill>
              </a:rPr>
              <a:t>Ensures smooth workflow progression between stages.</a:t>
            </a:r>
            <a:endParaRPr lang="en-US" sz="1800" dirty="0"/>
          </a:p>
        </p:txBody>
      </p:sp>
      <p:sp>
        <p:nvSpPr>
          <p:cNvPr id="5" name="Text 3"/>
          <p:cNvSpPr txBox="1"/>
          <p:nvPr/>
        </p:nvSpPr>
        <p:spPr>
          <a:xfrm>
            <a:off x="6126480" y="1234440"/>
            <a:ext cx="2560320" cy="347472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Operator</a:t>
            </a:r>
            <a:endParaRPr lang="en-US" sz="1800" dirty="0"/>
          </a:p>
          <a:p>
            <a:pPr marL="342900" indent="-342900">
              <a:spcAft>
                <a:spcPts val="500"/>
              </a:spcAft>
              <a:buSzPct val="100000"/>
              <a:buChar char="•"/>
            </a:pPr>
            <a:r>
              <a:rPr lang="en-US" sz="1400" dirty="0">
                <a:solidFill>
                  <a:schemeClr val="tx1"/>
                </a:solidFill>
              </a:rPr>
              <a:t>Executes assigned stage-specific tasks.</a:t>
            </a:r>
            <a:endParaRPr lang="en-US" sz="1800" dirty="0"/>
          </a:p>
          <a:p>
            <a:pPr marL="342900" indent="-342900">
              <a:spcAft>
                <a:spcPts val="500"/>
              </a:spcAft>
              <a:buSzPct val="100000"/>
              <a:buChar char="•"/>
            </a:pPr>
            <a:r>
              <a:rPr lang="en-US" sz="1400" dirty="0">
                <a:solidFill>
                  <a:schemeClr val="tx1"/>
                </a:solidFill>
              </a:rPr>
              <a:t>Accesses only authorized tasks through role-based login.</a:t>
            </a:r>
            <a:endParaRPr lang="en-US" sz="1800" dirty="0"/>
          </a:p>
          <a:p>
            <a:pPr marL="342900" indent="-342900">
              <a:spcAft>
                <a:spcPts val="500"/>
              </a:spcAft>
              <a:buSzPct val="100000"/>
              <a:buChar char="•"/>
            </a:pPr>
            <a:r>
              <a:rPr lang="en-US" sz="1400" dirty="0">
                <a:solidFill>
                  <a:schemeClr val="tx1"/>
                </a:solidFill>
              </a:rPr>
              <a:t>Updates task status and submits required digital forms.</a:t>
            </a:r>
            <a:endParaRPr lang="en-US" sz="1800" dirty="0"/>
          </a:p>
          <a:p>
            <a:pPr marL="342900" indent="-342900">
              <a:spcAft>
                <a:spcPts val="500"/>
              </a:spcAft>
              <a:buSzPct val="100000"/>
              <a:buChar char="•"/>
            </a:pPr>
            <a:r>
              <a:rPr lang="en-US" sz="1400" dirty="0">
                <a:solidFill>
                  <a:schemeClr val="tx1"/>
                </a:solidFill>
              </a:rPr>
              <a:t>Records completion details before progressing to the next stage.</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User Roles (2/2)</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Quality Manager</a:t>
            </a:r>
            <a:endParaRPr lang="en-US" sz="2100" dirty="0"/>
          </a:p>
          <a:p>
            <a:pPr marL="342900" indent="-342900">
              <a:spcAft>
                <a:spcPts val="500"/>
              </a:spcAft>
              <a:buSzPct val="100000"/>
              <a:buChar char="•"/>
            </a:pPr>
            <a:r>
              <a:rPr lang="en-US" sz="1700" dirty="0">
                <a:solidFill>
                  <a:schemeClr val="tx1"/>
                </a:solidFill>
              </a:rPr>
              <a:t>Monitors operator qualifications and certification validity.</a:t>
            </a:r>
            <a:endParaRPr lang="en-US" sz="2100" dirty="0"/>
          </a:p>
          <a:p>
            <a:pPr marL="342900" indent="-342900">
              <a:spcAft>
                <a:spcPts val="500"/>
              </a:spcAft>
              <a:buSzPct val="100000"/>
              <a:buChar char="•"/>
            </a:pPr>
            <a:r>
              <a:rPr lang="en-US" sz="1700" dirty="0">
                <a:solidFill>
                  <a:schemeClr val="tx1"/>
                </a:solidFill>
              </a:rPr>
              <a:t>Verifies operator eligibility before task assignment.</a:t>
            </a:r>
            <a:endParaRPr lang="en-US" sz="2100" dirty="0"/>
          </a:p>
          <a:p>
            <a:pPr marL="342900" indent="-342900">
              <a:spcAft>
                <a:spcPts val="500"/>
              </a:spcAft>
              <a:buSzPct val="100000"/>
              <a:buChar char="•"/>
            </a:pPr>
            <a:r>
              <a:rPr lang="en-US" sz="1700" dirty="0">
                <a:solidFill>
                  <a:schemeClr val="tx1"/>
                </a:solidFill>
              </a:rPr>
              <a:t>Ensures compliance with quality and competency requirements.</a:t>
            </a:r>
            <a:endParaRPr lang="en-US" sz="2100" dirty="0"/>
          </a:p>
          <a:p>
            <a:pPr marL="342900" indent="-342900">
              <a:spcAft>
                <a:spcPts val="500"/>
              </a:spcAft>
              <a:buSzPct val="100000"/>
              <a:buChar char="•"/>
            </a:pPr>
            <a:r>
              <a:rPr lang="en-US" sz="1700" dirty="0">
                <a:solidFill>
                  <a:schemeClr val="tx1"/>
                </a:solidFill>
              </a:rPr>
              <a:t>Supports quality assurance throughout the development process.</a:t>
            </a:r>
            <a:endParaRPr lang="en-US" sz="21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External Supervisor</a:t>
            </a:r>
            <a:endParaRPr lang="en-US" sz="2100" dirty="0"/>
          </a:p>
          <a:p>
            <a:pPr marL="342900" indent="-342900">
              <a:spcAft>
                <a:spcPts val="500"/>
              </a:spcAft>
              <a:buSzPct val="100000"/>
              <a:buChar char="•"/>
            </a:pPr>
            <a:r>
              <a:rPr lang="en-US" sz="1700" dirty="0">
                <a:solidFill>
                  <a:schemeClr val="tx1"/>
                </a:solidFill>
              </a:rPr>
              <a:t>Performs final verification of completed products.</a:t>
            </a:r>
            <a:endParaRPr lang="en-US" sz="2100" dirty="0"/>
          </a:p>
          <a:p>
            <a:pPr marL="342900" indent="-342900">
              <a:spcAft>
                <a:spcPts val="500"/>
              </a:spcAft>
              <a:buSzPct val="100000"/>
              <a:buChar char="•"/>
            </a:pPr>
            <a:r>
              <a:rPr lang="en-US" sz="1700" dirty="0">
                <a:solidFill>
                  <a:schemeClr val="tx1"/>
                </a:solidFill>
              </a:rPr>
              <a:t>Reviews completed work against defined standards.</a:t>
            </a:r>
            <a:endParaRPr lang="en-US" sz="2100" dirty="0"/>
          </a:p>
          <a:p>
            <a:pPr marL="342900" indent="-342900">
              <a:spcAft>
                <a:spcPts val="500"/>
              </a:spcAft>
              <a:buSzPct val="100000"/>
              <a:buChar char="•"/>
            </a:pPr>
            <a:r>
              <a:rPr lang="en-US" sz="1700" dirty="0">
                <a:solidFill>
                  <a:schemeClr val="tx1"/>
                </a:solidFill>
              </a:rPr>
              <a:t>Approves products or recommends corrective actions.</a:t>
            </a:r>
            <a:endParaRPr lang="en-US" sz="2100" dirty="0"/>
          </a:p>
          <a:p>
            <a:pPr marL="342900" indent="-342900">
              <a:spcAft>
                <a:spcPts val="500"/>
              </a:spcAft>
              <a:buSzPct val="100000"/>
              <a:buChar char="•"/>
            </a:pPr>
            <a:r>
              <a:rPr lang="en-US" sz="1700" dirty="0">
                <a:solidFill>
                  <a:schemeClr val="tx1"/>
                </a:solidFill>
              </a:rPr>
              <a:t>Provides an additional level of quality validation before completion.</a:t>
            </a:r>
            <a:endParaRPr lang="en-US" sz="2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Workflow</a:t>
            </a:r>
            <a:endParaRPr lang="en-US" sz="3200" dirty="0"/>
          </a:p>
        </p:txBody>
      </p:sp>
      <p:pic>
        <p:nvPicPr>
          <p:cNvPr id="3" name="Image 0" descr="NIRMAN: Workflow"/>
          <p:cNvPicPr>
            <a:picLocks noChangeAspect="1"/>
          </p:cNvPicPr>
          <p:nvPr/>
        </p:nvPicPr>
        <p:blipFill>
          <a:blip r:embed="rId3"/>
          <a:stretch>
            <a:fillRect/>
          </a:stretch>
        </p:blipFill>
        <p:spPr>
          <a:xfrm>
            <a:off x="3494561" y="1188720"/>
            <a:ext cx="2154877" cy="352044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Conclusion</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342900" indent="-342900">
              <a:spcAft>
                <a:spcPts val="500"/>
              </a:spcAft>
              <a:buSzPct val="100000"/>
              <a:buChar char="•"/>
            </a:pPr>
            <a:r>
              <a:rPr lang="en-US" sz="1800" dirty="0">
                <a:solidFill>
                  <a:schemeClr val="tx1"/>
                </a:solidFill>
              </a:rPr>
              <a:t>The project provides a centralized platform for managing the complete product development lifecycle through a structured, stage-wise workflow.</a:t>
            </a:r>
            <a:endParaRPr lang="en-US" sz="1800" dirty="0"/>
          </a:p>
          <a:p>
            <a:pPr marL="342900" indent="-342900">
              <a:spcAft>
                <a:spcPts val="500"/>
              </a:spcAft>
              <a:buSzPct val="100000"/>
              <a:buChar char="•"/>
            </a:pPr>
            <a:r>
              <a:rPr lang="en-US" sz="1800" dirty="0">
                <a:solidFill>
                  <a:schemeClr val="tx1"/>
                </a:solidFill>
              </a:rPr>
              <a:t>It improves process organization by integrating role-based access, task allocation, digital documentation, and product traceability into a single system.</a:t>
            </a:r>
            <a:endParaRPr lang="en-US" sz="1800" dirty="0"/>
          </a:p>
          <a:p>
            <a:pPr marL="342900" indent="-342900">
              <a:spcAft>
                <a:spcPts val="500"/>
              </a:spcAft>
              <a:buSzPct val="100000"/>
              <a:buChar char="•"/>
            </a:pPr>
            <a:r>
              <a:rPr lang="en-US" sz="1800" dirty="0">
                <a:solidFill>
                  <a:schemeClr val="tx1"/>
                </a:solidFill>
              </a:rPr>
              <a:t>The application ensures controlled workflow execution, enhances accountability, and supports quality assurance through systematic validation and monitoring.</a:t>
            </a:r>
            <a:endParaRPr lang="en-US" sz="1800" dirty="0"/>
          </a:p>
          <a:p>
            <a:pPr marL="342900" indent="-342900">
              <a:spcAft>
                <a:spcPts val="500"/>
              </a:spcAft>
              <a:buSzPct val="100000"/>
              <a:buChar char="•"/>
            </a:pPr>
            <a:r>
              <a:rPr lang="en-US" sz="1800" dirty="0">
                <a:solidFill>
                  <a:schemeClr val="tx1"/>
                </a:solidFill>
              </a:rPr>
              <a:t>Overall, the system simplifies the management of complex multi-stage development processes while improving efficiency, transparency, and record maintenance.</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NIRMAN: Learning and Tech</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Learning</a:t>
            </a:r>
            <a:endParaRPr lang="en-US" sz="1900" dirty="0"/>
          </a:p>
          <a:p>
            <a:pPr marL="342900" indent="-342900">
              <a:spcAft>
                <a:spcPts val="500"/>
              </a:spcAft>
              <a:buSzPct val="100000"/>
              <a:buChar char="•"/>
            </a:pPr>
            <a:r>
              <a:rPr lang="en-US" sz="1500" dirty="0">
                <a:solidFill>
                  <a:schemeClr val="tx1"/>
                </a:solidFill>
              </a:rPr>
              <a:t>Role-Based Access Control (RBAC) and permission hierarchy.</a:t>
            </a:r>
            <a:endParaRPr lang="en-US" sz="1900" dirty="0"/>
          </a:p>
          <a:p>
            <a:pPr marL="342900" indent="-342900">
              <a:spcAft>
                <a:spcPts val="500"/>
              </a:spcAft>
              <a:buSzPct val="100000"/>
              <a:buChar char="•"/>
            </a:pPr>
            <a:r>
              <a:rPr lang="en-US" sz="1500" dirty="0">
                <a:solidFill>
                  <a:schemeClr val="tx1"/>
                </a:solidFill>
              </a:rPr>
              <a:t>Stage-wise workflow management and sequential processing.</a:t>
            </a:r>
            <a:endParaRPr lang="en-US" sz="1900" dirty="0"/>
          </a:p>
          <a:p>
            <a:pPr marL="342900" indent="-342900">
              <a:spcAft>
                <a:spcPts val="500"/>
              </a:spcAft>
              <a:buSzPct val="100000"/>
              <a:buChar char="•"/>
            </a:pPr>
            <a:r>
              <a:rPr lang="en-US" sz="1500" dirty="0">
                <a:solidFill>
                  <a:schemeClr val="tx1"/>
                </a:solidFill>
              </a:rPr>
              <a:t>Product lifecycle management and traceability using unique Product IDs.</a:t>
            </a:r>
            <a:endParaRPr lang="en-US" sz="1900" dirty="0"/>
          </a:p>
          <a:p>
            <a:pPr marL="342900" indent="-342900">
              <a:spcAft>
                <a:spcPts val="500"/>
              </a:spcAft>
              <a:buSzPct val="100000"/>
              <a:buChar char="•"/>
            </a:pPr>
            <a:r>
              <a:rPr lang="en-US" sz="1500" dirty="0">
                <a:solidFill>
                  <a:schemeClr val="tx1"/>
                </a:solidFill>
              </a:rPr>
              <a:t>Task allocation, progress monitoring, and digital documentation.</a:t>
            </a:r>
            <a:endParaRPr lang="en-US" sz="1900" dirty="0"/>
          </a:p>
          <a:p>
            <a:pPr marL="342900" indent="-342900">
              <a:spcAft>
                <a:spcPts val="500"/>
              </a:spcAft>
              <a:buSzPct val="100000"/>
              <a:buChar char="•"/>
            </a:pPr>
            <a:r>
              <a:rPr lang="en-US" sz="1500" dirty="0">
                <a:solidFill>
                  <a:schemeClr val="tx1"/>
                </a:solidFill>
              </a:rPr>
              <a:t>How multiple user roles collaborate within a centralized application.</a:t>
            </a:r>
            <a:endParaRPr lang="en-US" sz="19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Technologies Used</a:t>
            </a:r>
            <a:endParaRPr lang="en-US" sz="1900" dirty="0"/>
          </a:p>
          <a:p>
            <a:pPr marL="342900" indent="-342900">
              <a:buSzPct val="100000"/>
              <a:buChar char="•"/>
            </a:pPr>
            <a:r>
              <a:rPr lang="en-US" sz="1500" b="1" dirty="0">
                <a:solidFill>
                  <a:schemeClr val="tx1"/>
                </a:solidFill>
              </a:rPr>
              <a:t>Frontend: </a:t>
            </a:r>
            <a:r>
              <a:rPr lang="en-US" sz="1500" dirty="0">
                <a:solidFill>
                  <a:schemeClr val="tx1"/>
                </a:solidFill>
              </a:rPr>
              <a:t>React.js</a:t>
            </a:r>
            <a:endParaRPr lang="en-US" sz="1900" dirty="0"/>
          </a:p>
          <a:p>
            <a:pPr marL="342900" indent="-342900">
              <a:buSzPct val="100000"/>
              <a:buChar char="•"/>
            </a:pPr>
            <a:r>
              <a:rPr lang="en-US" sz="1500" b="1" dirty="0">
                <a:solidFill>
                  <a:schemeClr val="tx1"/>
                </a:solidFill>
              </a:rPr>
              <a:t>Backend: </a:t>
            </a:r>
            <a:r>
              <a:rPr lang="en-US" sz="1500" dirty="0">
                <a:solidFill>
                  <a:schemeClr val="tx1"/>
                </a:solidFill>
              </a:rPr>
              <a:t>Node.js, FastAPI</a:t>
            </a:r>
            <a:endParaRPr lang="en-US" sz="1900" dirty="0"/>
          </a:p>
          <a:p>
            <a:pPr marL="342900" indent="-342900">
              <a:buSzPct val="100000"/>
              <a:buChar char="•"/>
            </a:pPr>
            <a:r>
              <a:rPr lang="en-US" sz="1500" b="1" dirty="0">
                <a:solidFill>
                  <a:schemeClr val="tx1"/>
                </a:solidFill>
              </a:rPr>
              <a:t>Database: </a:t>
            </a:r>
            <a:r>
              <a:rPr lang="en-US" sz="1500" dirty="0">
                <a:solidFill>
                  <a:schemeClr val="tx1"/>
                </a:solidFill>
              </a:rPr>
              <a:t>PostgreSQL</a:t>
            </a:r>
            <a:endParaRPr lang="en-US" sz="1900" dirty="0"/>
          </a:p>
          <a:p>
            <a:pPr marL="342900" indent="-342900">
              <a:buSzPct val="100000"/>
              <a:buChar char="•"/>
            </a:pPr>
            <a:r>
              <a:rPr lang="en-US" sz="1500" b="1" dirty="0">
                <a:solidFill>
                  <a:schemeClr val="tx1"/>
                </a:solidFill>
              </a:rPr>
              <a:t>Core Concepts: </a:t>
            </a:r>
            <a:r>
              <a:rPr lang="en-US" sz="1500" dirty="0">
                <a:solidFill>
                  <a:schemeClr val="tx1"/>
                </a:solidFill>
              </a:rPr>
              <a:t>Workflow Management, Product Traceability, Digital Documentation, Quality Monitoring</a:t>
            </a:r>
            <a:endParaRPr lang="en-US" sz="1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Industry 4.0 (GR TO UD)</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Overview</a:t>
            </a:r>
            <a:endParaRPr lang="en-US" sz="2000" dirty="0"/>
          </a:p>
          <a:p>
            <a:pPr marL="0" indent="0">
              <a:spcAft>
                <a:spcPts val="600"/>
              </a:spcAft>
              <a:buNone/>
            </a:pPr>
            <a:r>
              <a:rPr lang="en-US" sz="1600" dirty="0">
                <a:solidFill>
                  <a:schemeClr val="tx1"/>
                </a:solidFill>
              </a:rPr>
              <a:t>Aim: Automate the GR to UD cycle by eliminating manual interventions such as PDF, inspection data and rejection tracking.</a:t>
            </a:r>
            <a:endParaRPr lang="en-US" sz="2000" dirty="0"/>
          </a:p>
          <a:p>
            <a:pPr marL="0" indent="0">
              <a:spcBef>
                <a:spcPts val="1200"/>
              </a:spcBef>
              <a:spcAft>
                <a:spcPts val="400"/>
              </a:spcAft>
              <a:buNone/>
            </a:pPr>
            <a:r>
              <a:rPr lang="en-US" sz="2000" b="1" dirty="0">
                <a:solidFill>
                  <a:schemeClr val="tx2"/>
                </a:solidFill>
              </a:rPr>
              <a:t>Problems</a:t>
            </a:r>
            <a:endParaRPr lang="en-US" sz="2000" dirty="0"/>
          </a:p>
          <a:p>
            <a:pPr marL="342900" indent="-342900">
              <a:spcAft>
                <a:spcPts val="500"/>
              </a:spcAft>
              <a:buSzPct val="100000"/>
              <a:buChar char="•"/>
            </a:pPr>
            <a:r>
              <a:rPr lang="en-US" sz="1600" dirty="0">
                <a:solidFill>
                  <a:schemeClr val="tx1"/>
                </a:solidFill>
              </a:rPr>
              <a:t>Manual PDF upload.</a:t>
            </a:r>
            <a:endParaRPr lang="en-US" sz="2000" dirty="0"/>
          </a:p>
          <a:p>
            <a:pPr marL="342900" indent="-342900">
              <a:spcAft>
                <a:spcPts val="500"/>
              </a:spcAft>
              <a:buSzPct val="100000"/>
              <a:buChar char="•"/>
            </a:pPr>
            <a:r>
              <a:rPr lang="en-US" sz="1600" dirty="0">
                <a:solidFill>
                  <a:schemeClr val="tx1"/>
                </a:solidFill>
              </a:rPr>
              <a:t>Paper-based verification.</a:t>
            </a:r>
            <a:endParaRPr lang="en-US" sz="2000" dirty="0"/>
          </a:p>
          <a:p>
            <a:pPr marL="342900" indent="-342900">
              <a:spcAft>
                <a:spcPts val="500"/>
              </a:spcAft>
              <a:buSzPct val="100000"/>
              <a:buChar char="•"/>
            </a:pPr>
            <a:r>
              <a:rPr lang="en-US" sz="1600" dirty="0">
                <a:solidFill>
                  <a:schemeClr val="tx1"/>
                </a:solidFill>
              </a:rPr>
              <a:t>Manual GR &amp; UD.</a:t>
            </a:r>
            <a:endParaRPr lang="en-US" sz="2000" dirty="0"/>
          </a:p>
          <a:p>
            <a:pPr marL="342900" indent="-342900">
              <a:spcAft>
                <a:spcPts val="500"/>
              </a:spcAft>
              <a:buSzPct val="100000"/>
              <a:buChar char="•"/>
            </a:pPr>
            <a:r>
              <a:rPr lang="en-US" sz="1600" dirty="0">
                <a:solidFill>
                  <a:schemeClr val="tx1"/>
                </a:solidFill>
              </a:rPr>
              <a:t>Lengthy inspection cycles.</a:t>
            </a:r>
            <a:endParaRPr lang="en-US" sz="2000" dirty="0"/>
          </a:p>
          <a:p>
            <a:pPr marL="342900" indent="-342900">
              <a:spcAft>
                <a:spcPts val="500"/>
              </a:spcAft>
              <a:buSzPct val="100000"/>
              <a:buChar char="•"/>
            </a:pPr>
            <a:r>
              <a:rPr lang="en-US" sz="1600" dirty="0">
                <a:solidFill>
                  <a:schemeClr val="tx1"/>
                </a:solidFill>
              </a:rPr>
              <a:t>Manual tracking of rejected materials.</a:t>
            </a:r>
            <a:endParaRPr lang="en-US" sz="20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Objectives</a:t>
            </a:r>
            <a:endParaRPr lang="en-US" sz="2000" dirty="0"/>
          </a:p>
          <a:p>
            <a:pPr marL="342900" indent="-342900">
              <a:spcAft>
                <a:spcPts val="500"/>
              </a:spcAft>
              <a:buSzPct val="100000"/>
              <a:buChar char="•"/>
            </a:pPr>
            <a:r>
              <a:rPr lang="en-US" sz="1600" dirty="0">
                <a:solidFill>
                  <a:schemeClr val="tx1"/>
                </a:solidFill>
              </a:rPr>
              <a:t>Reduce manual effort.</a:t>
            </a:r>
            <a:endParaRPr lang="en-US" sz="2000" dirty="0"/>
          </a:p>
          <a:p>
            <a:pPr marL="342900" indent="-342900">
              <a:spcAft>
                <a:spcPts val="500"/>
              </a:spcAft>
              <a:buSzPct val="100000"/>
              <a:buChar char="•"/>
            </a:pPr>
            <a:r>
              <a:rPr lang="en-US" sz="1600" dirty="0">
                <a:solidFill>
                  <a:schemeClr val="tx1"/>
                </a:solidFill>
              </a:rPr>
              <a:t>Improve operational accuracy &amp; reduce data errors.</a:t>
            </a:r>
            <a:endParaRPr lang="en-US" sz="2000" dirty="0"/>
          </a:p>
          <a:p>
            <a:pPr marL="342900" indent="-342900">
              <a:spcAft>
                <a:spcPts val="500"/>
              </a:spcAft>
              <a:buSzPct val="100000"/>
              <a:buChar char="•"/>
            </a:pPr>
            <a:r>
              <a:rPr lang="en-US" sz="1600" dirty="0">
                <a:solidFill>
                  <a:schemeClr val="tx1"/>
                </a:solidFill>
              </a:rPr>
              <a:t>Enable real-time tracking.</a:t>
            </a:r>
            <a:endParaRPr lang="en-US" sz="2000" dirty="0"/>
          </a:p>
          <a:p>
            <a:pPr marL="342900" indent="-342900">
              <a:spcAft>
                <a:spcPts val="500"/>
              </a:spcAft>
              <a:buSzPct val="100000"/>
              <a:buChar char="•"/>
            </a:pPr>
            <a:r>
              <a:rPr lang="en-US" sz="1600" dirty="0">
                <a:solidFill>
                  <a:schemeClr val="tx1"/>
                </a:solidFill>
              </a:rPr>
              <a:t>Introduce end-to-end traceability.</a:t>
            </a:r>
            <a:endParaRPr lang="en-US" sz="2000" dirty="0"/>
          </a:p>
          <a:p>
            <a:pPr marL="342900" indent="-342900">
              <a:spcAft>
                <a:spcPts val="500"/>
              </a:spcAft>
              <a:buSzPct val="100000"/>
              <a:buChar char="•"/>
            </a:pPr>
            <a:r>
              <a:rPr lang="en-US" sz="1600" dirty="0">
                <a:solidFill>
                  <a:schemeClr val="tx1"/>
                </a:solidFill>
              </a:rPr>
              <a:t>Accelerate approval, info &amp; decision boosting in SAP.</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GR to UD: Scope and Users</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Scope</a:t>
            </a:r>
            <a:endParaRPr lang="en-US" sz="2100" dirty="0"/>
          </a:p>
          <a:p>
            <a:pPr marL="342900" indent="-342900">
              <a:spcAft>
                <a:spcPts val="500"/>
              </a:spcAft>
              <a:buSzPct val="100000"/>
              <a:buChar char="•"/>
            </a:pPr>
            <a:r>
              <a:rPr lang="en-US" sz="1700" dirty="0">
                <a:solidFill>
                  <a:schemeClr val="tx1"/>
                </a:solidFill>
              </a:rPr>
              <a:t>Automate PDF.</a:t>
            </a:r>
            <a:endParaRPr lang="en-US" sz="2100" dirty="0"/>
          </a:p>
          <a:p>
            <a:pPr marL="342900" indent="-342900">
              <a:spcAft>
                <a:spcPts val="500"/>
              </a:spcAft>
              <a:buSzPct val="100000"/>
              <a:buChar char="•"/>
            </a:pPr>
            <a:r>
              <a:rPr lang="en-US" sz="1700" dirty="0">
                <a:solidFill>
                  <a:schemeClr val="tx1"/>
                </a:solidFill>
              </a:rPr>
              <a:t>Validate extracted PO.</a:t>
            </a:r>
            <a:endParaRPr lang="en-US" sz="2100" dirty="0"/>
          </a:p>
          <a:p>
            <a:pPr marL="342900" indent="-342900">
              <a:spcAft>
                <a:spcPts val="500"/>
              </a:spcAft>
              <a:buSzPct val="100000"/>
              <a:buChar char="•"/>
            </a:pPr>
            <a:r>
              <a:rPr lang="en-US" sz="1700" dirty="0">
                <a:solidFill>
                  <a:schemeClr val="tx1"/>
                </a:solidFill>
              </a:rPr>
              <a:t>Generate unique QR and barcode.</a:t>
            </a:r>
            <a:endParaRPr lang="en-US" sz="2100" dirty="0"/>
          </a:p>
          <a:p>
            <a:pPr marL="342900" indent="-342900">
              <a:spcAft>
                <a:spcPts val="500"/>
              </a:spcAft>
              <a:buSzPct val="100000"/>
              <a:buChar char="•"/>
            </a:pPr>
            <a:r>
              <a:rPr lang="en-US" sz="1700" dirty="0">
                <a:solidFill>
                  <a:schemeClr val="tx1"/>
                </a:solidFill>
              </a:rPr>
              <a:t>Automate GR posting using QR and barcode.</a:t>
            </a:r>
            <a:endParaRPr lang="en-US" sz="2100" dirty="0"/>
          </a:p>
          <a:p>
            <a:pPr marL="342900" indent="-342900">
              <a:spcAft>
                <a:spcPts val="500"/>
              </a:spcAft>
              <a:buSzPct val="100000"/>
              <a:buChar char="•"/>
            </a:pPr>
            <a:r>
              <a:rPr lang="en-US" sz="1700" dirty="0">
                <a:solidFill>
                  <a:schemeClr val="tx1"/>
                </a:solidFill>
              </a:rPr>
              <a:t>Capture inspection acceptance/rejection through the system.</a:t>
            </a:r>
            <a:endParaRPr lang="en-US" sz="2100" dirty="0"/>
          </a:p>
          <a:p>
            <a:pPr marL="342900" indent="-342900">
              <a:spcAft>
                <a:spcPts val="500"/>
              </a:spcAft>
              <a:buSzPct val="100000"/>
              <a:buChar char="•"/>
            </a:pPr>
            <a:r>
              <a:rPr lang="en-US" sz="1700" dirty="0">
                <a:solidFill>
                  <a:schemeClr val="tx1"/>
                </a:solidFill>
              </a:rPr>
              <a:t>Auto post UD decision in SAP.</a:t>
            </a:r>
            <a:endParaRPr lang="en-US" sz="2100" dirty="0"/>
          </a:p>
          <a:p>
            <a:pPr marL="342900" indent="-342900">
              <a:spcAft>
                <a:spcPts val="500"/>
              </a:spcAft>
              <a:buSzPct val="100000"/>
              <a:buChar char="•"/>
            </a:pPr>
            <a:r>
              <a:rPr lang="en-US" sz="1700" dirty="0">
                <a:solidFill>
                  <a:schemeClr val="tx1"/>
                </a:solidFill>
              </a:rPr>
              <a:t>Provide dashboard for monitoring &amp; reports.</a:t>
            </a:r>
            <a:endParaRPr lang="en-US" sz="21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Users / Stakeholders</a:t>
            </a:r>
            <a:endParaRPr lang="en-US" sz="2100" dirty="0"/>
          </a:p>
          <a:p>
            <a:pPr marL="342900" indent="-342900">
              <a:spcAft>
                <a:spcPts val="500"/>
              </a:spcAft>
              <a:buSzPct val="100000"/>
              <a:buChar char="•"/>
            </a:pPr>
            <a:r>
              <a:rPr lang="en-US" sz="1700" dirty="0">
                <a:solidFill>
                  <a:schemeClr val="tx1"/>
                </a:solidFill>
              </a:rPr>
              <a:t>IG Store</a:t>
            </a:r>
            <a:endParaRPr lang="en-US" sz="2100" dirty="0"/>
          </a:p>
          <a:p>
            <a:pPr marL="342900" indent="-342900">
              <a:spcAft>
                <a:spcPts val="500"/>
              </a:spcAft>
              <a:buSzPct val="100000"/>
              <a:buChar char="•"/>
            </a:pPr>
            <a:r>
              <a:rPr lang="en-US" sz="1700" dirty="0">
                <a:solidFill>
                  <a:schemeClr val="tx1"/>
                </a:solidFill>
              </a:rPr>
              <a:t>Material Inspector</a:t>
            </a:r>
            <a:endParaRPr lang="en-US" sz="2100" dirty="0"/>
          </a:p>
          <a:p>
            <a:pPr marL="342900" indent="-342900">
              <a:spcAft>
                <a:spcPts val="500"/>
              </a:spcAft>
              <a:buSzPct val="100000"/>
              <a:buChar char="•"/>
            </a:pPr>
            <a:r>
              <a:rPr lang="en-US" sz="1700" dirty="0">
                <a:solidFill>
                  <a:schemeClr val="tx1"/>
                </a:solidFill>
              </a:rPr>
              <a:t>Subcontract Inspector</a:t>
            </a:r>
            <a:endParaRPr lang="en-US" sz="2100" dirty="0"/>
          </a:p>
          <a:p>
            <a:pPr marL="342900" indent="-342900">
              <a:spcAft>
                <a:spcPts val="500"/>
              </a:spcAft>
              <a:buSzPct val="100000"/>
              <a:buChar char="•"/>
            </a:pPr>
            <a:r>
              <a:rPr lang="en-US" sz="1700" dirty="0">
                <a:solidFill>
                  <a:schemeClr val="tx1"/>
                </a:solidFill>
              </a:rPr>
              <a:t>Indenter</a:t>
            </a:r>
            <a:endParaRPr lang="en-US" sz="2100" dirty="0"/>
          </a:p>
          <a:p>
            <a:pPr marL="342900" indent="-342900">
              <a:spcAft>
                <a:spcPts val="500"/>
              </a:spcAft>
              <a:buSzPct val="100000"/>
              <a:buChar char="•"/>
            </a:pPr>
            <a:r>
              <a:rPr lang="en-US" sz="1700" dirty="0">
                <a:solidFill>
                  <a:schemeClr val="tx1"/>
                </a:solidFill>
              </a:rPr>
              <a:t>Approver</a:t>
            </a:r>
            <a:endParaRPr lang="en-US" sz="2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GR to UD: IG Store</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Responsibilities</a:t>
            </a:r>
            <a:endParaRPr lang="en-US" sz="2200" dirty="0"/>
          </a:p>
          <a:p>
            <a:pPr marL="342900" indent="-342900">
              <a:spcAft>
                <a:spcPts val="500"/>
              </a:spcAft>
              <a:buSzPct val="100000"/>
              <a:buChar char="•"/>
            </a:pPr>
            <a:r>
              <a:rPr lang="en-US" sz="1800" dirty="0">
                <a:solidFill>
                  <a:schemeClr val="tx1"/>
                </a:solidFill>
              </a:rPr>
              <a:t>Receives incoming products from the Security Department.</a:t>
            </a:r>
            <a:endParaRPr lang="en-US" sz="2200" dirty="0"/>
          </a:p>
          <a:p>
            <a:pPr marL="342900" indent="-342900">
              <a:spcAft>
                <a:spcPts val="500"/>
              </a:spcAft>
              <a:buSzPct val="100000"/>
              <a:buChar char="•"/>
            </a:pPr>
            <a:r>
              <a:rPr lang="en-US" sz="1800" dirty="0">
                <a:solidFill>
                  <a:schemeClr val="tx1"/>
                </a:solidFill>
              </a:rPr>
              <a:t>Generates the Goods Receipt (GR) for every received product.</a:t>
            </a:r>
            <a:endParaRPr lang="en-US" sz="2200" dirty="0"/>
          </a:p>
          <a:p>
            <a:pPr marL="342900" indent="-342900">
              <a:spcAft>
                <a:spcPts val="500"/>
              </a:spcAft>
              <a:buSzPct val="100000"/>
              <a:buChar char="•"/>
            </a:pPr>
            <a:r>
              <a:rPr lang="en-US" sz="1800" dirty="0">
                <a:solidFill>
                  <a:schemeClr val="tx1"/>
                </a:solidFill>
              </a:rPr>
              <a:t>Records essential product information such as Product ID, Serial Number, and other identification details.</a:t>
            </a:r>
            <a:endParaRPr lang="en-US" sz="2200" dirty="0"/>
          </a:p>
          <a:p>
            <a:pPr marL="342900" indent="-342900">
              <a:spcAft>
                <a:spcPts val="500"/>
              </a:spcAft>
              <a:buSzPct val="100000"/>
              <a:buChar char="•"/>
            </a:pPr>
            <a:r>
              <a:rPr lang="en-US" sz="1800" dirty="0">
                <a:solidFill>
                  <a:schemeClr val="tx1"/>
                </a:solidFill>
              </a:rPr>
              <a:t>Generates and attaches QR Code and Barcode labels for product identification and traceability.</a:t>
            </a:r>
            <a:endParaRPr lang="en-US" sz="2200" dirty="0"/>
          </a:p>
          <a:p>
            <a:pPr marL="342900" indent="-342900">
              <a:spcAft>
                <a:spcPts val="500"/>
              </a:spcAft>
              <a:buSzPct val="100000"/>
              <a:buChar char="•"/>
            </a:pPr>
            <a:r>
              <a:rPr lang="en-US" sz="1800" dirty="0">
                <a:solidFill>
                  <a:schemeClr val="tx1"/>
                </a:solidFill>
              </a:rPr>
              <a:t>Forwards the product to the appropriate Inspector for quality inspection.</a:t>
            </a:r>
            <a:endParaRPr lang="en-US" sz="2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GR to UD: Inspectors</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Material Inspector</a:t>
            </a:r>
            <a:endParaRPr lang="en-US" sz="1800" dirty="0"/>
          </a:p>
          <a:p>
            <a:pPr marL="342900" indent="-342900">
              <a:spcAft>
                <a:spcPts val="500"/>
              </a:spcAft>
              <a:buSzPct val="100000"/>
              <a:buChar char="•"/>
            </a:pPr>
            <a:r>
              <a:rPr lang="en-US" sz="1400" dirty="0">
                <a:solidFill>
                  <a:schemeClr val="tx1"/>
                </a:solidFill>
              </a:rPr>
              <a:t>Inspects products assigned based on the product’s serial number.</a:t>
            </a:r>
            <a:endParaRPr lang="en-US" sz="1800" dirty="0"/>
          </a:p>
          <a:p>
            <a:pPr marL="342900" indent="-342900">
              <a:spcAft>
                <a:spcPts val="500"/>
              </a:spcAft>
              <a:buSzPct val="100000"/>
              <a:buChar char="•"/>
            </a:pPr>
            <a:r>
              <a:rPr lang="en-US" sz="1400" dirty="0">
                <a:solidFill>
                  <a:schemeClr val="tx1"/>
                </a:solidFill>
              </a:rPr>
              <a:t>Performs inspection according to predefined inspection guidelines.</a:t>
            </a:r>
            <a:endParaRPr lang="en-US" sz="1800" dirty="0"/>
          </a:p>
          <a:p>
            <a:pPr marL="342900" indent="-342900">
              <a:spcAft>
                <a:spcPts val="500"/>
              </a:spcAft>
              <a:buSzPct val="100000"/>
              <a:buChar char="•"/>
            </a:pPr>
            <a:r>
              <a:rPr lang="en-US" sz="1400" dirty="0">
                <a:solidFill>
                  <a:schemeClr val="tx1"/>
                </a:solidFill>
              </a:rPr>
              <a:t>Records inspection details in a digital inspection datasheet.</a:t>
            </a:r>
            <a:endParaRPr lang="en-US" sz="1800" dirty="0"/>
          </a:p>
          <a:p>
            <a:pPr marL="342900" indent="-342900">
              <a:spcAft>
                <a:spcPts val="500"/>
              </a:spcAft>
              <a:buSzPct val="100000"/>
              <a:buChar char="•"/>
            </a:pPr>
            <a:r>
              <a:rPr lang="en-US" sz="1400" dirty="0">
                <a:solidFill>
                  <a:schemeClr val="tx1"/>
                </a:solidFill>
              </a:rPr>
              <a:t>Verifies product measurements using appropriate measuring instruments.</a:t>
            </a:r>
            <a:endParaRPr lang="en-US" sz="1800" dirty="0"/>
          </a:p>
          <a:p>
            <a:pPr marL="342900" indent="-342900">
              <a:spcAft>
                <a:spcPts val="500"/>
              </a:spcAft>
              <a:buSzPct val="100000"/>
              <a:buChar char="•"/>
            </a:pPr>
            <a:r>
              <a:rPr lang="en-US" sz="1400" dirty="0">
                <a:solidFill>
                  <a:schemeClr val="tx1"/>
                </a:solidFill>
              </a:rPr>
              <a:t>Ensures all measurements fall within the specified tolerance limits.</a:t>
            </a:r>
            <a:endParaRPr lang="en-US" sz="1800" dirty="0"/>
          </a:p>
          <a:p>
            <a:pPr marL="342900" indent="-342900">
              <a:spcAft>
                <a:spcPts val="500"/>
              </a:spcAft>
              <a:buSzPct val="100000"/>
              <a:buChar char="•"/>
            </a:pPr>
            <a:r>
              <a:rPr lang="en-US" sz="1400" dirty="0">
                <a:solidFill>
                  <a:schemeClr val="tx1"/>
                </a:solidFill>
              </a:rPr>
              <a:t>Approves the product for further processing if inspection is successful; if doubtful, forwards to Indenter.</a:t>
            </a:r>
            <a:endParaRPr lang="en-US" sz="18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Subcontract Inspector</a:t>
            </a:r>
            <a:endParaRPr lang="en-US" sz="1800" dirty="0"/>
          </a:p>
          <a:p>
            <a:pPr marL="342900" indent="-342900">
              <a:spcAft>
                <a:spcPts val="500"/>
              </a:spcAft>
              <a:buSzPct val="100000"/>
              <a:buChar char="•"/>
            </a:pPr>
            <a:r>
              <a:rPr lang="en-US" sz="1400" dirty="0">
                <a:solidFill>
                  <a:schemeClr val="tx1"/>
                </a:solidFill>
              </a:rPr>
              <a:t>Inspects products received from subcontract vendors.</a:t>
            </a:r>
            <a:endParaRPr lang="en-US" sz="1800" dirty="0"/>
          </a:p>
          <a:p>
            <a:pPr marL="342900" indent="-342900">
              <a:spcAft>
                <a:spcPts val="500"/>
              </a:spcAft>
              <a:buSzPct val="100000"/>
              <a:buChar char="•"/>
            </a:pPr>
            <a:r>
              <a:rPr lang="en-US" sz="1400" dirty="0">
                <a:solidFill>
                  <a:schemeClr val="tx1"/>
                </a:solidFill>
              </a:rPr>
              <a:t>Performs inspection using the same quality guidelines and inspection standards.</a:t>
            </a:r>
            <a:endParaRPr lang="en-US" sz="1800" dirty="0"/>
          </a:p>
          <a:p>
            <a:pPr marL="342900" indent="-342900">
              <a:spcAft>
                <a:spcPts val="500"/>
              </a:spcAft>
              <a:buSzPct val="100000"/>
              <a:buChar char="•"/>
            </a:pPr>
            <a:r>
              <a:rPr lang="en-US" sz="1400" dirty="0">
                <a:solidFill>
                  <a:schemeClr val="tx1"/>
                </a:solidFill>
              </a:rPr>
              <a:t>Records inspection observations and measurement values.</a:t>
            </a:r>
            <a:endParaRPr lang="en-US" sz="1800" dirty="0"/>
          </a:p>
          <a:p>
            <a:pPr marL="342900" indent="-342900">
              <a:spcAft>
                <a:spcPts val="500"/>
              </a:spcAft>
              <a:buSzPct val="100000"/>
              <a:buChar char="•"/>
            </a:pPr>
            <a:r>
              <a:rPr lang="en-US" sz="1400" dirty="0">
                <a:solidFill>
                  <a:schemeClr val="tx1"/>
                </a:solidFill>
              </a:rPr>
              <a:t>Validates whether the product satisfies the required tolerance specifications.</a:t>
            </a:r>
            <a:endParaRPr lang="en-US" sz="1800" dirty="0"/>
          </a:p>
          <a:p>
            <a:pPr marL="342900" indent="-342900">
              <a:spcAft>
                <a:spcPts val="500"/>
              </a:spcAft>
              <a:buSzPct val="100000"/>
              <a:buChar char="•"/>
            </a:pPr>
            <a:r>
              <a:rPr lang="en-US" sz="1400" dirty="0">
                <a:solidFill>
                  <a:schemeClr val="tx1"/>
                </a:solidFill>
              </a:rPr>
              <a:t>Approves products that satisfy inspection criteria or forwards doubtful cases to Indenter for further review.</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GR to UD: Indenter and Approver</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Indenter</a:t>
            </a:r>
            <a:endParaRPr lang="en-US" sz="1900" dirty="0"/>
          </a:p>
          <a:p>
            <a:pPr marL="342900" indent="-342900">
              <a:spcAft>
                <a:spcPts val="500"/>
              </a:spcAft>
              <a:buSzPct val="100000"/>
              <a:buChar char="•"/>
            </a:pPr>
            <a:r>
              <a:rPr lang="en-US" sz="1500" dirty="0">
                <a:solidFill>
                  <a:schemeClr val="tx1"/>
                </a:solidFill>
              </a:rPr>
              <a:t>Acts as the person who originally placed the purchase order.</a:t>
            </a:r>
            <a:endParaRPr lang="en-US" sz="1900" dirty="0"/>
          </a:p>
          <a:p>
            <a:pPr marL="342900" indent="-342900">
              <a:spcAft>
                <a:spcPts val="500"/>
              </a:spcAft>
              <a:buSzPct val="100000"/>
              <a:buChar char="•"/>
            </a:pPr>
            <a:r>
              <a:rPr lang="en-US" sz="1500" dirty="0">
                <a:solidFill>
                  <a:schemeClr val="tx1"/>
                </a:solidFill>
              </a:rPr>
              <a:t>Reviews products that require clarification after inspection.</a:t>
            </a:r>
            <a:endParaRPr lang="en-US" sz="1900" dirty="0"/>
          </a:p>
          <a:p>
            <a:pPr marL="342900" indent="-342900">
              <a:spcAft>
                <a:spcPts val="500"/>
              </a:spcAft>
              <a:buSzPct val="100000"/>
              <a:buChar char="•"/>
            </a:pPr>
            <a:r>
              <a:rPr lang="en-US" sz="1500" dirty="0">
                <a:solidFill>
                  <a:schemeClr val="tx1"/>
                </a:solidFill>
              </a:rPr>
              <a:t>Examines the inspector’s report and inspection findings.</a:t>
            </a:r>
            <a:endParaRPr lang="en-US" sz="1900" dirty="0"/>
          </a:p>
          <a:p>
            <a:pPr marL="342900" indent="-342900">
              <a:spcAft>
                <a:spcPts val="500"/>
              </a:spcAft>
              <a:buSzPct val="100000"/>
              <a:buChar char="•"/>
            </a:pPr>
            <a:r>
              <a:rPr lang="en-US" sz="1500" dirty="0">
                <a:solidFill>
                  <a:schemeClr val="tx1"/>
                </a:solidFill>
              </a:rPr>
              <a:t>Decides whether the product should continue for approval or be rejected.</a:t>
            </a:r>
            <a:endParaRPr lang="en-US" sz="1900" dirty="0"/>
          </a:p>
          <a:p>
            <a:pPr marL="342900" indent="-342900">
              <a:spcAft>
                <a:spcPts val="500"/>
              </a:spcAft>
              <a:buSzPct val="100000"/>
              <a:buChar char="•"/>
            </a:pPr>
            <a:r>
              <a:rPr lang="en-US" sz="1500" dirty="0">
                <a:solidFill>
                  <a:schemeClr val="tx1"/>
                </a:solidFill>
              </a:rPr>
              <a:t>Places products in a Waiting state until the final usage decision is made.</a:t>
            </a:r>
            <a:endParaRPr lang="en-US" sz="19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900" b="1" dirty="0">
                <a:solidFill>
                  <a:schemeClr val="tx2"/>
                </a:solidFill>
              </a:rPr>
              <a:t>Approver</a:t>
            </a:r>
            <a:endParaRPr lang="en-US" sz="1900" dirty="0"/>
          </a:p>
          <a:p>
            <a:pPr marL="342900" indent="-342900">
              <a:spcAft>
                <a:spcPts val="500"/>
              </a:spcAft>
              <a:buSzPct val="100000"/>
              <a:buChar char="•"/>
            </a:pPr>
            <a:r>
              <a:rPr lang="en-US" sz="1500" dirty="0">
                <a:solidFill>
                  <a:schemeClr val="tx1"/>
                </a:solidFill>
              </a:rPr>
              <a:t>Performs the final evaluation of the product.</a:t>
            </a:r>
            <a:endParaRPr lang="en-US" sz="1900" dirty="0"/>
          </a:p>
          <a:p>
            <a:pPr marL="342900" indent="-342900">
              <a:spcAft>
                <a:spcPts val="500"/>
              </a:spcAft>
              <a:buSzPct val="100000"/>
              <a:buChar char="•"/>
            </a:pPr>
            <a:r>
              <a:rPr lang="en-US" sz="1500" dirty="0">
                <a:solidFill>
                  <a:schemeClr val="tx1"/>
                </a:solidFill>
              </a:rPr>
              <a:t>Reviews inspection reports and the Indenter’s recommendation.</a:t>
            </a:r>
            <a:endParaRPr lang="en-US" sz="1900" dirty="0"/>
          </a:p>
          <a:p>
            <a:pPr marL="342900" indent="-342900">
              <a:spcAft>
                <a:spcPts val="500"/>
              </a:spcAft>
              <a:buSzPct val="100000"/>
              <a:buChar char="•"/>
            </a:pPr>
            <a:r>
              <a:rPr lang="en-US" sz="1500" dirty="0">
                <a:solidFill>
                  <a:schemeClr val="tx1"/>
                </a:solidFill>
              </a:rPr>
              <a:t>Makes the final Usage Decision (UD).</a:t>
            </a:r>
            <a:endParaRPr lang="en-US" sz="1900" dirty="0"/>
          </a:p>
          <a:p>
            <a:pPr marL="342900" indent="-342900">
              <a:spcAft>
                <a:spcPts val="500"/>
              </a:spcAft>
              <a:buSzPct val="100000"/>
              <a:buChar char="•"/>
            </a:pPr>
            <a:r>
              <a:rPr lang="en-US" sz="1500" dirty="0">
                <a:solidFill>
                  <a:schemeClr val="tx1"/>
                </a:solidFill>
              </a:rPr>
              <a:t>Approves products for further departmental use or rejects them based on the inspection outcome.</a:t>
            </a:r>
            <a:endParaRPr lang="en-US" sz="1900" dirty="0"/>
          </a:p>
          <a:p>
            <a:pPr marL="342900" indent="-342900">
              <a:spcAft>
                <a:spcPts val="500"/>
              </a:spcAft>
              <a:buSzPct val="100000"/>
              <a:buChar char="•"/>
            </a:pPr>
            <a:r>
              <a:rPr lang="en-US" sz="1500" dirty="0">
                <a:solidFill>
                  <a:schemeClr val="tx1"/>
                </a:solidFill>
              </a:rPr>
              <a:t>Completes the GR to UD process.</a:t>
            </a:r>
            <a:endParaRPr lang="en-US" sz="1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GR to UD: Workflow</a:t>
            </a:r>
            <a:endParaRPr lang="en-US" sz="3200" dirty="0"/>
          </a:p>
        </p:txBody>
      </p:sp>
      <p:pic>
        <p:nvPicPr>
          <p:cNvPr id="3" name="Image 0" descr="GR to UD: Workflow"/>
          <p:cNvPicPr>
            <a:picLocks noChangeAspect="1"/>
          </p:cNvPicPr>
          <p:nvPr/>
        </p:nvPicPr>
        <p:blipFill>
          <a:blip r:embed="rId3"/>
          <a:stretch>
            <a:fillRect/>
          </a:stretch>
        </p:blipFill>
        <p:spPr>
          <a:xfrm>
            <a:off x="3382476" y="1188720"/>
            <a:ext cx="2379047" cy="352044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(Predictive Maintenance)</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0" indent="0">
              <a:spcAft>
                <a:spcPts val="400"/>
              </a:spcAft>
              <a:buNone/>
            </a:pPr>
            <a:r>
              <a:rPr lang="en-US" sz="2000" b="1" dirty="0">
                <a:solidFill>
                  <a:schemeClr val="tx2"/>
                </a:solidFill>
              </a:rPr>
              <a:t>Project Overview</a:t>
            </a:r>
            <a:endParaRPr lang="en-US" sz="2000" dirty="0"/>
          </a:p>
          <a:p>
            <a:pPr marL="342900" indent="-342900">
              <a:spcAft>
                <a:spcPts val="500"/>
              </a:spcAft>
              <a:buSzPct val="100000"/>
              <a:buChar char="•"/>
            </a:pPr>
            <a:r>
              <a:rPr lang="en-US" sz="1600" dirty="0">
                <a:solidFill>
                  <a:schemeClr val="tx1"/>
                </a:solidFill>
              </a:rPr>
              <a:t>Predictive Maintenance (PdM) is an intelligent monitoring system designed to continuously collect, store, visualize, and analyze sensor data from industrial components.</a:t>
            </a:r>
            <a:endParaRPr lang="en-US" sz="2000" dirty="0"/>
          </a:p>
          <a:p>
            <a:pPr marL="342900" indent="-342900">
              <a:spcAft>
                <a:spcPts val="500"/>
              </a:spcAft>
              <a:buSzPct val="100000"/>
              <a:buChar char="•"/>
            </a:pPr>
            <a:r>
              <a:rPr lang="en-US" sz="1600" dirty="0">
                <a:solidFill>
                  <a:schemeClr val="tx1"/>
                </a:solidFill>
              </a:rPr>
              <a:t>Monitors the health and operational status of multiple equipment components using real-time sensor data.</a:t>
            </a:r>
            <a:endParaRPr lang="en-US" sz="2000" dirty="0"/>
          </a:p>
          <a:p>
            <a:pPr marL="342900" indent="-342900">
              <a:spcAft>
                <a:spcPts val="500"/>
              </a:spcAft>
              <a:buSzPct val="100000"/>
              <a:buChar char="•"/>
            </a:pPr>
            <a:r>
              <a:rPr lang="en-US" sz="1600" dirty="0">
                <a:solidFill>
                  <a:schemeClr val="tx1"/>
                </a:solidFill>
              </a:rPr>
              <a:t>Enables early identification of abnormal operating conditions before equipment failure occurs.</a:t>
            </a:r>
            <a:endParaRPr lang="en-US" sz="2000" dirty="0"/>
          </a:p>
          <a:p>
            <a:pPr marL="342900" indent="-342900">
              <a:spcAft>
                <a:spcPts val="500"/>
              </a:spcAft>
              <a:buSzPct val="100000"/>
              <a:buChar char="•"/>
            </a:pPr>
            <a:r>
              <a:rPr lang="en-US" sz="1600" dirty="0">
                <a:solidFill>
                  <a:schemeClr val="tx1"/>
                </a:solidFill>
              </a:rPr>
              <a:t>Data is collected continuously through UDP communication, processed using a real-time data pipeline, and stored in specialized databases.</a:t>
            </a:r>
            <a:endParaRPr lang="en-US" sz="2000" dirty="0"/>
          </a:p>
          <a:p>
            <a:pPr marL="342900" indent="-342900">
              <a:spcAft>
                <a:spcPts val="500"/>
              </a:spcAft>
              <a:buSzPct val="100000"/>
              <a:buChar char="•"/>
            </a:pPr>
            <a:r>
              <a:rPr lang="en-US" sz="1600" dirty="0">
                <a:solidFill>
                  <a:schemeClr val="tx1"/>
                </a:solidFill>
              </a:rPr>
              <a:t>Machine Learning models analyze historical sensor readings to predict potential failures and support maintenance planning.</a:t>
            </a:r>
            <a:endParaRPr lang="en-US" sz="2000" dirty="0"/>
          </a:p>
          <a:p>
            <a:pPr marL="342900" indent="-342900">
              <a:spcAft>
                <a:spcPts val="500"/>
              </a:spcAft>
              <a:buSzPct val="100000"/>
              <a:buChar char="•"/>
            </a:pPr>
            <a:r>
              <a:rPr lang="en-US" sz="1600" dirty="0">
                <a:solidFill>
                  <a:schemeClr val="tx1"/>
                </a:solidFill>
              </a:rPr>
              <a:t>Combines real-time monitoring, historical data analysis, visualization dashboards, and AI-based prediction in a single platform.</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Problem and Objective</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Problem Statement</a:t>
            </a:r>
            <a:endParaRPr lang="en-US" sz="1700" dirty="0"/>
          </a:p>
          <a:p>
            <a:pPr marL="0" indent="0">
              <a:spcAft>
                <a:spcPts val="600"/>
              </a:spcAft>
              <a:buNone/>
            </a:pPr>
            <a:r>
              <a:rPr lang="en-US" sz="1300" dirty="0">
                <a:solidFill>
                  <a:schemeClr val="tx1"/>
                </a:solidFill>
              </a:rPr>
              <a:t>Industrial equipment often operates continuously, making manual monitoring difficult and inefficient. Traditional maintenance approaches either perform maintenance after equipment failure or follow fixed maintenance schedules, resulting in unnecessary downtime, increased maintenance costs, and unexpected equipment failures.</a:t>
            </a:r>
            <a:endParaRPr lang="en-US" sz="17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Objective</a:t>
            </a:r>
            <a:endParaRPr lang="en-US" sz="1700" dirty="0"/>
          </a:p>
          <a:p>
            <a:pPr marL="342900" indent="-342900">
              <a:spcAft>
                <a:spcPts val="500"/>
              </a:spcAft>
              <a:buSzPct val="100000"/>
              <a:buChar char="•"/>
            </a:pPr>
            <a:r>
              <a:rPr lang="en-US" sz="1300" dirty="0">
                <a:solidFill>
                  <a:schemeClr val="tx1"/>
                </a:solidFill>
              </a:rPr>
              <a:t>Continuously acquire sensor data from industrial equipment using UDP communication.</a:t>
            </a:r>
            <a:endParaRPr lang="en-US" sz="1700" dirty="0"/>
          </a:p>
          <a:p>
            <a:pPr marL="342900" indent="-342900">
              <a:spcAft>
                <a:spcPts val="500"/>
              </a:spcAft>
              <a:buSzPct val="100000"/>
              <a:buChar char="•"/>
            </a:pPr>
            <a:r>
              <a:rPr lang="en-US" sz="1300" dirty="0">
                <a:solidFill>
                  <a:schemeClr val="tx1"/>
                </a:solidFill>
              </a:rPr>
              <a:t>Store real-time sensor readings efficiently for monitoring and analysis.</a:t>
            </a:r>
            <a:endParaRPr lang="en-US" sz="1700" dirty="0"/>
          </a:p>
          <a:p>
            <a:pPr marL="342900" indent="-342900">
              <a:spcAft>
                <a:spcPts val="500"/>
              </a:spcAft>
              <a:buSzPct val="100000"/>
              <a:buChar char="•"/>
            </a:pPr>
            <a:r>
              <a:rPr lang="en-US" sz="1300" dirty="0">
                <a:solidFill>
                  <a:schemeClr val="tx1"/>
                </a:solidFill>
              </a:rPr>
              <a:t>Visualize live and historical sensor data through interactive dashboards.</a:t>
            </a:r>
            <a:endParaRPr lang="en-US" sz="1700" dirty="0"/>
          </a:p>
          <a:p>
            <a:pPr marL="342900" indent="-342900">
              <a:spcAft>
                <a:spcPts val="500"/>
              </a:spcAft>
              <a:buSzPct val="100000"/>
              <a:buChar char="•"/>
            </a:pPr>
            <a:r>
              <a:rPr lang="en-US" sz="1300" dirty="0">
                <a:solidFill>
                  <a:schemeClr val="tx1"/>
                </a:solidFill>
              </a:rPr>
              <a:t>Detect abnormal operating conditions using sensor thresholds.</a:t>
            </a:r>
            <a:endParaRPr lang="en-US" sz="1700" dirty="0"/>
          </a:p>
          <a:p>
            <a:pPr marL="342900" indent="-342900">
              <a:spcAft>
                <a:spcPts val="500"/>
              </a:spcAft>
              <a:buSzPct val="100000"/>
              <a:buChar char="•"/>
            </a:pPr>
            <a:r>
              <a:rPr lang="en-US" sz="1300" dirty="0">
                <a:solidFill>
                  <a:schemeClr val="tx1"/>
                </a:solidFill>
              </a:rPr>
              <a:t>Predict equipment health using Machine Learning models.</a:t>
            </a:r>
            <a:endParaRPr lang="en-US" sz="1700" dirty="0"/>
          </a:p>
          <a:p>
            <a:pPr marL="342900" indent="-342900">
              <a:spcAft>
                <a:spcPts val="500"/>
              </a:spcAft>
              <a:buSzPct val="100000"/>
              <a:buChar char="•"/>
            </a:pPr>
            <a:r>
              <a:rPr lang="en-US" sz="1300" dirty="0">
                <a:solidFill>
                  <a:schemeClr val="tx1"/>
                </a:solidFill>
              </a:rPr>
              <a:t>Reduce unexpected equipment failures through predictive maintenance.</a:t>
            </a:r>
            <a:endParaRPr lang="en-US" sz="1700" dirty="0"/>
          </a:p>
          <a:p>
            <a:pPr marL="342900" indent="-342900">
              <a:spcAft>
                <a:spcPts val="500"/>
              </a:spcAft>
              <a:buSzPct val="100000"/>
              <a:buChar char="•"/>
            </a:pPr>
            <a:r>
              <a:rPr lang="en-US" sz="1300" dirty="0">
                <a:solidFill>
                  <a:schemeClr val="tx1"/>
                </a:solidFill>
              </a:rPr>
              <a:t>Support data-driven maintenance planning and decision making.</a:t>
            </a:r>
            <a:endParaRPr lang="en-US" sz="17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Components (1/2)</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CWCM76/A190</a:t>
            </a:r>
            <a:endParaRPr lang="en-US" sz="2100" dirty="0"/>
          </a:p>
          <a:p>
            <a:pPr marL="342900" indent="-342900">
              <a:spcAft>
                <a:spcPts val="500"/>
              </a:spcAft>
              <a:buSzPct val="100000"/>
              <a:buChar char="•"/>
            </a:pPr>
            <a:r>
              <a:rPr lang="en-US" sz="1700" dirty="0">
                <a:solidFill>
                  <a:schemeClr val="tx1"/>
                </a:solidFill>
              </a:rPr>
              <a:t>CPU/Board-based component.</a:t>
            </a:r>
            <a:endParaRPr lang="en-US" sz="2100" dirty="0"/>
          </a:p>
          <a:p>
            <a:pPr marL="342900" indent="-342900">
              <a:spcAft>
                <a:spcPts val="500"/>
              </a:spcAft>
              <a:buSzPct val="100000"/>
              <a:buChar char="•"/>
            </a:pPr>
            <a:r>
              <a:rPr lang="en-US" sz="1700" dirty="0">
                <a:solidFill>
                  <a:schemeClr val="tx1"/>
                </a:solidFill>
              </a:rPr>
              <a:t>Monitored using temperature sensor readings.</a:t>
            </a:r>
            <a:endParaRPr lang="en-US" sz="2100" dirty="0"/>
          </a:p>
          <a:p>
            <a:pPr marL="342900" indent="-342900">
              <a:spcAft>
                <a:spcPts val="500"/>
              </a:spcAft>
              <a:buSzPct val="100000"/>
              <a:buChar char="•"/>
            </a:pPr>
            <a:r>
              <a:rPr lang="en-US" sz="1700" dirty="0">
                <a:solidFill>
                  <a:schemeClr val="tx1"/>
                </a:solidFill>
              </a:rPr>
              <a:t>Operating levels: Low ≤ 40°C, Medium 45–60°C, High ≥ 100°C.</a:t>
            </a:r>
            <a:endParaRPr lang="en-US" sz="21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CWCMP&amp;SP</a:t>
            </a:r>
            <a:endParaRPr lang="en-US" sz="2100" dirty="0"/>
          </a:p>
          <a:p>
            <a:pPr marL="342900" indent="-342900">
              <a:spcAft>
                <a:spcPts val="500"/>
              </a:spcAft>
              <a:buSzPct val="100000"/>
              <a:buChar char="•"/>
            </a:pPr>
            <a:r>
              <a:rPr lang="en-US" sz="1700" dirty="0">
                <a:solidFill>
                  <a:schemeClr val="tx1"/>
                </a:solidFill>
              </a:rPr>
              <a:t>CPU/Board-based component.</a:t>
            </a:r>
            <a:endParaRPr lang="en-US" sz="2100" dirty="0"/>
          </a:p>
          <a:p>
            <a:pPr marL="342900" indent="-342900">
              <a:spcAft>
                <a:spcPts val="500"/>
              </a:spcAft>
              <a:buSzPct val="100000"/>
              <a:buChar char="•"/>
            </a:pPr>
            <a:r>
              <a:rPr lang="en-US" sz="1700" dirty="0">
                <a:solidFill>
                  <a:schemeClr val="tx1"/>
                </a:solidFill>
              </a:rPr>
              <a:t>Temperature-based health monitoring.</a:t>
            </a:r>
            <a:endParaRPr lang="en-US" sz="2100" dirty="0"/>
          </a:p>
          <a:p>
            <a:pPr marL="342900" indent="-342900">
              <a:spcAft>
                <a:spcPts val="500"/>
              </a:spcAft>
              <a:buSzPct val="100000"/>
              <a:buChar char="•"/>
            </a:pPr>
            <a:r>
              <a:rPr lang="en-US" sz="1700" dirty="0">
                <a:solidFill>
                  <a:schemeClr val="tx1"/>
                </a:solidFill>
              </a:rPr>
              <a:t>Uses predefined threshold values to determine operating condition.</a:t>
            </a:r>
            <a:endParaRPr lang="en-US" sz="2100" dirty="0"/>
          </a:p>
          <a:p>
            <a:pPr marL="342900" indent="-342900">
              <a:spcAft>
                <a:spcPts val="500"/>
              </a:spcAft>
              <a:buSzPct val="100000"/>
              <a:buChar char="•"/>
            </a:pPr>
            <a:r>
              <a:rPr lang="en-US" sz="1700" dirty="0">
                <a:solidFill>
                  <a:schemeClr val="tx1"/>
                </a:solidFill>
              </a:rPr>
              <a:t>Temperature ranges: Low ≤ 40°C, Medium 45–60°C, High ≥ 100°C.</a:t>
            </a:r>
            <a:endParaRPr lang="en-US" sz="2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Components (2/2)</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RADAR</a:t>
            </a:r>
            <a:endParaRPr lang="en-US" sz="2100" dirty="0"/>
          </a:p>
          <a:p>
            <a:pPr marL="342900" indent="-342900">
              <a:spcAft>
                <a:spcPts val="500"/>
              </a:spcAft>
              <a:buSzPct val="100000"/>
              <a:buChar char="•"/>
            </a:pPr>
            <a:r>
              <a:rPr lang="en-US" sz="1700" dirty="0">
                <a:solidFill>
                  <a:schemeClr val="tx1"/>
                </a:solidFill>
              </a:rPr>
              <a:t>Industrial electronic component.</a:t>
            </a:r>
            <a:endParaRPr lang="en-US" sz="2100" dirty="0"/>
          </a:p>
          <a:p>
            <a:pPr marL="342900" indent="-342900">
              <a:spcAft>
                <a:spcPts val="500"/>
              </a:spcAft>
              <a:buSzPct val="100000"/>
              <a:buChar char="•"/>
            </a:pPr>
            <a:r>
              <a:rPr lang="en-US" sz="1700" dirty="0">
                <a:solidFill>
                  <a:schemeClr val="tx1"/>
                </a:solidFill>
              </a:rPr>
              <a:t>Continuously monitored through sensor readings.</a:t>
            </a:r>
            <a:endParaRPr lang="en-US" sz="2100" dirty="0"/>
          </a:p>
          <a:p>
            <a:pPr marL="342900" indent="-342900">
              <a:spcAft>
                <a:spcPts val="500"/>
              </a:spcAft>
              <a:buSzPct val="100000"/>
              <a:buChar char="•"/>
            </a:pPr>
            <a:r>
              <a:rPr lang="en-US" sz="1700" dirty="0">
                <a:solidFill>
                  <a:schemeClr val="tx1"/>
                </a:solidFill>
              </a:rPr>
              <a:t>Health status determined using collected operational parameters.</a:t>
            </a:r>
            <a:endParaRPr lang="en-US" sz="21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2100" b="1" dirty="0">
                <a:solidFill>
                  <a:schemeClr val="tx2"/>
                </a:solidFill>
              </a:rPr>
              <a:t>SERVO</a:t>
            </a:r>
            <a:endParaRPr lang="en-US" sz="2100" dirty="0"/>
          </a:p>
          <a:p>
            <a:pPr marL="342900" indent="-342900">
              <a:spcAft>
                <a:spcPts val="500"/>
              </a:spcAft>
              <a:buSzPct val="100000"/>
              <a:buChar char="•"/>
            </a:pPr>
            <a:r>
              <a:rPr lang="en-US" sz="1700" dirty="0">
                <a:solidFill>
                  <a:schemeClr val="tx1"/>
                </a:solidFill>
              </a:rPr>
              <a:t>Industrial electronic component.</a:t>
            </a:r>
            <a:endParaRPr lang="en-US" sz="2100" dirty="0"/>
          </a:p>
          <a:p>
            <a:pPr marL="342900" indent="-342900">
              <a:spcAft>
                <a:spcPts val="500"/>
              </a:spcAft>
              <a:buSzPct val="100000"/>
              <a:buChar char="•"/>
            </a:pPr>
            <a:r>
              <a:rPr lang="en-US" sz="1700" dirty="0">
                <a:solidFill>
                  <a:schemeClr val="tx1"/>
                </a:solidFill>
              </a:rPr>
              <a:t>Included in continuous condition monitoring.</a:t>
            </a:r>
            <a:endParaRPr lang="en-US" sz="2100" dirty="0"/>
          </a:p>
          <a:p>
            <a:pPr marL="342900" indent="-342900">
              <a:spcAft>
                <a:spcPts val="500"/>
              </a:spcAft>
              <a:buSzPct val="100000"/>
              <a:buChar char="•"/>
            </a:pPr>
            <a:r>
              <a:rPr lang="en-US" sz="1700" dirty="0">
                <a:solidFill>
                  <a:schemeClr val="tx1"/>
                </a:solidFill>
              </a:rPr>
              <a:t>Sensor values contribute to predictive analysis.</a:t>
            </a:r>
            <a:endParaRPr lang="en-US" sz="2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Motor and Technology</a:t>
            </a:r>
            <a:endParaRPr lang="en-US" sz="3200" dirty="0"/>
          </a:p>
        </p:txBody>
      </p:sp>
      <p:sp>
        <p:nvSpPr>
          <p:cNvPr id="3" name="Text 1"/>
          <p:cNvSpPr txBox="1"/>
          <p:nvPr/>
        </p:nvSpPr>
        <p:spPr>
          <a:xfrm>
            <a:off x="45720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MOTOR</a:t>
            </a:r>
            <a:endParaRPr lang="en-US" sz="1700" dirty="0"/>
          </a:p>
          <a:p>
            <a:pPr marL="342900" indent="-342900">
              <a:spcAft>
                <a:spcPts val="500"/>
              </a:spcAft>
              <a:buSzPct val="100000"/>
              <a:buChar char="•"/>
            </a:pPr>
            <a:r>
              <a:rPr lang="en-US" sz="1300" dirty="0">
                <a:solidFill>
                  <a:schemeClr val="tx1"/>
                </a:solidFill>
              </a:rPr>
              <a:t>Motor component.</a:t>
            </a:r>
            <a:endParaRPr lang="en-US" sz="1700" dirty="0"/>
          </a:p>
          <a:p>
            <a:pPr marL="342900" indent="-342900">
              <a:spcAft>
                <a:spcPts val="500"/>
              </a:spcAft>
              <a:buSzPct val="100000"/>
              <a:buChar char="•"/>
            </a:pPr>
            <a:r>
              <a:rPr lang="en-US" sz="1300" dirty="0">
                <a:solidFill>
                  <a:schemeClr val="tx1"/>
                </a:solidFill>
              </a:rPr>
              <a:t>Monitored using three-phase current measurements.</a:t>
            </a:r>
            <a:endParaRPr lang="en-US" sz="1700" dirty="0"/>
          </a:p>
          <a:p>
            <a:pPr marL="342900" indent="-342900">
              <a:spcAft>
                <a:spcPts val="500"/>
              </a:spcAft>
              <a:buSzPct val="100000"/>
              <a:buChar char="•"/>
            </a:pPr>
            <a:r>
              <a:rPr lang="en-US" sz="1300" dirty="0">
                <a:solidFill>
                  <a:schemeClr val="tx1"/>
                </a:solidFill>
              </a:rPr>
              <a:t>Current imbalance or abnormal current patterns may indicate overload, electrical faults, or motor degradation.</a:t>
            </a:r>
            <a:endParaRPr lang="en-US" sz="1700" dirty="0"/>
          </a:p>
          <a:p>
            <a:pPr marL="342900" indent="-342900">
              <a:spcAft>
                <a:spcPts val="500"/>
              </a:spcAft>
              <a:buSzPct val="100000"/>
              <a:buChar char="•"/>
            </a:pPr>
            <a:r>
              <a:rPr lang="en-US" sz="1300" dirty="0">
                <a:solidFill>
                  <a:schemeClr val="tx1"/>
                </a:solidFill>
              </a:rPr>
              <a:t>Sensor data is used to assess motor health and support predictive maintenance.</a:t>
            </a:r>
            <a:endParaRPr lang="en-US" sz="1700" dirty="0"/>
          </a:p>
        </p:txBody>
      </p:sp>
      <p:sp>
        <p:nvSpPr>
          <p:cNvPr id="4" name="Text 2"/>
          <p:cNvSpPr txBox="1"/>
          <p:nvPr/>
        </p:nvSpPr>
        <p:spPr>
          <a:xfrm>
            <a:off x="4709160" y="1234440"/>
            <a:ext cx="3977640" cy="347472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Technology Stack</a:t>
            </a:r>
            <a:endParaRPr lang="en-US" sz="1700" dirty="0"/>
          </a:p>
          <a:p>
            <a:pPr marL="342900" indent="-342900">
              <a:buSzPct val="100000"/>
              <a:buChar char="•"/>
            </a:pPr>
            <a:r>
              <a:rPr lang="en-US" sz="1300" b="1" dirty="0">
                <a:solidFill>
                  <a:schemeClr val="tx1"/>
                </a:solidFill>
              </a:rPr>
              <a:t>Frontend: </a:t>
            </a:r>
            <a:r>
              <a:rPr lang="en-US" sz="1300" dirty="0">
                <a:solidFill>
                  <a:schemeClr val="tx1"/>
                </a:solidFill>
              </a:rPr>
              <a:t>Dash Framework, React.js</a:t>
            </a:r>
            <a:endParaRPr lang="en-US" sz="1700" dirty="0"/>
          </a:p>
          <a:p>
            <a:pPr marL="342900" indent="-342900">
              <a:buSzPct val="100000"/>
              <a:buChar char="•"/>
            </a:pPr>
            <a:r>
              <a:rPr lang="en-US" sz="1300" b="1" dirty="0">
                <a:solidFill>
                  <a:schemeClr val="tx1"/>
                </a:solidFill>
              </a:rPr>
              <a:t>Backend: </a:t>
            </a:r>
            <a:r>
              <a:rPr lang="en-US" sz="1300" dirty="0">
                <a:solidFill>
                  <a:schemeClr val="tx1"/>
                </a:solidFill>
              </a:rPr>
              <a:t>Dash Framework, Node.js</a:t>
            </a:r>
            <a:endParaRPr lang="en-US" sz="1700" dirty="0"/>
          </a:p>
          <a:p>
            <a:pPr marL="342900" indent="-342900">
              <a:buSzPct val="100000"/>
              <a:buChar char="•"/>
            </a:pPr>
            <a:r>
              <a:rPr lang="en-US" sz="1300" b="1" dirty="0">
                <a:solidFill>
                  <a:schemeClr val="tx1"/>
                </a:solidFill>
              </a:rPr>
              <a:t>Databases: </a:t>
            </a:r>
            <a:r>
              <a:rPr lang="en-US" sz="1300" dirty="0">
                <a:solidFill>
                  <a:schemeClr val="tx1"/>
                </a:solidFill>
              </a:rPr>
              <a:t>InfluxDB (Time-Series Database), PostgreSQL</a:t>
            </a:r>
            <a:endParaRPr lang="en-US" sz="1700" dirty="0"/>
          </a:p>
          <a:p>
            <a:pPr marL="0" indent="0">
              <a:spcBef>
                <a:spcPts val="1200"/>
              </a:spcBef>
              <a:spcAft>
                <a:spcPts val="400"/>
              </a:spcAft>
              <a:buNone/>
            </a:pPr>
            <a:r>
              <a:rPr lang="en-US" sz="1700" b="1" dirty="0">
                <a:solidFill>
                  <a:schemeClr val="tx2"/>
                </a:solidFill>
              </a:rPr>
              <a:t>Data Handling</a:t>
            </a:r>
            <a:endParaRPr lang="en-US" sz="1700" dirty="0"/>
          </a:p>
          <a:p>
            <a:pPr marL="342900" indent="-342900">
              <a:spcAft>
                <a:spcPts val="500"/>
              </a:spcAft>
              <a:buSzPct val="100000"/>
              <a:buChar char="•"/>
            </a:pPr>
            <a:r>
              <a:rPr lang="en-US" sz="1300" dirty="0">
                <a:solidFill>
                  <a:schemeClr val="tx1"/>
                </a:solidFill>
              </a:rPr>
              <a:t>UDP Sender &amp; Receiver</a:t>
            </a:r>
            <a:endParaRPr lang="en-US" sz="1700" dirty="0"/>
          </a:p>
          <a:p>
            <a:pPr marL="342900" indent="-342900">
              <a:spcAft>
                <a:spcPts val="500"/>
              </a:spcAft>
              <a:buSzPct val="100000"/>
              <a:buChar char="•"/>
            </a:pPr>
            <a:r>
              <a:rPr lang="en-US" sz="1300" dirty="0">
                <a:solidFill>
                  <a:schemeClr val="tx1"/>
                </a:solidFill>
              </a:rPr>
              <a:t>Redis</a:t>
            </a:r>
            <a:endParaRPr lang="en-US" sz="1700" dirty="0"/>
          </a:p>
          <a:p>
            <a:pPr marL="342900" indent="-342900">
              <a:spcAft>
                <a:spcPts val="500"/>
              </a:spcAft>
              <a:buSzPct val="100000"/>
              <a:buChar char="•"/>
            </a:pPr>
            <a:r>
              <a:rPr lang="en-US" sz="1300" dirty="0">
                <a:solidFill>
                  <a:schemeClr val="tx1"/>
                </a:solidFill>
              </a:rPr>
              <a:t>CSV Files</a:t>
            </a:r>
            <a:endParaRPr lang="en-US" sz="1700" dirty="0"/>
          </a:p>
          <a:p>
            <a:pPr marL="0" indent="0">
              <a:spcBef>
                <a:spcPts val="1200"/>
              </a:spcBef>
              <a:spcAft>
                <a:spcPts val="400"/>
              </a:spcAft>
              <a:buNone/>
            </a:pPr>
            <a:r>
              <a:rPr lang="en-US" sz="1700" b="1" dirty="0">
                <a:solidFill>
                  <a:schemeClr val="tx2"/>
                </a:solidFill>
              </a:rPr>
              <a:t>Machine Learning</a:t>
            </a:r>
            <a:endParaRPr lang="en-US" sz="1700" dirty="0"/>
          </a:p>
          <a:p>
            <a:pPr marL="342900" indent="-342900">
              <a:spcAft>
                <a:spcPts val="500"/>
              </a:spcAft>
              <a:buSzPct val="100000"/>
              <a:buChar char="•"/>
            </a:pPr>
            <a:r>
              <a:rPr lang="en-US" sz="1300" dirty="0">
                <a:solidFill>
                  <a:schemeClr val="tx1"/>
                </a:solidFill>
              </a:rPr>
              <a:t>LSTM</a:t>
            </a:r>
            <a:endParaRPr lang="en-US" sz="1700" dirty="0"/>
          </a:p>
          <a:p>
            <a:pPr marL="342900" indent="-342900">
              <a:spcAft>
                <a:spcPts val="500"/>
              </a:spcAft>
              <a:buSzPct val="100000"/>
              <a:buChar char="•"/>
            </a:pPr>
            <a:r>
              <a:rPr lang="en-US" sz="1300" dirty="0">
                <a:solidFill>
                  <a:schemeClr val="tx1"/>
                </a:solidFill>
              </a:rPr>
              <a:t>Random Forest</a:t>
            </a:r>
            <a:endParaRPr lang="en-US" sz="17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Conclusion</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chemeClr val="tx1"/>
                </a:solidFill>
              </a:rPr>
              <a:t>The Predictive Maintenance system integrates real-time data acquisition, visualization, database management, and Machine Learning into a unified monitoring platform.</a:t>
            </a:r>
            <a:endParaRPr lang="en-US" sz="1700" dirty="0"/>
          </a:p>
          <a:p>
            <a:pPr marL="342900" indent="-342900">
              <a:spcAft>
                <a:spcPts val="500"/>
              </a:spcAft>
              <a:buSzPct val="100000"/>
              <a:buChar char="•"/>
            </a:pPr>
            <a:r>
              <a:rPr lang="en-US" sz="1700" dirty="0">
                <a:solidFill>
                  <a:schemeClr val="tx1"/>
                </a:solidFill>
              </a:rPr>
              <a:t>It enables continuous equipment health monitoring through live sensor data and historical trend analysis.</a:t>
            </a:r>
            <a:endParaRPr lang="en-US" sz="1700" dirty="0"/>
          </a:p>
          <a:p>
            <a:pPr marL="342900" indent="-342900">
              <a:spcAft>
                <a:spcPts val="500"/>
              </a:spcAft>
              <a:buSzPct val="100000"/>
              <a:buChar char="•"/>
            </a:pPr>
            <a:r>
              <a:rPr lang="en-US" sz="1700" dirty="0">
                <a:solidFill>
                  <a:schemeClr val="tx1"/>
                </a:solidFill>
              </a:rPr>
              <a:t>By combining intelligent prediction models with real-time dashboards, the system supports proactive maintenance planning, reduces unexpected failures, and improves equipment reliability.</a:t>
            </a:r>
            <a:endParaRPr lang="en-US" sz="1700" dirty="0"/>
          </a:p>
          <a:p>
            <a:pPr marL="342900" indent="-342900">
              <a:spcAft>
                <a:spcPts val="500"/>
              </a:spcAft>
              <a:buSzPct val="100000"/>
              <a:buChar char="•"/>
            </a:pPr>
            <a:r>
              <a:rPr lang="en-US" sz="1700" dirty="0">
                <a:solidFill>
                  <a:schemeClr val="tx1"/>
                </a:solidFill>
              </a:rPr>
              <a:t>The project demonstrates how modern industrial applications leverage IoT communication, time-series databases, and AI to enhance maintenance efficiency.</a:t>
            </a:r>
            <a:endParaRPr lang="en-US" sz="17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PDM: Learning</a:t>
            </a:r>
            <a:endParaRPr lang="en-US" sz="3200" dirty="0"/>
          </a:p>
        </p:txBody>
      </p:sp>
      <p:sp>
        <p:nvSpPr>
          <p:cNvPr id="3" name="Text 1"/>
          <p:cNvSpPr txBox="1"/>
          <p:nvPr/>
        </p:nvSpPr>
        <p:spPr>
          <a:xfrm>
            <a:off x="457200" y="1234440"/>
            <a:ext cx="8229600" cy="3474720"/>
          </a:xfrm>
          <a:prstGeom prst="rect">
            <a:avLst/>
          </a:prstGeom>
          <a:noFill/>
          <a:ln/>
        </p:spPr>
        <p:txBody>
          <a:bodyPr wrap="square" lIns="0" tIns="0" rIns="0" bIns="0" rtlCol="0" anchor="t"/>
          <a:lstStyle/>
          <a:p>
            <a:pPr marL="0" indent="0">
              <a:spcAft>
                <a:spcPts val="400"/>
              </a:spcAft>
              <a:buNone/>
            </a:pPr>
            <a:r>
              <a:rPr lang="en-US" sz="2200" b="1" dirty="0">
                <a:solidFill>
                  <a:schemeClr val="tx2"/>
                </a:solidFill>
              </a:rPr>
              <a:t>Through studying this project, I gained an understanding of:</a:t>
            </a:r>
            <a:endParaRPr lang="en-US" sz="2200" dirty="0"/>
          </a:p>
          <a:p>
            <a:pPr marL="342900" indent="-342900">
              <a:spcAft>
                <a:spcPts val="500"/>
              </a:spcAft>
              <a:buSzPct val="100000"/>
              <a:buChar char="•"/>
            </a:pPr>
            <a:r>
              <a:rPr lang="en-US" sz="1800" dirty="0">
                <a:solidFill>
                  <a:schemeClr val="tx1"/>
                </a:solidFill>
              </a:rPr>
              <a:t>Predictive Maintenance concepts and industrial monitoring systems.</a:t>
            </a:r>
            <a:endParaRPr lang="en-US" sz="2200" dirty="0"/>
          </a:p>
          <a:p>
            <a:pPr marL="342900" indent="-342900">
              <a:spcAft>
                <a:spcPts val="500"/>
              </a:spcAft>
              <a:buSzPct val="100000"/>
              <a:buChar char="•"/>
            </a:pPr>
            <a:r>
              <a:rPr lang="en-US" sz="1800" dirty="0">
                <a:solidFill>
                  <a:schemeClr val="tx1"/>
                </a:solidFill>
              </a:rPr>
              <a:t>Application development using React.js and Node.js.</a:t>
            </a:r>
            <a:endParaRPr lang="en-US" sz="2200" dirty="0"/>
          </a:p>
          <a:p>
            <a:pPr marL="342900" indent="-342900">
              <a:spcAft>
                <a:spcPts val="500"/>
              </a:spcAft>
              <a:buSzPct val="100000"/>
              <a:buChar char="•"/>
            </a:pPr>
            <a:r>
              <a:rPr lang="en-US" sz="1800" dirty="0">
                <a:solidFill>
                  <a:schemeClr val="tx1"/>
                </a:solidFill>
              </a:rPr>
              <a:t>Database integration using PostgreSQL.</a:t>
            </a:r>
            <a:endParaRPr lang="en-US" sz="2200" dirty="0"/>
          </a:p>
          <a:p>
            <a:pPr marL="342900" indent="-342900">
              <a:spcAft>
                <a:spcPts val="500"/>
              </a:spcAft>
              <a:buSzPct val="100000"/>
              <a:buChar char="•"/>
            </a:pPr>
            <a:r>
              <a:rPr lang="en-US" sz="1800" dirty="0">
                <a:solidFill>
                  <a:schemeClr val="tx1"/>
                </a:solidFill>
              </a:rPr>
              <a:t>Machine Learning-based prediction using LSTM and Random Forest.</a:t>
            </a:r>
            <a:endParaRPr lang="en-US" sz="2200" dirty="0"/>
          </a:p>
          <a:p>
            <a:pPr marL="342900" indent="-342900">
              <a:spcAft>
                <a:spcPts val="500"/>
              </a:spcAft>
              <a:buSzPct val="100000"/>
              <a:buChar char="•"/>
            </a:pPr>
            <a:r>
              <a:rPr lang="en-US" sz="1800" dirty="0">
                <a:solidFill>
                  <a:schemeClr val="tx1"/>
                </a:solidFill>
              </a:rPr>
              <a:t>Industrial equipment health monitoring using temperature and motor current analysis.</a:t>
            </a:r>
            <a:endParaRPr lang="en-US" sz="2200" dirty="0"/>
          </a:p>
          <a:p>
            <a:pPr marL="342900" indent="-342900">
              <a:spcAft>
                <a:spcPts val="500"/>
              </a:spcAft>
              <a:buSzPct val="100000"/>
              <a:buChar char="•"/>
            </a:pPr>
            <a:r>
              <a:rPr lang="en-US" sz="1800" dirty="0">
                <a:solidFill>
                  <a:schemeClr val="tx1"/>
                </a:solidFill>
              </a:rPr>
              <a:t>End-to-end data flow from sensor acquisition to predictive analytics.</a:t>
            </a:r>
            <a:endParaRPr lang="en-US" sz="2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8046720" cy="1005840"/>
          </a:xfrm>
          <a:prstGeom prst="rect">
            <a:avLst/>
          </a:prstGeom>
          <a:noFill/>
          <a:ln/>
        </p:spPr>
        <p:txBody>
          <a:bodyPr wrap="square" lIns="0" tIns="0" rIns="0" bIns="0" rtlCol="0" anchor="ctr"/>
          <a:lstStyle/>
          <a:p>
            <a:pPr marL="0" indent="0" algn="l">
              <a:buNone/>
            </a:pPr>
            <a:r>
              <a:rPr lang="en-US" sz="5400" b="1" dirty="0">
                <a:solidFill>
                  <a:schemeClr val="tx2"/>
                </a:solidFill>
              </a:rPr>
              <a:t>MROT</a:t>
            </a:r>
            <a:endParaRPr lang="en-US" sz="5400" dirty="0"/>
          </a:p>
        </p:txBody>
      </p:sp>
      <p:sp>
        <p:nvSpPr>
          <p:cNvPr id="3" name="Text 1"/>
          <p:cNvSpPr txBox="1"/>
          <p:nvPr/>
        </p:nvSpPr>
        <p:spPr>
          <a:xfrm>
            <a:off x="548640" y="2423160"/>
            <a:ext cx="8046720" cy="457200"/>
          </a:xfrm>
          <a:prstGeom prst="rect">
            <a:avLst/>
          </a:prstGeom>
          <a:noFill/>
          <a:ln/>
        </p:spPr>
        <p:txBody>
          <a:bodyPr wrap="square" lIns="0" tIns="0" rIns="0" bIns="0" rtlCol="0" anchor="t"/>
          <a:lstStyle/>
          <a:p>
            <a:pPr marL="0" indent="0">
              <a:buNone/>
            </a:pPr>
            <a:r>
              <a:rPr lang="en-US" sz="2400" dirty="0">
                <a:solidFill>
                  <a:schemeClr val="accent1"/>
                </a:solidFill>
              </a:rPr>
              <a:t>Maintenance Repair Operation Training</a:t>
            </a:r>
            <a:endParaRPr lang="en-US" sz="2400" dirty="0"/>
          </a:p>
        </p:txBody>
      </p:sp>
      <p:sp>
        <p:nvSpPr>
          <p:cNvPr id="4" name="Text 2"/>
          <p:cNvSpPr txBox="1"/>
          <p:nvPr/>
        </p:nvSpPr>
        <p:spPr>
          <a:xfrm>
            <a:off x="548640" y="3108960"/>
            <a:ext cx="8046720" cy="365760"/>
          </a:xfrm>
          <a:prstGeom prst="rect">
            <a:avLst/>
          </a:prstGeom>
          <a:noFill/>
          <a:ln/>
        </p:spPr>
        <p:txBody>
          <a:bodyPr wrap="square" lIns="0" tIns="0" rIns="0" bIns="0" rtlCol="0" anchor="t"/>
          <a:lstStyle/>
          <a:p>
            <a:pPr marL="0" indent="0">
              <a:buNone/>
            </a:pPr>
            <a:r>
              <a:rPr lang="en-US" sz="1600" dirty="0">
                <a:solidFill>
                  <a:schemeClr val="tx1"/>
                </a:solidFill>
              </a:rPr>
              <a:t>Project Summary</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Project Overview</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Centralized web-based system for maintenance, repair, operation and training support of naval equipment.</a:t>
            </a:r>
            <a:endParaRPr lang="en-US" sz="1800" dirty="0"/>
          </a:p>
          <a:p>
            <a:pPr marL="342900" indent="-342900">
              <a:spcAft>
                <a:spcPts val="800"/>
              </a:spcAft>
              <a:buSzPct val="100000"/>
              <a:buChar char="•"/>
            </a:pPr>
            <a:r>
              <a:rPr lang="en-US" sz="1800" dirty="0">
                <a:solidFill>
                  <a:schemeClr val="tx1"/>
                </a:solidFill>
              </a:rPr>
              <a:t>Four modules: Repair, Training, Operation and Maintenance.</a:t>
            </a:r>
            <a:endParaRPr lang="en-US" sz="1800" dirty="0"/>
          </a:p>
          <a:p>
            <a:pPr marL="342900" indent="-342900">
              <a:spcAft>
                <a:spcPts val="800"/>
              </a:spcAft>
              <a:buSzPct val="100000"/>
              <a:buChar char="•"/>
            </a:pPr>
            <a:r>
              <a:rPr lang="en-US" sz="1800" dirty="0">
                <a:solidFill>
                  <a:schemeClr val="tx1"/>
                </a:solidFill>
              </a:rPr>
              <a:t>Defect logs, periodic tasks, spares and equipment data are stored in the MROT_EON database.</a:t>
            </a:r>
            <a:endParaRPr lang="en-US" sz="1800" dirty="0"/>
          </a:p>
          <a:p>
            <a:pPr marL="342900" indent="-342900">
              <a:spcAft>
                <a:spcPts val="800"/>
              </a:spcAft>
              <a:buSzPct val="100000"/>
              <a:buChar char="•"/>
            </a:pPr>
            <a:r>
              <a:rPr lang="en-US" sz="1800" dirty="0">
                <a:solidFill>
                  <a:schemeClr val="tx1"/>
                </a:solidFill>
              </a:rPr>
              <a:t>Role-based access for maintainers, operators, supervisors, officers and administrators.</a:t>
            </a:r>
            <a:endParaRPr lang="en-US" sz="1800" dirty="0"/>
          </a:p>
          <a:p>
            <a:pPr marL="342900" indent="-342900">
              <a:spcAft>
                <a:spcPts val="800"/>
              </a:spcAft>
              <a:buSzPct val="100000"/>
              <a:buChar char="•"/>
            </a:pPr>
            <a:r>
              <a:rPr lang="en-US" sz="1800" dirty="0">
                <a:solidFill>
                  <a:schemeClr val="tx1"/>
                </a:solidFill>
              </a:rPr>
              <a:t>Ship-wise data (e.g. NGOPV) is loaded by bulk upload; MROT is connected to the PMS (cabinet).</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Text 1"/>
          <p:cNvSpPr txBox="1"/>
          <p:nvPr/>
        </p:nvSpPr>
        <p:spPr>
          <a:xfrm>
            <a:off x="457200" y="1280160"/>
            <a:ext cx="8229600" cy="914400"/>
          </a:xfrm>
          <a:prstGeom prst="rect">
            <a:avLst/>
          </a:prstGeom>
          <a:noFill/>
          <a:ln/>
        </p:spPr>
        <p:txBody>
          <a:bodyPr wrap="square" lIns="0" tIns="0" rIns="0" bIns="0" rtlCol="0" anchor="t"/>
          <a:lstStyle/>
          <a:p>
            <a:pPr marL="0" indent="0">
              <a:buNone/>
            </a:pPr>
            <a:r>
              <a:rPr lang="en-US" sz="1800" dirty="0">
                <a:solidFill>
                  <a:schemeClr val="tx1"/>
                </a:solidFill>
              </a:rPr>
              <a:t>Supporting complex naval systems means tracking defects, scheduling periodic maintenance, managing spares and keeping crews trained, across many users and ships.</a:t>
            </a:r>
            <a:endParaRPr lang="en-US" sz="1800" dirty="0"/>
          </a:p>
        </p:txBody>
      </p:sp>
      <p:sp>
        <p:nvSpPr>
          <p:cNvPr id="4" name="Text 2"/>
          <p:cNvSpPr txBox="1"/>
          <p:nvPr/>
        </p:nvSpPr>
        <p:spPr>
          <a:xfrm>
            <a:off x="457200" y="2377440"/>
            <a:ext cx="8229600" cy="20116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Defect records are scattered and hard to trace</a:t>
            </a:r>
            <a:endParaRPr lang="en-US" sz="1800" dirty="0"/>
          </a:p>
          <a:p>
            <a:pPr marL="342900" indent="-342900">
              <a:spcAft>
                <a:spcPts val="800"/>
              </a:spcAft>
              <a:buSzPct val="100000"/>
              <a:buChar char="•"/>
            </a:pPr>
            <a:r>
              <a:rPr lang="en-US" sz="1800" dirty="0">
                <a:solidFill>
                  <a:schemeClr val="tx1"/>
                </a:solidFill>
              </a:rPr>
              <a:t>Weekly and monthly tasks can be missed</a:t>
            </a:r>
            <a:endParaRPr lang="en-US" sz="1800" dirty="0"/>
          </a:p>
          <a:p>
            <a:pPr marL="342900" indent="-342900">
              <a:spcAft>
                <a:spcPts val="800"/>
              </a:spcAft>
              <a:buSzPct val="100000"/>
              <a:buChar char="•"/>
            </a:pPr>
            <a:r>
              <a:rPr lang="en-US" sz="1800" dirty="0">
                <a:solidFill>
                  <a:schemeClr val="tx1"/>
                </a:solidFill>
              </a:rPr>
              <a:t>Manuals, PDFs and videos are hard to find</a:t>
            </a:r>
            <a:endParaRPr lang="en-US" sz="1800" dirty="0"/>
          </a:p>
          <a:p>
            <a:pPr marL="342900" indent="-342900">
              <a:spcAft>
                <a:spcPts val="800"/>
              </a:spcAft>
              <a:buSzPct val="100000"/>
              <a:buChar char="•"/>
            </a:pPr>
            <a:r>
              <a:rPr lang="en-US" sz="1800" dirty="0">
                <a:solidFill>
                  <a:schemeClr val="tx1"/>
                </a:solidFill>
              </a:rPr>
              <a:t>Training and operating knowledge is not centralized</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Objectives</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Bring repair, training, operation and maintenance into one platform</a:t>
            </a:r>
            <a:endParaRPr lang="en-US" sz="1800" dirty="0"/>
          </a:p>
          <a:p>
            <a:pPr marL="342900" indent="-342900">
              <a:spcAft>
                <a:spcPts val="800"/>
              </a:spcAft>
              <a:buSzPct val="100000"/>
              <a:buChar char="•"/>
            </a:pPr>
            <a:r>
              <a:rPr lang="en-US" sz="1800" dirty="0">
                <a:solidFill>
                  <a:schemeClr val="tx1"/>
                </a:solidFill>
              </a:rPr>
              <a:t>Log defects and guide troubleshooting</a:t>
            </a:r>
            <a:endParaRPr lang="en-US" sz="1800" dirty="0"/>
          </a:p>
          <a:p>
            <a:pPr marL="342900" indent="-342900">
              <a:spcAft>
                <a:spcPts val="800"/>
              </a:spcAft>
              <a:buSzPct val="100000"/>
              <a:buChar char="•"/>
            </a:pPr>
            <a:r>
              <a:rPr lang="en-US" sz="1800" dirty="0">
                <a:solidFill>
                  <a:schemeClr val="tx1"/>
                </a:solidFill>
              </a:rPr>
              <a:t>Schedule weekly and monthly maintenance tasks</a:t>
            </a:r>
            <a:endParaRPr lang="en-US" sz="1800" dirty="0"/>
          </a:p>
          <a:p>
            <a:pPr marL="342900" indent="-342900">
              <a:spcAft>
                <a:spcPts val="800"/>
              </a:spcAft>
              <a:buSzPct val="100000"/>
              <a:buChar char="•"/>
            </a:pPr>
            <a:r>
              <a:rPr lang="en-US" sz="1800" dirty="0">
                <a:solidFill>
                  <a:schemeClr val="tx1"/>
                </a:solidFill>
              </a:rPr>
              <a:t>Search manuals, PDFs and videos with advanced search</a:t>
            </a:r>
            <a:endParaRPr lang="en-US" sz="1800" dirty="0"/>
          </a:p>
          <a:p>
            <a:pPr marL="342900" indent="-342900">
              <a:spcAft>
                <a:spcPts val="800"/>
              </a:spcAft>
              <a:buSzPct val="100000"/>
              <a:buChar char="•"/>
            </a:pPr>
            <a:r>
              <a:rPr lang="en-US" sz="1800" dirty="0">
                <a:solidFill>
                  <a:schemeClr val="tx1"/>
                </a:solidFill>
              </a:rPr>
              <a:t>Test operators with MCQ-based training</a:t>
            </a:r>
            <a:endParaRPr lang="en-US" sz="1800" dirty="0"/>
          </a:p>
          <a:p>
            <a:pPr marL="342900" indent="-342900">
              <a:spcAft>
                <a:spcPts val="800"/>
              </a:spcAft>
              <a:buSzPct val="100000"/>
              <a:buChar char="•"/>
            </a:pPr>
            <a:r>
              <a:rPr lang="en-US" sz="1800" dirty="0">
                <a:solidFill>
                  <a:schemeClr val="tx1"/>
                </a:solidFill>
              </a:rPr>
              <a:t>Control access by role, with admin privileges</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System Modules</a:t>
            </a:r>
            <a:endParaRPr lang="en-US" sz="3200" dirty="0"/>
          </a:p>
        </p:txBody>
      </p:sp>
      <p:sp>
        <p:nvSpPr>
          <p:cNvPr id="3" name="Text 1"/>
          <p:cNvSpPr txBox="1"/>
          <p:nvPr/>
        </p:nvSpPr>
        <p:spPr>
          <a:xfrm>
            <a:off x="457200" y="1280160"/>
            <a:ext cx="1920240" cy="365760"/>
          </a:xfrm>
          <a:prstGeom prst="rect">
            <a:avLst/>
          </a:prstGeom>
          <a:noFill/>
          <a:ln/>
        </p:spPr>
        <p:txBody>
          <a:bodyPr wrap="square" lIns="0" tIns="0" rIns="0" bIns="0" rtlCol="0" anchor="t"/>
          <a:lstStyle/>
          <a:p>
            <a:pPr marL="0" indent="0">
              <a:buNone/>
            </a:pPr>
            <a:r>
              <a:rPr lang="en-US" sz="2000" b="1" dirty="0">
                <a:solidFill>
                  <a:schemeClr val="tx2"/>
                </a:solidFill>
              </a:rPr>
              <a:t>Repair</a:t>
            </a:r>
            <a:endParaRPr lang="en-US" sz="2000" dirty="0"/>
          </a:p>
        </p:txBody>
      </p:sp>
      <p:sp>
        <p:nvSpPr>
          <p:cNvPr id="4" name="Text 2"/>
          <p:cNvSpPr txBox="1"/>
          <p:nvPr/>
        </p:nvSpPr>
        <p:spPr>
          <a:xfrm>
            <a:off x="457200" y="178308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Defect logs</a:t>
            </a:r>
            <a:endParaRPr lang="en-US" sz="1400" dirty="0"/>
          </a:p>
          <a:p>
            <a:pPr marL="342900" indent="-342900">
              <a:spcAft>
                <a:spcPts val="600"/>
              </a:spcAft>
              <a:buSzPct val="100000"/>
              <a:buChar char="•"/>
            </a:pPr>
            <a:r>
              <a:rPr lang="en-US" sz="1400" dirty="0">
                <a:solidFill>
                  <a:schemeClr val="tx1"/>
                </a:solidFill>
              </a:rPr>
              <a:t>Troubleshooting</a:t>
            </a:r>
            <a:endParaRPr lang="en-US" sz="1400" dirty="0"/>
          </a:p>
          <a:p>
            <a:pPr marL="342900" indent="-342900">
              <a:spcAft>
                <a:spcPts val="600"/>
              </a:spcAft>
              <a:buSzPct val="100000"/>
              <a:buChar char="•"/>
            </a:pPr>
            <a:r>
              <a:rPr lang="en-US" sz="1400" dirty="0">
                <a:solidFill>
                  <a:schemeClr val="tx1"/>
                </a:solidFill>
              </a:rPr>
              <a:t>BIT reported defects (BD)</a:t>
            </a:r>
            <a:endParaRPr lang="en-US" sz="1400" dirty="0"/>
          </a:p>
          <a:p>
            <a:pPr marL="342900" indent="-342900">
              <a:spcAft>
                <a:spcPts val="600"/>
              </a:spcAft>
              <a:buSzPct val="100000"/>
              <a:buChar char="•"/>
            </a:pPr>
            <a:r>
              <a:rPr lang="en-US" sz="1400" dirty="0">
                <a:solidFill>
                  <a:schemeClr val="tx1"/>
                </a:solidFill>
              </a:rPr>
              <a:t>Functional defects (PD)</a:t>
            </a:r>
            <a:endParaRPr lang="en-US" sz="1400" dirty="0"/>
          </a:p>
        </p:txBody>
      </p:sp>
      <p:sp>
        <p:nvSpPr>
          <p:cNvPr id="5" name="Text 3"/>
          <p:cNvSpPr txBox="1"/>
          <p:nvPr/>
        </p:nvSpPr>
        <p:spPr>
          <a:xfrm>
            <a:off x="2560320" y="1280160"/>
            <a:ext cx="1920240" cy="365760"/>
          </a:xfrm>
          <a:prstGeom prst="rect">
            <a:avLst/>
          </a:prstGeom>
          <a:noFill/>
          <a:ln/>
        </p:spPr>
        <p:txBody>
          <a:bodyPr wrap="square" lIns="0" tIns="0" rIns="0" bIns="0" rtlCol="0" anchor="t"/>
          <a:lstStyle/>
          <a:p>
            <a:pPr marL="0" indent="0">
              <a:buNone/>
            </a:pPr>
            <a:r>
              <a:rPr lang="en-US" sz="2000" b="1" dirty="0">
                <a:solidFill>
                  <a:schemeClr val="tx2"/>
                </a:solidFill>
              </a:rPr>
              <a:t>Training</a:t>
            </a:r>
            <a:endParaRPr lang="en-US" sz="2000" dirty="0"/>
          </a:p>
        </p:txBody>
      </p:sp>
      <p:sp>
        <p:nvSpPr>
          <p:cNvPr id="6" name="Text 4"/>
          <p:cNvSpPr txBox="1"/>
          <p:nvPr/>
        </p:nvSpPr>
        <p:spPr>
          <a:xfrm>
            <a:off x="2560320" y="178308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MCQ assessments</a:t>
            </a:r>
            <a:endParaRPr lang="en-US" sz="1400" dirty="0"/>
          </a:p>
          <a:p>
            <a:pPr marL="342900" indent="-342900">
              <a:spcAft>
                <a:spcPts val="600"/>
              </a:spcAft>
              <a:buSzPct val="100000"/>
              <a:buChar char="•"/>
            </a:pPr>
            <a:r>
              <a:rPr lang="en-US" sz="1400" dirty="0">
                <a:solidFill>
                  <a:schemeClr val="tx1"/>
                </a:solidFill>
              </a:rPr>
              <a:t>Operator learning (O&amp;T)</a:t>
            </a:r>
            <a:endParaRPr lang="en-US" sz="1400" dirty="0"/>
          </a:p>
        </p:txBody>
      </p:sp>
      <p:sp>
        <p:nvSpPr>
          <p:cNvPr id="7" name="Text 5"/>
          <p:cNvSpPr txBox="1"/>
          <p:nvPr/>
        </p:nvSpPr>
        <p:spPr>
          <a:xfrm>
            <a:off x="4663440" y="1280160"/>
            <a:ext cx="1920240" cy="365760"/>
          </a:xfrm>
          <a:prstGeom prst="rect">
            <a:avLst/>
          </a:prstGeom>
          <a:noFill/>
          <a:ln/>
        </p:spPr>
        <p:txBody>
          <a:bodyPr wrap="square" lIns="0" tIns="0" rIns="0" bIns="0" rtlCol="0" anchor="t"/>
          <a:lstStyle/>
          <a:p>
            <a:pPr marL="0" indent="0">
              <a:buNone/>
            </a:pPr>
            <a:r>
              <a:rPr lang="en-US" sz="2000" b="1" dirty="0">
                <a:solidFill>
                  <a:schemeClr val="tx2"/>
                </a:solidFill>
              </a:rPr>
              <a:t>Operation</a:t>
            </a:r>
            <a:endParaRPr lang="en-US" sz="2000" dirty="0"/>
          </a:p>
        </p:txBody>
      </p:sp>
      <p:sp>
        <p:nvSpPr>
          <p:cNvPr id="8" name="Text 6"/>
          <p:cNvSpPr txBox="1"/>
          <p:nvPr/>
        </p:nvSpPr>
        <p:spPr>
          <a:xfrm>
            <a:off x="4663440" y="178308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How the system works</a:t>
            </a:r>
            <a:endParaRPr lang="en-US" sz="1400" dirty="0"/>
          </a:p>
          <a:p>
            <a:pPr marL="342900" indent="-342900">
              <a:spcAft>
                <a:spcPts val="600"/>
              </a:spcAft>
              <a:buSzPct val="100000"/>
              <a:buChar char="•"/>
            </a:pPr>
            <a:r>
              <a:rPr lang="en-US" sz="1400" dirty="0">
                <a:solidFill>
                  <a:schemeClr val="tx1"/>
                </a:solidFill>
              </a:rPr>
              <a:t>Block diagrams</a:t>
            </a:r>
            <a:endParaRPr lang="en-US" sz="1400" dirty="0"/>
          </a:p>
          <a:p>
            <a:pPr marL="342900" indent="-342900">
              <a:spcAft>
                <a:spcPts val="600"/>
              </a:spcAft>
              <a:buSzPct val="100000"/>
              <a:buChar char="•"/>
            </a:pPr>
            <a:r>
              <a:rPr lang="en-US" sz="1400" dirty="0">
                <a:solidFill>
                  <a:schemeClr val="tx1"/>
                </a:solidFill>
              </a:rPr>
              <a:t>PDFs and videos</a:t>
            </a:r>
            <a:endParaRPr lang="en-US" sz="1400" dirty="0"/>
          </a:p>
        </p:txBody>
      </p:sp>
      <p:sp>
        <p:nvSpPr>
          <p:cNvPr id="9" name="Text 7"/>
          <p:cNvSpPr txBox="1"/>
          <p:nvPr/>
        </p:nvSpPr>
        <p:spPr>
          <a:xfrm>
            <a:off x="6766560" y="1280160"/>
            <a:ext cx="1920240" cy="365760"/>
          </a:xfrm>
          <a:prstGeom prst="rect">
            <a:avLst/>
          </a:prstGeom>
          <a:noFill/>
          <a:ln/>
        </p:spPr>
        <p:txBody>
          <a:bodyPr wrap="square" lIns="0" tIns="0" rIns="0" bIns="0" rtlCol="0" anchor="t"/>
          <a:lstStyle/>
          <a:p>
            <a:pPr marL="0" indent="0">
              <a:buNone/>
            </a:pPr>
            <a:r>
              <a:rPr lang="en-US" sz="2000" b="1" dirty="0">
                <a:solidFill>
                  <a:schemeClr val="tx2"/>
                </a:solidFill>
              </a:rPr>
              <a:t>Maintenance</a:t>
            </a:r>
            <a:endParaRPr lang="en-US" sz="2000" dirty="0"/>
          </a:p>
        </p:txBody>
      </p:sp>
      <p:sp>
        <p:nvSpPr>
          <p:cNvPr id="10" name="Text 8"/>
          <p:cNvSpPr txBox="1"/>
          <p:nvPr/>
        </p:nvSpPr>
        <p:spPr>
          <a:xfrm>
            <a:off x="6766560" y="178308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Weekly and monthly tasks</a:t>
            </a:r>
            <a:endParaRPr lang="en-US" sz="1400" dirty="0"/>
          </a:p>
          <a:p>
            <a:pPr marL="342900" indent="-342900">
              <a:spcAft>
                <a:spcPts val="600"/>
              </a:spcAft>
              <a:buSzPct val="100000"/>
              <a:buChar char="•"/>
            </a:pPr>
            <a:r>
              <a:rPr lang="en-US" sz="1400" dirty="0">
                <a:solidFill>
                  <a:schemeClr val="tx1"/>
                </a:solidFill>
              </a:rPr>
              <a:t>SSB, SI and PM</a:t>
            </a:r>
            <a:endParaRPr lang="en-US" sz="1400" dirty="0"/>
          </a:p>
          <a:p>
            <a:pPr marL="342900" indent="-342900">
              <a:spcAft>
                <a:spcPts val="600"/>
              </a:spcAft>
              <a:buSzPct val="100000"/>
              <a:buChar char="•"/>
            </a:pPr>
            <a:r>
              <a:rPr lang="en-US" sz="1400" dirty="0">
                <a:solidFill>
                  <a:schemeClr val="tx1"/>
                </a:solidFill>
              </a:rPr>
              <a:t>Spares and equipment</a:t>
            </a:r>
            <a:endParaRPr lang="en-US" sz="1400" dirty="0"/>
          </a:p>
          <a:p>
            <a:pPr marL="342900" indent="-342900">
              <a:spcAft>
                <a:spcPts val="600"/>
              </a:spcAft>
              <a:buSzPct val="100000"/>
              <a:buChar char="•"/>
            </a:pPr>
            <a:r>
              <a:rPr lang="en-US" sz="1400" dirty="0">
                <a:solidFill>
                  <a:schemeClr val="tx1"/>
                </a:solidFill>
              </a:rPr>
              <a:t>Advanced search</a:t>
            </a:r>
            <a:endParaRPr lang="en-US" sz="1400" dirty="0"/>
          </a:p>
        </p:txBody>
      </p:sp>
      <p:sp>
        <p:nvSpPr>
          <p:cNvPr id="11" name="Text 9"/>
          <p:cNvSpPr txBox="1"/>
          <p:nvPr/>
        </p:nvSpPr>
        <p:spPr>
          <a:xfrm>
            <a:off x="457200" y="4343400"/>
            <a:ext cx="8229600" cy="365760"/>
          </a:xfrm>
          <a:prstGeom prst="rect">
            <a:avLst/>
          </a:prstGeom>
          <a:noFill/>
          <a:ln/>
        </p:spPr>
        <p:txBody>
          <a:bodyPr wrap="square" lIns="0" tIns="0" rIns="0" bIns="0" rtlCol="0" anchor="t"/>
          <a:lstStyle/>
          <a:p>
            <a:pPr marL="0" indent="0">
              <a:buNone/>
            </a:pPr>
            <a:r>
              <a:rPr lang="en-US" sz="1000" dirty="0">
                <a:solidFill>
                  <a:schemeClr val="accent5"/>
                </a:solidFill>
              </a:rPr>
              <a:t>BD: BIT reported defects  |  PD: Functional defects  |  SSB: System Structure Breakdown  |  SI: External system interface  |  PM: Periodic maintenance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User Roles and Responsibilities (1/2)</a:t>
            </a:r>
            <a:endParaRPr lang="en-US" sz="3200" dirty="0"/>
          </a:p>
        </p:txBody>
      </p:sp>
      <p:sp>
        <p:nvSpPr>
          <p:cNvPr id="3" name="Text 1"/>
          <p:cNvSpPr txBox="1"/>
          <p:nvPr/>
        </p:nvSpPr>
        <p:spPr>
          <a:xfrm>
            <a:off x="45720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Maintainer</a:t>
            </a:r>
            <a:endParaRPr lang="en-US" sz="2200" dirty="0"/>
          </a:p>
        </p:txBody>
      </p:sp>
      <p:sp>
        <p:nvSpPr>
          <p:cNvPr id="4" name="Text 2"/>
          <p:cNvSpPr txBox="1"/>
          <p:nvPr/>
        </p:nvSpPr>
        <p:spPr>
          <a:xfrm>
            <a:off x="45720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Solution</a:t>
            </a:r>
            <a:endParaRPr lang="en-US" sz="1400" dirty="0"/>
          </a:p>
        </p:txBody>
      </p:sp>
      <p:sp>
        <p:nvSpPr>
          <p:cNvPr id="5" name="Text 3"/>
          <p:cNvSpPr txBox="1"/>
          <p:nvPr/>
        </p:nvSpPr>
        <p:spPr>
          <a:xfrm>
            <a:off x="45720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Performs weekly and monthly maintenance tasks</a:t>
            </a:r>
            <a:endParaRPr lang="en-US" sz="1600" dirty="0"/>
          </a:p>
          <a:p>
            <a:pPr marL="342900" indent="-342900">
              <a:spcAft>
                <a:spcPts val="800"/>
              </a:spcAft>
              <a:buSzPct val="100000"/>
              <a:buChar char="•"/>
            </a:pPr>
            <a:r>
              <a:rPr lang="en-US" sz="1600" dirty="0">
                <a:solidFill>
                  <a:schemeClr val="tx1"/>
                </a:solidFill>
              </a:rPr>
              <a:t>Logs and troubleshoots defects</a:t>
            </a:r>
            <a:endParaRPr lang="en-US" sz="1600" dirty="0"/>
          </a:p>
          <a:p>
            <a:pPr marL="342900" indent="-342900">
              <a:spcAft>
                <a:spcPts val="800"/>
              </a:spcAft>
              <a:buSzPct val="100000"/>
              <a:buChar char="•"/>
            </a:pPr>
            <a:r>
              <a:rPr lang="en-US" sz="1600" dirty="0">
                <a:solidFill>
                  <a:schemeClr val="tx1"/>
                </a:solidFill>
              </a:rPr>
              <a:t>Checks spares and equipment details</a:t>
            </a:r>
            <a:endParaRPr lang="en-US" sz="1600" dirty="0"/>
          </a:p>
        </p:txBody>
      </p:sp>
      <p:sp>
        <p:nvSpPr>
          <p:cNvPr id="6" name="Text 4"/>
          <p:cNvSpPr txBox="1"/>
          <p:nvPr/>
        </p:nvSpPr>
        <p:spPr>
          <a:xfrm>
            <a:off x="329184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Operator</a:t>
            </a:r>
            <a:endParaRPr lang="en-US" sz="2200" dirty="0"/>
          </a:p>
        </p:txBody>
      </p:sp>
      <p:sp>
        <p:nvSpPr>
          <p:cNvPr id="7" name="Text 5"/>
          <p:cNvSpPr txBox="1"/>
          <p:nvPr/>
        </p:nvSpPr>
        <p:spPr>
          <a:xfrm>
            <a:off x="329184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O&amp;T</a:t>
            </a:r>
            <a:endParaRPr lang="en-US" sz="1400" dirty="0"/>
          </a:p>
        </p:txBody>
      </p:sp>
      <p:sp>
        <p:nvSpPr>
          <p:cNvPr id="8" name="Text 6"/>
          <p:cNvSpPr txBox="1"/>
          <p:nvPr/>
        </p:nvSpPr>
        <p:spPr>
          <a:xfrm>
            <a:off x="329184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Learns how the system works</a:t>
            </a:r>
            <a:endParaRPr lang="en-US" sz="1600" dirty="0"/>
          </a:p>
          <a:p>
            <a:pPr marL="342900" indent="-342900">
              <a:spcAft>
                <a:spcPts val="800"/>
              </a:spcAft>
              <a:buSzPct val="100000"/>
              <a:buChar char="•"/>
            </a:pPr>
            <a:r>
              <a:rPr lang="en-US" sz="1600" dirty="0">
                <a:solidFill>
                  <a:schemeClr val="tx1"/>
                </a:solidFill>
              </a:rPr>
              <a:t>Takes MCQ-based training</a:t>
            </a:r>
            <a:endParaRPr lang="en-US" sz="1600" dirty="0"/>
          </a:p>
          <a:p>
            <a:pPr marL="342900" indent="-342900">
              <a:spcAft>
                <a:spcPts val="800"/>
              </a:spcAft>
              <a:buSzPct val="100000"/>
              <a:buChar char="•"/>
            </a:pPr>
            <a:r>
              <a:rPr lang="en-US" sz="1600" dirty="0">
                <a:solidFill>
                  <a:schemeClr val="tx1"/>
                </a:solidFill>
              </a:rPr>
              <a:t>Uses the Operation module day to day</a:t>
            </a:r>
            <a:endParaRPr lang="en-US" sz="1600" dirty="0"/>
          </a:p>
        </p:txBody>
      </p:sp>
      <p:sp>
        <p:nvSpPr>
          <p:cNvPr id="9" name="Text 7"/>
          <p:cNvSpPr txBox="1"/>
          <p:nvPr/>
        </p:nvSpPr>
        <p:spPr>
          <a:xfrm>
            <a:off x="612648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Supervisor</a:t>
            </a:r>
            <a:endParaRPr lang="en-US" sz="2200" dirty="0"/>
          </a:p>
        </p:txBody>
      </p:sp>
      <p:sp>
        <p:nvSpPr>
          <p:cNvPr id="10" name="Text 8"/>
          <p:cNvSpPr txBox="1"/>
          <p:nvPr/>
        </p:nvSpPr>
        <p:spPr>
          <a:xfrm>
            <a:off x="612648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Solution</a:t>
            </a:r>
            <a:endParaRPr lang="en-US" sz="1400" dirty="0"/>
          </a:p>
        </p:txBody>
      </p:sp>
      <p:sp>
        <p:nvSpPr>
          <p:cNvPr id="11" name="Text 9"/>
          <p:cNvSpPr txBox="1"/>
          <p:nvPr/>
        </p:nvSpPr>
        <p:spPr>
          <a:xfrm>
            <a:off x="612648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Monitors maintenance tasks</a:t>
            </a:r>
            <a:endParaRPr lang="en-US" sz="1600" dirty="0"/>
          </a:p>
          <a:p>
            <a:pPr marL="342900" indent="-342900">
              <a:spcAft>
                <a:spcPts val="800"/>
              </a:spcAft>
              <a:buSzPct val="100000"/>
              <a:buChar char="•"/>
            </a:pPr>
            <a:r>
              <a:rPr lang="en-US" sz="1600" dirty="0">
                <a:solidFill>
                  <a:schemeClr val="tx1"/>
                </a:solidFill>
              </a:rPr>
              <a:t>Tracks defect status</a:t>
            </a:r>
            <a:endParaRPr lang="en-US" sz="1600" dirty="0"/>
          </a:p>
          <a:p>
            <a:pPr marL="342900" indent="-342900">
              <a:spcAft>
                <a:spcPts val="800"/>
              </a:spcAft>
              <a:buSzPct val="100000"/>
              <a:buChar char="•"/>
            </a:pPr>
            <a:r>
              <a:rPr lang="en-US" sz="1600" dirty="0">
                <a:solidFill>
                  <a:schemeClr val="tx1"/>
                </a:solidFill>
              </a:rPr>
              <a:t>Reviews work done by maintainers</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User Roles and Responsibilities (2/2)</a:t>
            </a:r>
            <a:endParaRPr lang="en-US" sz="3200" dirty="0"/>
          </a:p>
        </p:txBody>
      </p:sp>
      <p:sp>
        <p:nvSpPr>
          <p:cNvPr id="3" name="Text 1"/>
          <p:cNvSpPr txBox="1"/>
          <p:nvPr/>
        </p:nvSpPr>
        <p:spPr>
          <a:xfrm>
            <a:off x="457200" y="1280160"/>
            <a:ext cx="3840480" cy="365760"/>
          </a:xfrm>
          <a:prstGeom prst="rect">
            <a:avLst/>
          </a:prstGeom>
          <a:noFill/>
          <a:ln/>
        </p:spPr>
        <p:txBody>
          <a:bodyPr wrap="square" lIns="0" tIns="0" rIns="0" bIns="0" rtlCol="0" anchor="t"/>
          <a:lstStyle/>
          <a:p>
            <a:pPr marL="0" indent="0">
              <a:buNone/>
            </a:pPr>
            <a:r>
              <a:rPr lang="en-US" sz="2200" b="1" dirty="0">
                <a:solidFill>
                  <a:schemeClr val="tx2"/>
                </a:solidFill>
              </a:rPr>
              <a:t>Officer</a:t>
            </a:r>
            <a:endParaRPr lang="en-US" sz="2200" dirty="0"/>
          </a:p>
        </p:txBody>
      </p:sp>
      <p:sp>
        <p:nvSpPr>
          <p:cNvPr id="4" name="Text 2"/>
          <p:cNvSpPr txBox="1"/>
          <p:nvPr/>
        </p:nvSpPr>
        <p:spPr>
          <a:xfrm>
            <a:off x="457200" y="1691640"/>
            <a:ext cx="3840480" cy="320040"/>
          </a:xfrm>
          <a:prstGeom prst="rect">
            <a:avLst/>
          </a:prstGeom>
          <a:noFill/>
          <a:ln/>
        </p:spPr>
        <p:txBody>
          <a:bodyPr wrap="square" lIns="0" tIns="0" rIns="0" bIns="0" rtlCol="0" anchor="t"/>
          <a:lstStyle/>
          <a:p>
            <a:pPr marL="0" indent="0">
              <a:buNone/>
            </a:pPr>
            <a:r>
              <a:rPr lang="en-US" sz="1400" b="1" dirty="0">
                <a:solidFill>
                  <a:schemeClr val="accent1"/>
                </a:solidFill>
              </a:rPr>
              <a:t>Access: MROT + admin privileges</a:t>
            </a:r>
            <a:endParaRPr lang="en-US" sz="1400" dirty="0"/>
          </a:p>
        </p:txBody>
      </p:sp>
      <p:sp>
        <p:nvSpPr>
          <p:cNvPr id="5" name="Text 3"/>
          <p:cNvSpPr txBox="1"/>
          <p:nvPr/>
        </p:nvSpPr>
        <p:spPr>
          <a:xfrm>
            <a:off x="457200" y="214884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Oversees maintenance and repair status</a:t>
            </a:r>
            <a:endParaRPr lang="en-US" sz="1600" dirty="0"/>
          </a:p>
          <a:p>
            <a:pPr marL="342900" indent="-342900">
              <a:spcAft>
                <a:spcPts val="800"/>
              </a:spcAft>
              <a:buSzPct val="100000"/>
              <a:buChar char="•"/>
            </a:pPr>
            <a:r>
              <a:rPr lang="en-US" sz="1600" dirty="0">
                <a:solidFill>
                  <a:schemeClr val="tx1"/>
                </a:solidFill>
              </a:rPr>
              <a:t>Reviews defect logs and reports</a:t>
            </a:r>
            <a:endParaRPr lang="en-US" sz="1600" dirty="0"/>
          </a:p>
          <a:p>
            <a:pPr marL="342900" indent="-342900">
              <a:spcAft>
                <a:spcPts val="800"/>
              </a:spcAft>
              <a:buSzPct val="100000"/>
              <a:buChar char="•"/>
            </a:pPr>
            <a:r>
              <a:rPr lang="en-US" sz="1600" dirty="0">
                <a:solidFill>
                  <a:schemeClr val="tx1"/>
                </a:solidFill>
              </a:rPr>
              <a:t>Has admin privileges on top of MROT access</a:t>
            </a:r>
            <a:endParaRPr lang="en-US" sz="1600" dirty="0"/>
          </a:p>
        </p:txBody>
      </p:sp>
      <p:sp>
        <p:nvSpPr>
          <p:cNvPr id="6" name="Text 4"/>
          <p:cNvSpPr txBox="1"/>
          <p:nvPr/>
        </p:nvSpPr>
        <p:spPr>
          <a:xfrm>
            <a:off x="4846320" y="1280160"/>
            <a:ext cx="3840480" cy="365760"/>
          </a:xfrm>
          <a:prstGeom prst="rect">
            <a:avLst/>
          </a:prstGeom>
          <a:noFill/>
          <a:ln/>
        </p:spPr>
        <p:txBody>
          <a:bodyPr wrap="square" lIns="0" tIns="0" rIns="0" bIns="0" rtlCol="0" anchor="t"/>
          <a:lstStyle/>
          <a:p>
            <a:pPr marL="0" indent="0">
              <a:buNone/>
            </a:pPr>
            <a:r>
              <a:rPr lang="en-US" sz="2200" b="1" dirty="0">
                <a:solidFill>
                  <a:schemeClr val="tx2"/>
                </a:solidFill>
              </a:rPr>
              <a:t>Administrator</a:t>
            </a:r>
            <a:endParaRPr lang="en-US" sz="2200" dirty="0"/>
          </a:p>
        </p:txBody>
      </p:sp>
      <p:sp>
        <p:nvSpPr>
          <p:cNvPr id="7" name="Text 5"/>
          <p:cNvSpPr txBox="1"/>
          <p:nvPr/>
        </p:nvSpPr>
        <p:spPr>
          <a:xfrm>
            <a:off x="4846320" y="1691640"/>
            <a:ext cx="3840480" cy="320040"/>
          </a:xfrm>
          <a:prstGeom prst="rect">
            <a:avLst/>
          </a:prstGeom>
          <a:noFill/>
          <a:ln/>
        </p:spPr>
        <p:txBody>
          <a:bodyPr wrap="square" lIns="0" tIns="0" rIns="0" bIns="0" rtlCol="0" anchor="t"/>
          <a:lstStyle/>
          <a:p>
            <a:pPr marL="0" indent="0">
              <a:buNone/>
            </a:pPr>
            <a:r>
              <a:rPr lang="en-US" sz="1400" b="1" dirty="0">
                <a:solidFill>
                  <a:schemeClr val="accent1"/>
                </a:solidFill>
              </a:rPr>
              <a:t>Access: MROT + admin privileges</a:t>
            </a:r>
            <a:endParaRPr lang="en-US" sz="1400" dirty="0"/>
          </a:p>
        </p:txBody>
      </p:sp>
      <p:sp>
        <p:nvSpPr>
          <p:cNvPr id="8" name="Text 6"/>
          <p:cNvSpPr txBox="1"/>
          <p:nvPr/>
        </p:nvSpPr>
        <p:spPr>
          <a:xfrm>
            <a:off x="4846320" y="214884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Manages users and their roles</a:t>
            </a:r>
            <a:endParaRPr lang="en-US" sz="1600" dirty="0"/>
          </a:p>
          <a:p>
            <a:pPr marL="342900" indent="-342900">
              <a:spcAft>
                <a:spcPts val="800"/>
              </a:spcAft>
              <a:buSzPct val="100000"/>
              <a:buChar char="•"/>
            </a:pPr>
            <a:r>
              <a:rPr lang="en-US" sz="1600" dirty="0">
                <a:solidFill>
                  <a:schemeClr val="tx1"/>
                </a:solidFill>
              </a:rPr>
              <a:t>Configures the database and ship data</a:t>
            </a:r>
            <a:endParaRPr lang="en-US" sz="1600" dirty="0"/>
          </a:p>
          <a:p>
            <a:pPr marL="342900" indent="-342900">
              <a:spcAft>
                <a:spcPts val="800"/>
              </a:spcAft>
              <a:buSzPct val="100000"/>
              <a:buChar char="•"/>
            </a:pPr>
            <a:r>
              <a:rPr lang="en-US" sz="1600" dirty="0">
                <a:solidFill>
                  <a:schemeClr val="tx1"/>
                </a:solidFill>
              </a:rPr>
              <a:t>Has full control of the system</a:t>
            </a:r>
            <a:endParaRPr lang="en-US" sz="1600" dirty="0"/>
          </a:p>
        </p:txBody>
      </p:sp>
      <p:sp>
        <p:nvSpPr>
          <p:cNvPr id="9" name="Text 7"/>
          <p:cNvSpPr txBox="1"/>
          <p:nvPr/>
        </p:nvSpPr>
        <p:spPr>
          <a:xfrm>
            <a:off x="457200" y="4069080"/>
            <a:ext cx="8229600" cy="548640"/>
          </a:xfrm>
          <a:prstGeom prst="rect">
            <a:avLst/>
          </a:prstGeom>
          <a:noFill/>
          <a:ln/>
        </p:spPr>
        <p:txBody>
          <a:bodyPr wrap="square" lIns="0" tIns="0" rIns="0" bIns="0" rtlCol="0" anchor="t"/>
          <a:lstStyle/>
          <a:p>
            <a:pPr marL="0" indent="0">
              <a:buNone/>
            </a:pPr>
            <a:r>
              <a:rPr lang="en-US" sz="1400" dirty="0">
                <a:solidFill>
                  <a:schemeClr val="accent5"/>
                </a:solidFill>
              </a:rPr>
              <a:t>Each login in the Users table (e.g. Navy Officer) is mapped to a system role (System Officer). MROT is connected to the PMS (cabinet).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3" name="Shape 1"/>
          <p:cNvSpPr/>
          <p:nvPr/>
        </p:nvSpPr>
        <p:spPr>
          <a:xfrm>
            <a:off x="457200" y="2286000"/>
            <a:ext cx="1828800" cy="1097280"/>
          </a:xfrm>
          <a:prstGeom prst="rect">
            <a:avLst/>
          </a:prstGeom>
          <a:solidFill>
            <a:srgbClr val="FFFFFF"/>
          </a:solidFill>
          <a:ln w="19050">
            <a:solidFill>
              <a:srgbClr val="0B1F3A"/>
            </a:solidFill>
            <a:prstDash val="solid"/>
          </a:ln>
        </p:spPr>
      </p:sp>
      <p:sp>
        <p:nvSpPr>
          <p:cNvPr id="4" name="Text 2"/>
          <p:cNvSpPr txBox="1"/>
          <p:nvPr/>
        </p:nvSpPr>
        <p:spPr>
          <a:xfrm>
            <a:off x="548640" y="2286000"/>
            <a:ext cx="1645920" cy="1097280"/>
          </a:xfrm>
          <a:prstGeom prst="rect">
            <a:avLst/>
          </a:prstGeom>
          <a:noFill/>
          <a:ln/>
        </p:spPr>
        <p:txBody>
          <a:bodyPr wrap="square" lIns="0" tIns="0" rIns="0" bIns="0" rtlCol="0" anchor="ctr"/>
          <a:lstStyle/>
          <a:p>
            <a:pPr marL="0" indent="0" algn="ctr">
              <a:buNone/>
            </a:pPr>
            <a:r>
              <a:rPr lang="en-US" sz="1500" b="1" dirty="0">
                <a:solidFill>
                  <a:srgbClr val="0B1F3A"/>
                </a:solidFill>
              </a:rPr>
              <a:t>Client (Frontend)</a:t>
            </a:r>
            <a:endParaRPr lang="en-US" sz="1500" dirty="0"/>
          </a:p>
          <a:p>
            <a:pPr marL="0" indent="0" algn="ctr">
              <a:buNone/>
            </a:pPr>
            <a:r>
              <a:rPr lang="en-US" sz="1300" dirty="0">
                <a:solidFill>
                  <a:schemeClr val="tx1"/>
                </a:solidFill>
              </a:rPr>
              <a:t>React build file</a:t>
            </a:r>
            <a:endParaRPr lang="en-US" sz="1500" dirty="0"/>
          </a:p>
        </p:txBody>
      </p:sp>
      <p:sp>
        <p:nvSpPr>
          <p:cNvPr id="5" name="Shape 3"/>
          <p:cNvSpPr/>
          <p:nvPr/>
        </p:nvSpPr>
        <p:spPr>
          <a:xfrm>
            <a:off x="2286000" y="2834640"/>
            <a:ext cx="457200" cy="0"/>
          </a:xfrm>
          <a:prstGeom prst="line">
            <a:avLst/>
          </a:prstGeom>
          <a:noFill/>
          <a:ln w="25400">
            <a:solidFill>
              <a:srgbClr val="5B6B7F"/>
            </a:solidFill>
            <a:prstDash val="solid"/>
          </a:ln>
        </p:spPr>
      </p:sp>
      <p:sp>
        <p:nvSpPr>
          <p:cNvPr id="6" name="Shape 4"/>
          <p:cNvSpPr/>
          <p:nvPr/>
        </p:nvSpPr>
        <p:spPr>
          <a:xfrm>
            <a:off x="2743200" y="1783080"/>
            <a:ext cx="0" cy="2103120"/>
          </a:xfrm>
          <a:prstGeom prst="line">
            <a:avLst/>
          </a:prstGeom>
          <a:noFill/>
          <a:ln w="25400">
            <a:solidFill>
              <a:srgbClr val="5B6B7F"/>
            </a:solidFill>
            <a:prstDash val="solid"/>
          </a:ln>
        </p:spPr>
      </p:sp>
      <p:sp>
        <p:nvSpPr>
          <p:cNvPr id="7" name="Shape 5"/>
          <p:cNvSpPr/>
          <p:nvPr/>
        </p:nvSpPr>
        <p:spPr>
          <a:xfrm>
            <a:off x="2743200" y="1783080"/>
            <a:ext cx="457200" cy="0"/>
          </a:xfrm>
          <a:prstGeom prst="line">
            <a:avLst/>
          </a:prstGeom>
          <a:noFill/>
          <a:ln w="25400">
            <a:solidFill>
              <a:srgbClr val="5B6B7F"/>
            </a:solidFill>
            <a:prstDash val="solid"/>
            <a:tailEnd type="triangle"/>
          </a:ln>
        </p:spPr>
      </p:sp>
      <p:sp>
        <p:nvSpPr>
          <p:cNvPr id="8" name="Shape 6"/>
          <p:cNvSpPr/>
          <p:nvPr/>
        </p:nvSpPr>
        <p:spPr>
          <a:xfrm>
            <a:off x="3200400" y="1325880"/>
            <a:ext cx="2926080" cy="914400"/>
          </a:xfrm>
          <a:prstGeom prst="rect">
            <a:avLst/>
          </a:prstGeom>
          <a:solidFill>
            <a:srgbClr val="FFFFFF"/>
          </a:solidFill>
          <a:ln w="19050">
            <a:solidFill>
              <a:srgbClr val="0B1F3A"/>
            </a:solidFill>
            <a:prstDash val="solid"/>
          </a:ln>
        </p:spPr>
      </p:sp>
      <p:sp>
        <p:nvSpPr>
          <p:cNvPr id="9" name="Text 7"/>
          <p:cNvSpPr txBox="1"/>
          <p:nvPr/>
        </p:nvSpPr>
        <p:spPr>
          <a:xfrm>
            <a:off x="3291840" y="1325880"/>
            <a:ext cx="2743200" cy="914400"/>
          </a:xfrm>
          <a:prstGeom prst="rect">
            <a:avLst/>
          </a:prstGeom>
          <a:noFill/>
          <a:ln/>
        </p:spPr>
        <p:txBody>
          <a:bodyPr wrap="square" lIns="0" tIns="0" rIns="0" bIns="0" rtlCol="0" anchor="ctr"/>
          <a:lstStyle/>
          <a:p>
            <a:pPr marL="0" indent="0" algn="ctr">
              <a:buNone/>
            </a:pPr>
            <a:r>
              <a:rPr lang="en-US" sz="1500" b="1" dirty="0">
                <a:solidFill>
                  <a:srgbClr val="0B1F3A"/>
                </a:solidFill>
              </a:rPr>
              <a:t>Python Server</a:t>
            </a:r>
            <a:endParaRPr lang="en-US" sz="1500" dirty="0"/>
          </a:p>
          <a:p>
            <a:pPr marL="0" indent="0" algn="ctr">
              <a:buNone/>
            </a:pPr>
            <a:r>
              <a:rPr lang="en-US" sz="1300" dirty="0">
                <a:solidFill>
                  <a:schemeClr val="tx1"/>
                </a:solidFill>
              </a:rPr>
              <a:t>Advanced search, annotation and feedback</a:t>
            </a:r>
            <a:endParaRPr lang="en-US" sz="1500" dirty="0"/>
          </a:p>
        </p:txBody>
      </p:sp>
      <p:sp>
        <p:nvSpPr>
          <p:cNvPr id="10" name="Shape 8"/>
          <p:cNvSpPr/>
          <p:nvPr/>
        </p:nvSpPr>
        <p:spPr>
          <a:xfrm>
            <a:off x="2743200" y="2834640"/>
            <a:ext cx="457200" cy="0"/>
          </a:xfrm>
          <a:prstGeom prst="line">
            <a:avLst/>
          </a:prstGeom>
          <a:noFill/>
          <a:ln w="25400">
            <a:solidFill>
              <a:srgbClr val="5B6B7F"/>
            </a:solidFill>
            <a:prstDash val="solid"/>
            <a:tailEnd type="triangle"/>
          </a:ln>
        </p:spPr>
      </p:sp>
      <p:sp>
        <p:nvSpPr>
          <p:cNvPr id="11" name="Shape 9"/>
          <p:cNvSpPr/>
          <p:nvPr/>
        </p:nvSpPr>
        <p:spPr>
          <a:xfrm>
            <a:off x="3200400" y="2377440"/>
            <a:ext cx="2926080" cy="914400"/>
          </a:xfrm>
          <a:prstGeom prst="rect">
            <a:avLst/>
          </a:prstGeom>
          <a:solidFill>
            <a:srgbClr val="FFFFFF"/>
          </a:solidFill>
          <a:ln w="19050">
            <a:solidFill>
              <a:srgbClr val="0B1F3A"/>
            </a:solidFill>
            <a:prstDash val="solid"/>
          </a:ln>
        </p:spPr>
      </p:sp>
      <p:sp>
        <p:nvSpPr>
          <p:cNvPr id="12" name="Text 10"/>
          <p:cNvSpPr txBox="1"/>
          <p:nvPr/>
        </p:nvSpPr>
        <p:spPr>
          <a:xfrm>
            <a:off x="3291840" y="2377440"/>
            <a:ext cx="2743200" cy="914400"/>
          </a:xfrm>
          <a:prstGeom prst="rect">
            <a:avLst/>
          </a:prstGeom>
          <a:noFill/>
          <a:ln/>
        </p:spPr>
        <p:txBody>
          <a:bodyPr wrap="square" lIns="0" tIns="0" rIns="0" bIns="0" rtlCol="0" anchor="ctr"/>
          <a:lstStyle/>
          <a:p>
            <a:pPr marL="0" indent="0" algn="ctr">
              <a:buNone/>
            </a:pPr>
            <a:r>
              <a:rPr lang="en-US" sz="1500" b="1" dirty="0">
                <a:solidFill>
                  <a:srgbClr val="0B1F3A"/>
                </a:solidFill>
              </a:rPr>
              <a:t>Node Server</a:t>
            </a:r>
            <a:endParaRPr lang="en-US" sz="1500" dirty="0"/>
          </a:p>
          <a:p>
            <a:pPr marL="0" indent="0" algn="ctr">
              <a:buNone/>
            </a:pPr>
            <a:r>
              <a:rPr lang="en-US" sz="1300" dirty="0">
                <a:solidFill>
                  <a:schemeClr val="tx1"/>
                </a:solidFill>
              </a:rPr>
              <a:t>PDFs, videos and database linking</a:t>
            </a:r>
            <a:endParaRPr lang="en-US" sz="1500" dirty="0"/>
          </a:p>
        </p:txBody>
      </p:sp>
      <p:sp>
        <p:nvSpPr>
          <p:cNvPr id="13" name="Shape 11"/>
          <p:cNvSpPr/>
          <p:nvPr/>
        </p:nvSpPr>
        <p:spPr>
          <a:xfrm>
            <a:off x="2743200" y="3886200"/>
            <a:ext cx="457200" cy="0"/>
          </a:xfrm>
          <a:prstGeom prst="line">
            <a:avLst/>
          </a:prstGeom>
          <a:noFill/>
          <a:ln w="25400">
            <a:solidFill>
              <a:srgbClr val="5B6B7F"/>
            </a:solidFill>
            <a:prstDash val="solid"/>
            <a:tailEnd type="triangle"/>
          </a:ln>
        </p:spPr>
      </p:sp>
      <p:sp>
        <p:nvSpPr>
          <p:cNvPr id="14" name="Shape 12"/>
          <p:cNvSpPr/>
          <p:nvPr/>
        </p:nvSpPr>
        <p:spPr>
          <a:xfrm>
            <a:off x="3200400" y="3429000"/>
            <a:ext cx="2926080" cy="914400"/>
          </a:xfrm>
          <a:prstGeom prst="rect">
            <a:avLst/>
          </a:prstGeom>
          <a:solidFill>
            <a:srgbClr val="FFFFFF"/>
          </a:solidFill>
          <a:ln w="19050">
            <a:solidFill>
              <a:srgbClr val="0B1F3A"/>
            </a:solidFill>
            <a:prstDash val="solid"/>
          </a:ln>
        </p:spPr>
      </p:sp>
      <p:sp>
        <p:nvSpPr>
          <p:cNvPr id="15" name="Text 13"/>
          <p:cNvSpPr txBox="1"/>
          <p:nvPr/>
        </p:nvSpPr>
        <p:spPr>
          <a:xfrm>
            <a:off x="3291840" y="3429000"/>
            <a:ext cx="2743200" cy="914400"/>
          </a:xfrm>
          <a:prstGeom prst="rect">
            <a:avLst/>
          </a:prstGeom>
          <a:noFill/>
          <a:ln/>
        </p:spPr>
        <p:txBody>
          <a:bodyPr wrap="square" lIns="0" tIns="0" rIns="0" bIns="0" rtlCol="0" anchor="ctr"/>
          <a:lstStyle/>
          <a:p>
            <a:pPr marL="0" indent="0" algn="ctr">
              <a:buNone/>
            </a:pPr>
            <a:r>
              <a:rPr lang="en-US" sz="1500" b="1" dirty="0">
                <a:solidFill>
                  <a:srgbClr val="0B1F3A"/>
                </a:solidFill>
              </a:rPr>
              <a:t>Third-party Server</a:t>
            </a:r>
            <a:endParaRPr lang="en-US" sz="1500" dirty="0"/>
          </a:p>
          <a:p>
            <a:pPr marL="0" indent="0" algn="ctr">
              <a:buNone/>
            </a:pPr>
            <a:r>
              <a:rPr lang="en-US" sz="1300" dirty="0">
                <a:solidFill>
                  <a:schemeClr val="tx1"/>
                </a:solidFill>
              </a:rPr>
              <a:t>Block diagrams and defects</a:t>
            </a:r>
            <a:endParaRPr lang="en-US" sz="1500" dirty="0"/>
          </a:p>
        </p:txBody>
      </p:sp>
      <p:sp>
        <p:nvSpPr>
          <p:cNvPr id="16" name="Shape 14"/>
          <p:cNvSpPr/>
          <p:nvPr/>
        </p:nvSpPr>
        <p:spPr>
          <a:xfrm>
            <a:off x="6126480" y="2834640"/>
            <a:ext cx="640080" cy="0"/>
          </a:xfrm>
          <a:prstGeom prst="line">
            <a:avLst/>
          </a:prstGeom>
          <a:noFill/>
          <a:ln w="25400">
            <a:solidFill>
              <a:srgbClr val="5B6B7F"/>
            </a:solidFill>
            <a:prstDash val="solid"/>
            <a:tailEnd type="triangle"/>
          </a:ln>
        </p:spPr>
      </p:sp>
      <p:sp>
        <p:nvSpPr>
          <p:cNvPr id="17" name="Shape 15"/>
          <p:cNvSpPr/>
          <p:nvPr/>
        </p:nvSpPr>
        <p:spPr>
          <a:xfrm>
            <a:off x="6766560" y="2286000"/>
            <a:ext cx="1920240" cy="1097280"/>
          </a:xfrm>
          <a:prstGeom prst="rect">
            <a:avLst/>
          </a:prstGeom>
          <a:solidFill>
            <a:srgbClr val="FFFFFF"/>
          </a:solidFill>
          <a:ln w="19050">
            <a:solidFill>
              <a:srgbClr val="0B1F3A"/>
            </a:solidFill>
            <a:prstDash val="solid"/>
          </a:ln>
        </p:spPr>
      </p:sp>
      <p:sp>
        <p:nvSpPr>
          <p:cNvPr id="18" name="Text 16"/>
          <p:cNvSpPr txBox="1"/>
          <p:nvPr/>
        </p:nvSpPr>
        <p:spPr>
          <a:xfrm>
            <a:off x="6858000" y="2286000"/>
            <a:ext cx="1737360" cy="1097280"/>
          </a:xfrm>
          <a:prstGeom prst="rect">
            <a:avLst/>
          </a:prstGeom>
          <a:noFill/>
          <a:ln/>
        </p:spPr>
        <p:txBody>
          <a:bodyPr wrap="square" lIns="0" tIns="0" rIns="0" bIns="0" rtlCol="0" anchor="ctr"/>
          <a:lstStyle/>
          <a:p>
            <a:pPr marL="0" indent="0" algn="ctr">
              <a:buNone/>
            </a:pPr>
            <a:r>
              <a:rPr lang="en-US" sz="1500" b="1" dirty="0">
                <a:solidFill>
                  <a:srgbClr val="0B1F3A"/>
                </a:solidFill>
              </a:rPr>
              <a:t>PostgreSQL</a:t>
            </a:r>
            <a:endParaRPr lang="en-US" sz="1500" dirty="0"/>
          </a:p>
          <a:p>
            <a:pPr marL="0" indent="0" algn="ctr">
              <a:buNone/>
            </a:pPr>
            <a:r>
              <a:rPr lang="en-US" sz="1300" dirty="0">
                <a:solidFill>
                  <a:schemeClr val="tx1"/>
                </a:solidFill>
              </a:rPr>
              <a:t>MROT_EON</a:t>
            </a:r>
            <a:endParaRPr lang="en-US" sz="1500" dirty="0"/>
          </a:p>
        </p:txBody>
      </p:sp>
      <p:sp>
        <p:nvSpPr>
          <p:cNvPr id="19" name="Text 17"/>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00" dirty="0">
                <a:solidFill>
                  <a:schemeClr val="accent5"/>
                </a:solidFill>
              </a:rPr>
              <a:t>Frontend ships as a build file only. Backend = Node, Python and third-party servers.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Setup and Data Workflow</a:t>
            </a:r>
            <a:endParaRPr lang="en-US" sz="3200" dirty="0"/>
          </a:p>
        </p:txBody>
      </p:sp>
      <p:sp>
        <p:nvSpPr>
          <p:cNvPr id="3" name="Text 1"/>
          <p:cNvSpPr txBox="1"/>
          <p:nvPr/>
        </p:nvSpPr>
        <p:spPr>
          <a:xfrm>
            <a:off x="457200" y="1280160"/>
            <a:ext cx="365760" cy="457200"/>
          </a:xfrm>
          <a:prstGeom prst="rect">
            <a:avLst/>
          </a:prstGeom>
          <a:noFill/>
          <a:ln/>
        </p:spPr>
        <p:txBody>
          <a:bodyPr wrap="square" lIns="0" tIns="0" rIns="0" bIns="0" rtlCol="0" anchor="ctr"/>
          <a:lstStyle/>
          <a:p>
            <a:pPr marL="0" indent="0">
              <a:buNone/>
            </a:pPr>
            <a:r>
              <a:rPr lang="en-US" sz="1800" b="1" dirty="0">
                <a:solidFill>
                  <a:schemeClr val="accent1"/>
                </a:solidFill>
              </a:rPr>
              <a:t>1.</a:t>
            </a:r>
            <a:endParaRPr lang="en-US" sz="1800" dirty="0"/>
          </a:p>
        </p:txBody>
      </p:sp>
      <p:sp>
        <p:nvSpPr>
          <p:cNvPr id="4" name="Text 2"/>
          <p:cNvSpPr txBox="1"/>
          <p:nvPr/>
        </p:nvSpPr>
        <p:spPr>
          <a:xfrm>
            <a:off x="868680" y="1280160"/>
            <a:ext cx="2286000" cy="457200"/>
          </a:xfrm>
          <a:prstGeom prst="rect">
            <a:avLst/>
          </a:prstGeom>
          <a:noFill/>
          <a:ln/>
        </p:spPr>
        <p:txBody>
          <a:bodyPr wrap="square" lIns="0" tIns="0" rIns="0" bIns="0" rtlCol="0" anchor="ctr"/>
          <a:lstStyle/>
          <a:p>
            <a:pPr marL="0" indent="0">
              <a:buNone/>
            </a:pPr>
            <a:r>
              <a:rPr lang="en-US" sz="1800" b="1" dirty="0">
                <a:solidFill>
                  <a:schemeClr val="tx2"/>
                </a:solidFill>
              </a:rPr>
              <a:t>Install software</a:t>
            </a:r>
            <a:endParaRPr lang="en-US" sz="1800" dirty="0"/>
          </a:p>
        </p:txBody>
      </p:sp>
      <p:sp>
        <p:nvSpPr>
          <p:cNvPr id="5" name="Text 3"/>
          <p:cNvSpPr txBox="1"/>
          <p:nvPr/>
        </p:nvSpPr>
        <p:spPr>
          <a:xfrm>
            <a:off x="3200400" y="1280160"/>
            <a:ext cx="5486400" cy="457200"/>
          </a:xfrm>
          <a:prstGeom prst="rect">
            <a:avLst/>
          </a:prstGeom>
          <a:noFill/>
          <a:ln/>
        </p:spPr>
        <p:txBody>
          <a:bodyPr wrap="square" lIns="0" tIns="0" rIns="0" bIns="0" rtlCol="0" anchor="ctr"/>
          <a:lstStyle/>
          <a:p>
            <a:pPr marL="0" indent="0">
              <a:buNone/>
            </a:pPr>
            <a:r>
              <a:rPr lang="en-US" sz="1600" dirty="0">
                <a:solidFill>
                  <a:schemeClr val="tx1"/>
                </a:solidFill>
              </a:rPr>
              <a:t>Node.js, PostgreSQL (pgAdmin), VS Code, Python 3.12</a:t>
            </a:r>
            <a:endParaRPr lang="en-US" sz="1600" dirty="0"/>
          </a:p>
        </p:txBody>
      </p:sp>
      <p:sp>
        <p:nvSpPr>
          <p:cNvPr id="6" name="Text 4"/>
          <p:cNvSpPr txBox="1"/>
          <p:nvPr/>
        </p:nvSpPr>
        <p:spPr>
          <a:xfrm>
            <a:off x="457200" y="1938528"/>
            <a:ext cx="365760" cy="457200"/>
          </a:xfrm>
          <a:prstGeom prst="rect">
            <a:avLst/>
          </a:prstGeom>
          <a:noFill/>
          <a:ln/>
        </p:spPr>
        <p:txBody>
          <a:bodyPr wrap="square" lIns="0" tIns="0" rIns="0" bIns="0" rtlCol="0" anchor="ctr"/>
          <a:lstStyle/>
          <a:p>
            <a:pPr marL="0" indent="0">
              <a:buNone/>
            </a:pPr>
            <a:r>
              <a:rPr lang="en-US" sz="1800" b="1" dirty="0">
                <a:solidFill>
                  <a:schemeClr val="accent1"/>
                </a:solidFill>
              </a:rPr>
              <a:t>2.</a:t>
            </a:r>
            <a:endParaRPr lang="en-US" sz="1800" dirty="0"/>
          </a:p>
        </p:txBody>
      </p:sp>
      <p:sp>
        <p:nvSpPr>
          <p:cNvPr id="7" name="Text 5"/>
          <p:cNvSpPr txBox="1"/>
          <p:nvPr/>
        </p:nvSpPr>
        <p:spPr>
          <a:xfrm>
            <a:off x="868680" y="1938528"/>
            <a:ext cx="2286000" cy="457200"/>
          </a:xfrm>
          <a:prstGeom prst="rect">
            <a:avLst/>
          </a:prstGeom>
          <a:noFill/>
          <a:ln/>
        </p:spPr>
        <p:txBody>
          <a:bodyPr wrap="square" lIns="0" tIns="0" rIns="0" bIns="0" rtlCol="0" anchor="ctr"/>
          <a:lstStyle/>
          <a:p>
            <a:pPr marL="0" indent="0">
              <a:buNone/>
            </a:pPr>
            <a:r>
              <a:rPr lang="en-US" sz="1800" b="1" dirty="0">
                <a:solidFill>
                  <a:schemeClr val="tx2"/>
                </a:solidFill>
              </a:rPr>
              <a:t>Configure database</a:t>
            </a:r>
            <a:endParaRPr lang="en-US" sz="1800" dirty="0"/>
          </a:p>
        </p:txBody>
      </p:sp>
      <p:sp>
        <p:nvSpPr>
          <p:cNvPr id="8" name="Text 6"/>
          <p:cNvSpPr txBox="1"/>
          <p:nvPr/>
        </p:nvSpPr>
        <p:spPr>
          <a:xfrm>
            <a:off x="3200400" y="1938528"/>
            <a:ext cx="5486400" cy="457200"/>
          </a:xfrm>
          <a:prstGeom prst="rect">
            <a:avLst/>
          </a:prstGeom>
          <a:noFill/>
          <a:ln/>
        </p:spPr>
        <p:txBody>
          <a:bodyPr wrap="square" lIns="0" tIns="0" rIns="0" bIns="0" rtlCol="0" anchor="ctr"/>
          <a:lstStyle/>
          <a:p>
            <a:pPr marL="0" indent="0">
              <a:buNone/>
            </a:pPr>
            <a:r>
              <a:rPr lang="en-US" sz="1600" dirty="0">
                <a:solidFill>
                  <a:schemeClr val="tx1"/>
                </a:solidFill>
              </a:rPr>
              <a:t>Point db.config.js to the MROT_EON database</a:t>
            </a:r>
            <a:endParaRPr lang="en-US" sz="1600" dirty="0"/>
          </a:p>
        </p:txBody>
      </p:sp>
      <p:sp>
        <p:nvSpPr>
          <p:cNvPr id="9" name="Text 7"/>
          <p:cNvSpPr txBox="1"/>
          <p:nvPr/>
        </p:nvSpPr>
        <p:spPr>
          <a:xfrm>
            <a:off x="457200" y="2596896"/>
            <a:ext cx="365760" cy="457200"/>
          </a:xfrm>
          <a:prstGeom prst="rect">
            <a:avLst/>
          </a:prstGeom>
          <a:noFill/>
          <a:ln/>
        </p:spPr>
        <p:txBody>
          <a:bodyPr wrap="square" lIns="0" tIns="0" rIns="0" bIns="0" rtlCol="0" anchor="ctr"/>
          <a:lstStyle/>
          <a:p>
            <a:pPr marL="0" indent="0">
              <a:buNone/>
            </a:pPr>
            <a:r>
              <a:rPr lang="en-US" sz="1800" b="1" dirty="0">
                <a:solidFill>
                  <a:schemeClr val="accent1"/>
                </a:solidFill>
              </a:rPr>
              <a:t>3.</a:t>
            </a:r>
            <a:endParaRPr lang="en-US" sz="1800" dirty="0"/>
          </a:p>
        </p:txBody>
      </p:sp>
      <p:sp>
        <p:nvSpPr>
          <p:cNvPr id="10" name="Text 8"/>
          <p:cNvSpPr txBox="1"/>
          <p:nvPr/>
        </p:nvSpPr>
        <p:spPr>
          <a:xfrm>
            <a:off x="868680" y="2596896"/>
            <a:ext cx="2286000" cy="457200"/>
          </a:xfrm>
          <a:prstGeom prst="rect">
            <a:avLst/>
          </a:prstGeom>
          <a:noFill/>
          <a:ln/>
        </p:spPr>
        <p:txBody>
          <a:bodyPr wrap="square" lIns="0" tIns="0" rIns="0" bIns="0" rtlCol="0" anchor="ctr"/>
          <a:lstStyle/>
          <a:p>
            <a:pPr marL="0" indent="0">
              <a:buNone/>
            </a:pPr>
            <a:r>
              <a:rPr lang="en-US" sz="1800" b="1" dirty="0">
                <a:solidFill>
                  <a:schemeClr val="tx2"/>
                </a:solidFill>
              </a:rPr>
              <a:t>Upload data</a:t>
            </a:r>
            <a:endParaRPr lang="en-US" sz="1800" dirty="0"/>
          </a:p>
        </p:txBody>
      </p:sp>
      <p:sp>
        <p:nvSpPr>
          <p:cNvPr id="11" name="Text 9"/>
          <p:cNvSpPr txBox="1"/>
          <p:nvPr/>
        </p:nvSpPr>
        <p:spPr>
          <a:xfrm>
            <a:off x="3200400" y="2596896"/>
            <a:ext cx="5486400" cy="457200"/>
          </a:xfrm>
          <a:prstGeom prst="rect">
            <a:avLst/>
          </a:prstGeom>
          <a:noFill/>
          <a:ln/>
        </p:spPr>
        <p:txBody>
          <a:bodyPr wrap="square" lIns="0" tIns="0" rIns="0" bIns="0" rtlCol="0" anchor="ctr"/>
          <a:lstStyle/>
          <a:p>
            <a:pPr marL="0" indent="0">
              <a:buNone/>
            </a:pPr>
            <a:r>
              <a:rPr lang="en-US" sz="1600" dirty="0">
                <a:solidFill>
                  <a:schemeClr val="tx1"/>
                </a:solidFill>
              </a:rPr>
              <a:t>Bulk upload ship data (NGOPV); F6 saves to DB tables</a:t>
            </a:r>
            <a:endParaRPr lang="en-US" sz="1600" dirty="0"/>
          </a:p>
        </p:txBody>
      </p:sp>
      <p:sp>
        <p:nvSpPr>
          <p:cNvPr id="12" name="Text 10"/>
          <p:cNvSpPr txBox="1"/>
          <p:nvPr/>
        </p:nvSpPr>
        <p:spPr>
          <a:xfrm>
            <a:off x="457200" y="3255264"/>
            <a:ext cx="365760" cy="457200"/>
          </a:xfrm>
          <a:prstGeom prst="rect">
            <a:avLst/>
          </a:prstGeom>
          <a:noFill/>
          <a:ln/>
        </p:spPr>
        <p:txBody>
          <a:bodyPr wrap="square" lIns="0" tIns="0" rIns="0" bIns="0" rtlCol="0" anchor="ctr"/>
          <a:lstStyle/>
          <a:p>
            <a:pPr marL="0" indent="0">
              <a:buNone/>
            </a:pPr>
            <a:r>
              <a:rPr lang="en-US" sz="1800" b="1" dirty="0">
                <a:solidFill>
                  <a:schemeClr val="accent1"/>
                </a:solidFill>
              </a:rPr>
              <a:t>4.</a:t>
            </a:r>
            <a:endParaRPr lang="en-US" sz="1800" dirty="0"/>
          </a:p>
        </p:txBody>
      </p:sp>
      <p:sp>
        <p:nvSpPr>
          <p:cNvPr id="13" name="Text 11"/>
          <p:cNvSpPr txBox="1"/>
          <p:nvPr/>
        </p:nvSpPr>
        <p:spPr>
          <a:xfrm>
            <a:off x="868680" y="3255264"/>
            <a:ext cx="2286000" cy="457200"/>
          </a:xfrm>
          <a:prstGeom prst="rect">
            <a:avLst/>
          </a:prstGeom>
          <a:noFill/>
          <a:ln/>
        </p:spPr>
        <p:txBody>
          <a:bodyPr wrap="square" lIns="0" tIns="0" rIns="0" bIns="0" rtlCol="0" anchor="ctr"/>
          <a:lstStyle/>
          <a:p>
            <a:pPr marL="0" indent="0">
              <a:buNone/>
            </a:pPr>
            <a:r>
              <a:rPr lang="en-US" sz="1800" b="1" dirty="0">
                <a:solidFill>
                  <a:schemeClr val="tx2"/>
                </a:solidFill>
              </a:rPr>
              <a:t>Link the client</a:t>
            </a:r>
            <a:endParaRPr lang="en-US" sz="1800" dirty="0"/>
          </a:p>
        </p:txBody>
      </p:sp>
      <p:sp>
        <p:nvSpPr>
          <p:cNvPr id="14" name="Text 12"/>
          <p:cNvSpPr txBox="1"/>
          <p:nvPr/>
        </p:nvSpPr>
        <p:spPr>
          <a:xfrm>
            <a:off x="3200400" y="3255264"/>
            <a:ext cx="5486400" cy="457200"/>
          </a:xfrm>
          <a:prstGeom prst="rect">
            <a:avLst/>
          </a:prstGeom>
          <a:noFill/>
          <a:ln/>
        </p:spPr>
        <p:txBody>
          <a:bodyPr wrap="square" lIns="0" tIns="0" rIns="0" bIns="0" rtlCol="0" anchor="ctr"/>
          <a:lstStyle/>
          <a:p>
            <a:pPr marL="0" indent="0">
              <a:buNone/>
            </a:pPr>
            <a:r>
              <a:rPr lang="en-US" sz="1600" dirty="0">
                <a:solidFill>
                  <a:schemeClr val="tx1"/>
                </a:solidFill>
              </a:rPr>
              <a:t>Link React build to EON-51, INS-NGOPV via data config</a:t>
            </a:r>
            <a:endParaRPr lang="en-US" sz="1600" dirty="0"/>
          </a:p>
        </p:txBody>
      </p:sp>
      <p:sp>
        <p:nvSpPr>
          <p:cNvPr id="15" name="Text 13"/>
          <p:cNvSpPr txBox="1"/>
          <p:nvPr/>
        </p:nvSpPr>
        <p:spPr>
          <a:xfrm>
            <a:off x="457200" y="3913632"/>
            <a:ext cx="365760" cy="457200"/>
          </a:xfrm>
          <a:prstGeom prst="rect">
            <a:avLst/>
          </a:prstGeom>
          <a:noFill/>
          <a:ln/>
        </p:spPr>
        <p:txBody>
          <a:bodyPr wrap="square" lIns="0" tIns="0" rIns="0" bIns="0" rtlCol="0" anchor="ctr"/>
          <a:lstStyle/>
          <a:p>
            <a:pPr marL="0" indent="0">
              <a:buNone/>
            </a:pPr>
            <a:r>
              <a:rPr lang="en-US" sz="1800" b="1" dirty="0">
                <a:solidFill>
                  <a:schemeClr val="accent1"/>
                </a:solidFill>
              </a:rPr>
              <a:t>5.</a:t>
            </a:r>
            <a:endParaRPr lang="en-US" sz="1800" dirty="0"/>
          </a:p>
        </p:txBody>
      </p:sp>
      <p:sp>
        <p:nvSpPr>
          <p:cNvPr id="16" name="Text 14"/>
          <p:cNvSpPr txBox="1"/>
          <p:nvPr/>
        </p:nvSpPr>
        <p:spPr>
          <a:xfrm>
            <a:off x="868680" y="3913632"/>
            <a:ext cx="2286000" cy="457200"/>
          </a:xfrm>
          <a:prstGeom prst="rect">
            <a:avLst/>
          </a:prstGeom>
          <a:noFill/>
          <a:ln/>
        </p:spPr>
        <p:txBody>
          <a:bodyPr wrap="square" lIns="0" tIns="0" rIns="0" bIns="0" rtlCol="0" anchor="ctr"/>
          <a:lstStyle/>
          <a:p>
            <a:pPr marL="0" indent="0">
              <a:buNone/>
            </a:pPr>
            <a:r>
              <a:rPr lang="en-US" sz="1800" b="1" dirty="0">
                <a:solidFill>
                  <a:schemeClr val="tx2"/>
                </a:solidFill>
              </a:rPr>
              <a:t>Run servers</a:t>
            </a:r>
            <a:endParaRPr lang="en-US" sz="1800" dirty="0"/>
          </a:p>
        </p:txBody>
      </p:sp>
      <p:sp>
        <p:nvSpPr>
          <p:cNvPr id="17" name="Text 15"/>
          <p:cNvSpPr txBox="1"/>
          <p:nvPr/>
        </p:nvSpPr>
        <p:spPr>
          <a:xfrm>
            <a:off x="3200400" y="3913632"/>
            <a:ext cx="5486400" cy="457200"/>
          </a:xfrm>
          <a:prstGeom prst="rect">
            <a:avLst/>
          </a:prstGeom>
          <a:noFill/>
          <a:ln/>
        </p:spPr>
        <p:txBody>
          <a:bodyPr wrap="square" lIns="0" tIns="0" rIns="0" bIns="0" rtlCol="0" anchor="ctr"/>
          <a:lstStyle/>
          <a:p>
            <a:pPr marL="0" indent="0">
              <a:buNone/>
            </a:pPr>
            <a:r>
              <a:rPr lang="en-US" sz="1600" dirty="0">
                <a:solidFill>
                  <a:schemeClr val="tx1"/>
                </a:solidFill>
              </a:rPr>
              <a:t>Start Node and Python servers, then open the web client</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Technologies Used</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02920">
                <a:tc>
                  <a:txBody>
                    <a:bodyPr/>
                    <a:lstStyle/>
                    <a:p>
                      <a:pPr marL="0" indent="0">
                        <a:buNone/>
                      </a:pPr>
                      <a:r>
                        <a:rPr lang="en-US" sz="1600" b="1" dirty="0">
                          <a:solidFill>
                            <a:srgbClr val="FFFFFF"/>
                          </a:solidFill>
                        </a:rPr>
                        <a:t>Layer</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A"/>
                    </a:solidFill>
                  </a:tcPr>
                </a:tc>
                <a:tc>
                  <a:txBody>
                    <a:bodyPr/>
                    <a:lstStyle/>
                    <a:p>
                      <a:pPr marL="0" indent="0">
                        <a:buNone/>
                      </a:pPr>
                      <a:r>
                        <a:rPr lang="en-US" sz="1600" b="1" dirty="0">
                          <a:solidFill>
                            <a:srgbClr val="FFFFFF"/>
                          </a:solidFill>
                        </a:rPr>
                        <a:t>Technology</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buNone/>
                      </a:pPr>
                      <a:r>
                        <a:rPr lang="en-US" sz="1600" b="1" dirty="0">
                          <a:solidFill>
                            <a:srgbClr val="1A2433"/>
                          </a:solidFill>
                        </a:rPr>
                        <a:t>Frontend</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tc>
                  <a:txBody>
                    <a:bodyPr/>
                    <a:lstStyle/>
                    <a:p>
                      <a:pPr marL="0" indent="0">
                        <a:buNone/>
                      </a:pPr>
                      <a:r>
                        <a:rPr lang="en-US" sz="1600" dirty="0">
                          <a:solidFill>
                            <a:srgbClr val="1A2433"/>
                          </a:solidFill>
                        </a:rPr>
                        <a:t>React.js (build file)</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502920">
                <a:tc>
                  <a:txBody>
                    <a:bodyPr/>
                    <a:lstStyle/>
                    <a:p>
                      <a:pPr marL="0" indent="0">
                        <a:buNone/>
                      </a:pPr>
                      <a:r>
                        <a:rPr lang="en-US" sz="1600" b="1" dirty="0">
                          <a:solidFill>
                            <a:srgbClr val="1A2433"/>
                          </a:solidFill>
                        </a:rPr>
                        <a:t>Backend</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tc>
                  <a:txBody>
                    <a:bodyPr/>
                    <a:lstStyle/>
                    <a:p>
                      <a:pPr marL="0" indent="0">
                        <a:buNone/>
                      </a:pPr>
                      <a:r>
                        <a:rPr lang="en-US" sz="1600" dirty="0">
                          <a:solidFill>
                            <a:srgbClr val="1A2433"/>
                          </a:solidFill>
                        </a:rPr>
                        <a:t>Node.js, Python</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extLst>
                  <a:ext uri="{0D108BD9-81ED-4DB2-BD59-A6C34878D82A}">
                    <a16:rowId xmlns:a16="http://schemas.microsoft.com/office/drawing/2014/main" val="10002"/>
                  </a:ext>
                </a:extLst>
              </a:tr>
              <a:tr h="502920">
                <a:tc>
                  <a:txBody>
                    <a:bodyPr/>
                    <a:lstStyle/>
                    <a:p>
                      <a:pPr marL="0" indent="0">
                        <a:buNone/>
                      </a:pPr>
                      <a:r>
                        <a:rPr lang="en-US" sz="1600" b="1" dirty="0">
                          <a:solidFill>
                            <a:srgbClr val="1A2433"/>
                          </a:solidFill>
                        </a:rPr>
                        <a:t>Database</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tc>
                  <a:txBody>
                    <a:bodyPr/>
                    <a:lstStyle/>
                    <a:p>
                      <a:pPr marL="0" indent="0">
                        <a:buNone/>
                      </a:pPr>
                      <a:r>
                        <a:rPr lang="en-US" sz="1600" dirty="0">
                          <a:solidFill>
                            <a:srgbClr val="1A2433"/>
                          </a:solidFill>
                        </a:rPr>
                        <a:t>PostgreSQL (pgAdmin)</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502920">
                <a:tc>
                  <a:txBody>
                    <a:bodyPr/>
                    <a:lstStyle/>
                    <a:p>
                      <a:pPr marL="0" indent="0">
                        <a:buNone/>
                      </a:pPr>
                      <a:r>
                        <a:rPr lang="en-US" sz="1600" b="1" dirty="0">
                          <a:solidFill>
                            <a:srgbClr val="1A2433"/>
                          </a:solidFill>
                        </a:rPr>
                        <a:t>Tools</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tc>
                  <a:txBody>
                    <a:bodyPr/>
                    <a:lstStyle/>
                    <a:p>
                      <a:pPr marL="0" indent="0">
                        <a:buNone/>
                      </a:pPr>
                      <a:r>
                        <a:rPr lang="en-US" sz="1600" dirty="0">
                          <a:solidFill>
                            <a:srgbClr val="1A2433"/>
                          </a:solidFill>
                        </a:rPr>
                        <a:t>VS Code, Python 3.12</a:t>
                      </a:r>
                      <a:endParaRPr lang="en-US" sz="1600" dirty="0"/>
                    </a:p>
                  </a:txBody>
                  <a:tcPr marL="137160" marR="13716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7"/>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457200" y="4023360"/>
            <a:ext cx="8229600" cy="365760"/>
          </a:xfrm>
          <a:prstGeom prst="rect">
            <a:avLst/>
          </a:prstGeom>
          <a:noFill/>
          <a:ln/>
        </p:spPr>
        <p:txBody>
          <a:bodyPr wrap="square" lIns="0" tIns="0" rIns="0" bIns="0" rtlCol="0" anchor="t"/>
          <a:lstStyle/>
          <a:p>
            <a:pPr marL="0" indent="0">
              <a:buNone/>
            </a:pPr>
            <a:r>
              <a:rPr lang="en-US" sz="1600" b="1" dirty="0">
                <a:solidFill>
                  <a:srgbClr val="1C7293"/>
                </a:solidFill>
              </a:rPr>
              <a:t>Core concepts: </a:t>
            </a:r>
            <a:r>
              <a:rPr lang="en-US" sz="1600" dirty="0">
                <a:solidFill>
                  <a:schemeClr val="tx1"/>
                </a:solidFill>
              </a:rPr>
              <a:t>RBAC, defect logs, periodic maintenance, advanced search</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MROT gives one centralized platform for repair, training, operation and maintenance.</a:t>
            </a:r>
            <a:endParaRPr lang="en-US" sz="1800" dirty="0"/>
          </a:p>
          <a:p>
            <a:pPr marL="342900" indent="-342900">
              <a:spcAft>
                <a:spcPts val="800"/>
              </a:spcAft>
              <a:buSzPct val="100000"/>
              <a:buChar char="•"/>
            </a:pPr>
            <a:r>
              <a:rPr lang="en-US" sz="1800" dirty="0">
                <a:solidFill>
                  <a:schemeClr val="tx1"/>
                </a:solidFill>
              </a:rPr>
              <a:t>Role-based access gives each user the right tools and level of control.</a:t>
            </a:r>
            <a:endParaRPr lang="en-US" sz="1800" dirty="0"/>
          </a:p>
          <a:p>
            <a:pPr marL="342900" indent="-342900">
              <a:spcAft>
                <a:spcPts val="800"/>
              </a:spcAft>
              <a:buSzPct val="100000"/>
              <a:buChar char="•"/>
            </a:pPr>
            <a:r>
              <a:rPr lang="en-US" sz="1800" dirty="0">
                <a:solidFill>
                  <a:schemeClr val="tx1"/>
                </a:solidFill>
              </a:rPr>
              <a:t>Defect logs, periodic tasks, spares and documents in one database improve traceability.</a:t>
            </a:r>
            <a:endParaRPr lang="en-US" sz="1800" dirty="0"/>
          </a:p>
          <a:p>
            <a:pPr marL="342900" indent="-342900">
              <a:spcAft>
                <a:spcPts val="800"/>
              </a:spcAft>
              <a:buSzPct val="100000"/>
              <a:buChar char="•"/>
            </a:pPr>
            <a:r>
              <a:rPr lang="en-US" sz="1800" dirty="0">
                <a:solidFill>
                  <a:schemeClr val="tx1"/>
                </a:solidFill>
              </a:rPr>
              <a:t>Overall, it speeds up troubleshooting, simplifies maintenance and keeps crews trained.</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8046720" cy="1005840"/>
          </a:xfrm>
          <a:prstGeom prst="rect">
            <a:avLst/>
          </a:prstGeom>
          <a:noFill/>
          <a:ln/>
        </p:spPr>
        <p:txBody>
          <a:bodyPr wrap="square" lIns="0" tIns="0" rIns="0" bIns="0" rtlCol="0" anchor="ctr"/>
          <a:lstStyle/>
          <a:p>
            <a:pPr marL="0" indent="0" algn="l">
              <a:buNone/>
            </a:pPr>
            <a:r>
              <a:rPr lang="en-US" sz="5400" b="1" dirty="0">
                <a:solidFill>
                  <a:schemeClr val="tx2"/>
                </a:solidFill>
              </a:rPr>
              <a:t>Marketing Portal</a:t>
            </a:r>
            <a:endParaRPr lang="en-US" sz="5400" dirty="0"/>
          </a:p>
        </p:txBody>
      </p:sp>
      <p:sp>
        <p:nvSpPr>
          <p:cNvPr id="3" name="Text 1"/>
          <p:cNvSpPr txBox="1"/>
          <p:nvPr/>
        </p:nvSpPr>
        <p:spPr>
          <a:xfrm>
            <a:off x="548640" y="2423160"/>
            <a:ext cx="8046720" cy="457200"/>
          </a:xfrm>
          <a:prstGeom prst="rect">
            <a:avLst/>
          </a:prstGeom>
          <a:noFill/>
          <a:ln/>
        </p:spPr>
        <p:txBody>
          <a:bodyPr wrap="square" lIns="0" tIns="0" rIns="0" bIns="0" rtlCol="0" anchor="t"/>
          <a:lstStyle/>
          <a:p>
            <a:pPr marL="0" indent="0">
              <a:buNone/>
            </a:pPr>
            <a:r>
              <a:rPr lang="en-US" sz="2400" dirty="0">
                <a:solidFill>
                  <a:schemeClr val="accent1"/>
                </a:solidFill>
              </a:rPr>
              <a:t>Lead management from enquiry to order received</a:t>
            </a:r>
            <a:endParaRPr lang="en-US" sz="2400" dirty="0"/>
          </a:p>
        </p:txBody>
      </p:sp>
      <p:sp>
        <p:nvSpPr>
          <p:cNvPr id="4" name="Text 2"/>
          <p:cNvSpPr txBox="1"/>
          <p:nvPr/>
        </p:nvSpPr>
        <p:spPr>
          <a:xfrm>
            <a:off x="548640" y="3108960"/>
            <a:ext cx="8046720" cy="365760"/>
          </a:xfrm>
          <a:prstGeom prst="rect">
            <a:avLst/>
          </a:prstGeom>
          <a:noFill/>
          <a:ln/>
        </p:spPr>
        <p:txBody>
          <a:bodyPr wrap="square" lIns="0" tIns="0" rIns="0" bIns="0" rtlCol="0" anchor="t"/>
          <a:lstStyle/>
          <a:p>
            <a:pPr marL="0" indent="0">
              <a:buNone/>
            </a:pPr>
            <a:r>
              <a:rPr lang="en-US" sz="1600" dirty="0">
                <a:solidFill>
                  <a:schemeClr val="tx1"/>
                </a:solidFill>
              </a:rPr>
              <a:t>Project Summary</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Project Overview</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Web-based portal to manage marketing leads through six stages, from lead enquiry to order received.</a:t>
            </a:r>
            <a:endParaRPr lang="en-US" sz="1800" dirty="0"/>
          </a:p>
          <a:p>
            <a:pPr marL="342900" indent="-342900">
              <a:spcAft>
                <a:spcPts val="800"/>
              </a:spcAft>
              <a:buSzPct val="100000"/>
              <a:buChar char="•"/>
            </a:pPr>
            <a:r>
              <a:rPr lang="en-US" sz="1800" dirty="0">
                <a:solidFill>
                  <a:schemeClr val="tx1"/>
                </a:solidFill>
              </a:rPr>
              <a:t>Every lead is stored as one row in the leads table, identified by lead_reference_no.</a:t>
            </a:r>
            <a:endParaRPr lang="en-US" sz="1800" dirty="0"/>
          </a:p>
          <a:p>
            <a:pPr marL="342900" indent="-342900">
              <a:spcAft>
                <a:spcPts val="800"/>
              </a:spcAft>
              <a:buSzPct val="100000"/>
              <a:buChar char="•"/>
            </a:pPr>
            <a:r>
              <a:rPr lang="en-US" sz="1800" dirty="0">
                <a:solidFill>
                  <a:schemeClr val="tx1"/>
                </a:solidFill>
              </a:rPr>
              <a:t>6 forms for data entry and 8 dashboards for marketing analysis.</a:t>
            </a:r>
            <a:endParaRPr lang="en-US" sz="1800" dirty="0"/>
          </a:p>
          <a:p>
            <a:pPr marL="342900" indent="-342900">
              <a:spcAft>
                <a:spcPts val="800"/>
              </a:spcAft>
              <a:buSzPct val="100000"/>
              <a:buChar char="•"/>
            </a:pPr>
            <a:r>
              <a:rPr lang="en-US" sz="1800" dirty="0">
                <a:solidFill>
                  <a:schemeClr val="tx1"/>
                </a:solidFill>
              </a:rPr>
              <a:t>Every module has three tabs: form submission, view / table and bulk upload.</a:t>
            </a:r>
            <a:endParaRPr lang="en-US" sz="1800" dirty="0"/>
          </a:p>
          <a:p>
            <a:pPr marL="342900" indent="-342900">
              <a:spcAft>
                <a:spcPts val="800"/>
              </a:spcAft>
              <a:buSzPct val="100000"/>
              <a:buChar char="•"/>
            </a:pPr>
            <a:r>
              <a:rPr lang="en-US" sz="1800" dirty="0">
                <a:solidFill>
                  <a:schemeClr val="tx1"/>
                </a:solidFill>
              </a:rPr>
              <a:t>Three actors use the portal: Admin, Executive and Operator.</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Text 1"/>
          <p:cNvSpPr txBox="1"/>
          <p:nvPr/>
        </p:nvSpPr>
        <p:spPr>
          <a:xfrm>
            <a:off x="457200" y="1280160"/>
            <a:ext cx="8229600" cy="914400"/>
          </a:xfrm>
          <a:prstGeom prst="rect">
            <a:avLst/>
          </a:prstGeom>
          <a:noFill/>
          <a:ln/>
        </p:spPr>
        <p:txBody>
          <a:bodyPr wrap="square" lIns="0" tIns="0" rIns="0" bIns="0" rtlCol="0" anchor="t"/>
          <a:lstStyle/>
          <a:p>
            <a:pPr marL="0" indent="0">
              <a:buNone/>
            </a:pPr>
            <a:r>
              <a:rPr lang="en-US" sz="1800" dirty="0">
                <a:solidFill>
                  <a:schemeClr val="tx1"/>
                </a:solidFill>
              </a:rPr>
              <a:t>Marketing teams handle many leads at once, each moving through quotations, tenders, bids and orders, with many details at every stage.</a:t>
            </a:r>
            <a:endParaRPr lang="en-US" sz="1800" dirty="0"/>
          </a:p>
        </p:txBody>
      </p:sp>
      <p:sp>
        <p:nvSpPr>
          <p:cNvPr id="4" name="Text 2"/>
          <p:cNvSpPr txBox="1"/>
          <p:nvPr/>
        </p:nvSpPr>
        <p:spPr>
          <a:xfrm>
            <a:off x="457200" y="2377440"/>
            <a:ext cx="8229600" cy="20116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Lead details are scattered and hard to trace</a:t>
            </a:r>
            <a:endParaRPr lang="en-US" sz="1800" dirty="0"/>
          </a:p>
          <a:p>
            <a:pPr marL="342900" indent="-342900">
              <a:spcAft>
                <a:spcPts val="800"/>
              </a:spcAft>
              <a:buSzPct val="100000"/>
              <a:buChar char="•"/>
            </a:pPr>
            <a:r>
              <a:rPr lang="en-US" sz="1800" dirty="0">
                <a:solidFill>
                  <a:schemeClr val="tx1"/>
                </a:solidFill>
              </a:rPr>
              <a:t>The current stage of a lead is not always clear</a:t>
            </a:r>
            <a:endParaRPr lang="en-US" sz="1800" dirty="0"/>
          </a:p>
          <a:p>
            <a:pPr marL="342900" indent="-342900">
              <a:spcAft>
                <a:spcPts val="800"/>
              </a:spcAft>
              <a:buSzPct val="100000"/>
              <a:buChar char="•"/>
            </a:pPr>
            <a:r>
              <a:rPr lang="en-US" sz="1800" dirty="0">
                <a:solidFill>
                  <a:schemeClr val="tx1"/>
                </a:solidFill>
              </a:rPr>
              <a:t>Updating existing records is error-prone</a:t>
            </a:r>
            <a:endParaRPr lang="en-US" sz="1800" dirty="0"/>
          </a:p>
          <a:p>
            <a:pPr marL="342900" indent="-342900">
              <a:spcAft>
                <a:spcPts val="800"/>
              </a:spcAft>
              <a:buSzPct val="100000"/>
              <a:buChar char="•"/>
            </a:pPr>
            <a:r>
              <a:rPr lang="en-US" sz="1800" dirty="0">
                <a:solidFill>
                  <a:schemeClr val="tx1"/>
                </a:solidFill>
              </a:rPr>
              <a:t>Management lacks a single view of the pipeline</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Objectives</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Capture every lead and check whether it is valid</a:t>
            </a:r>
            <a:endParaRPr lang="en-US" sz="1800" dirty="0"/>
          </a:p>
          <a:p>
            <a:pPr marL="342900" indent="-342900">
              <a:spcAft>
                <a:spcPts val="800"/>
              </a:spcAft>
              <a:buSzPct val="100000"/>
              <a:buChar char="•"/>
            </a:pPr>
            <a:r>
              <a:rPr lang="en-US" sz="1800" dirty="0">
                <a:solidFill>
                  <a:schemeClr val="tx1"/>
                </a:solidFill>
              </a:rPr>
              <a:t>Track each lead through six defined stages</a:t>
            </a:r>
            <a:endParaRPr lang="en-US" sz="1800" dirty="0"/>
          </a:p>
          <a:p>
            <a:pPr marL="342900" indent="-342900">
              <a:spcAft>
                <a:spcPts val="800"/>
              </a:spcAft>
              <a:buSzPct val="100000"/>
              <a:buChar char="•"/>
            </a:pPr>
            <a:r>
              <a:rPr lang="en-US" sz="1800" dirty="0">
                <a:solidFill>
                  <a:schemeClr val="tx1"/>
                </a:solidFill>
              </a:rPr>
              <a:t>Keep stage history for every lead</a:t>
            </a:r>
            <a:endParaRPr lang="en-US" sz="1800" dirty="0"/>
          </a:p>
          <a:p>
            <a:pPr marL="342900" indent="-342900">
              <a:spcAft>
                <a:spcPts val="800"/>
              </a:spcAft>
              <a:buSzPct val="100000"/>
              <a:buChar char="•"/>
            </a:pPr>
            <a:r>
              <a:rPr lang="en-US" sz="1800" dirty="0">
                <a:solidFill>
                  <a:schemeClr val="tx1"/>
                </a:solidFill>
              </a:rPr>
              <a:t>Support form entry and bulk upload for fast data loading</a:t>
            </a:r>
            <a:endParaRPr lang="en-US" sz="1800" dirty="0"/>
          </a:p>
          <a:p>
            <a:pPr marL="342900" indent="-342900">
              <a:spcAft>
                <a:spcPts val="800"/>
              </a:spcAft>
              <a:buSzPct val="100000"/>
              <a:buChar char="•"/>
            </a:pPr>
            <a:r>
              <a:rPr lang="en-US" sz="1800" dirty="0">
                <a:solidFill>
                  <a:schemeClr val="tx1"/>
                </a:solidFill>
              </a:rPr>
              <a:t>Update records safely using a unique key</a:t>
            </a:r>
            <a:endParaRPr lang="en-US" sz="1800" dirty="0"/>
          </a:p>
          <a:p>
            <a:pPr marL="342900" indent="-342900">
              <a:spcAft>
                <a:spcPts val="800"/>
              </a:spcAft>
              <a:buSzPct val="100000"/>
              <a:buChar char="•"/>
            </a:pPr>
            <a:r>
              <a:rPr lang="en-US" sz="1800" dirty="0">
                <a:solidFill>
                  <a:schemeClr val="tx1"/>
                </a:solidFill>
              </a:rPr>
              <a:t>Give management dashboards for pipeline and analysis</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Lead Lifecycle (6 Stages)</a:t>
            </a:r>
            <a:endParaRPr lang="en-US" sz="3200" dirty="0"/>
          </a:p>
        </p:txBody>
      </p:sp>
      <p:sp>
        <p:nvSpPr>
          <p:cNvPr id="3" name="Shape 1"/>
          <p:cNvSpPr/>
          <p:nvPr/>
        </p:nvSpPr>
        <p:spPr>
          <a:xfrm>
            <a:off x="457200" y="1554480"/>
            <a:ext cx="1234440" cy="1005840"/>
          </a:xfrm>
          <a:prstGeom prst="rect">
            <a:avLst/>
          </a:prstGeom>
          <a:solidFill>
            <a:srgbClr val="FFFFFF"/>
          </a:solidFill>
          <a:ln w="19050">
            <a:solidFill>
              <a:srgbClr val="0B1F3A"/>
            </a:solidFill>
            <a:prstDash val="solid"/>
          </a:ln>
        </p:spPr>
      </p:sp>
      <p:sp>
        <p:nvSpPr>
          <p:cNvPr id="4" name="Text 2"/>
          <p:cNvSpPr txBox="1"/>
          <p:nvPr/>
        </p:nvSpPr>
        <p:spPr>
          <a:xfrm>
            <a:off x="502920"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1</a:t>
            </a:r>
            <a:endParaRPr lang="en-US" sz="1400" dirty="0"/>
          </a:p>
          <a:p>
            <a:pPr marL="0" indent="0" algn="ctr">
              <a:buNone/>
            </a:pPr>
            <a:r>
              <a:rPr lang="en-US" sz="1300" b="1" dirty="0">
                <a:solidFill>
                  <a:srgbClr val="0B1F3A"/>
                </a:solidFill>
              </a:rPr>
              <a:t>Lead Enquiry</a:t>
            </a:r>
            <a:endParaRPr lang="en-US" sz="1400" dirty="0"/>
          </a:p>
        </p:txBody>
      </p:sp>
      <p:sp>
        <p:nvSpPr>
          <p:cNvPr id="5" name="Shape 3"/>
          <p:cNvSpPr/>
          <p:nvPr/>
        </p:nvSpPr>
        <p:spPr>
          <a:xfrm>
            <a:off x="1691640" y="2057400"/>
            <a:ext cx="164592" cy="0"/>
          </a:xfrm>
          <a:prstGeom prst="line">
            <a:avLst/>
          </a:prstGeom>
          <a:noFill/>
          <a:ln w="25400">
            <a:solidFill>
              <a:srgbClr val="5B6B7F"/>
            </a:solidFill>
            <a:prstDash val="solid"/>
            <a:tailEnd type="triangle"/>
          </a:ln>
        </p:spPr>
      </p:sp>
      <p:sp>
        <p:nvSpPr>
          <p:cNvPr id="6" name="Shape 4"/>
          <p:cNvSpPr/>
          <p:nvPr/>
        </p:nvSpPr>
        <p:spPr>
          <a:xfrm>
            <a:off x="1856232" y="1554480"/>
            <a:ext cx="1234440" cy="1005840"/>
          </a:xfrm>
          <a:prstGeom prst="rect">
            <a:avLst/>
          </a:prstGeom>
          <a:solidFill>
            <a:srgbClr val="FFFFFF"/>
          </a:solidFill>
          <a:ln w="19050">
            <a:solidFill>
              <a:srgbClr val="0B1F3A"/>
            </a:solidFill>
            <a:prstDash val="solid"/>
          </a:ln>
        </p:spPr>
      </p:sp>
      <p:sp>
        <p:nvSpPr>
          <p:cNvPr id="7" name="Text 5"/>
          <p:cNvSpPr txBox="1"/>
          <p:nvPr/>
        </p:nvSpPr>
        <p:spPr>
          <a:xfrm>
            <a:off x="1901952"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2</a:t>
            </a:r>
            <a:endParaRPr lang="en-US" sz="1400" dirty="0"/>
          </a:p>
          <a:p>
            <a:pPr marL="0" indent="0" algn="ctr">
              <a:buNone/>
            </a:pPr>
            <a:r>
              <a:rPr lang="en-US" sz="1300" b="1" dirty="0">
                <a:solidFill>
                  <a:srgbClr val="0B1F3A"/>
                </a:solidFill>
              </a:rPr>
              <a:t>Budgetary Quotation</a:t>
            </a:r>
            <a:endParaRPr lang="en-US" sz="1400" dirty="0"/>
          </a:p>
        </p:txBody>
      </p:sp>
      <p:sp>
        <p:nvSpPr>
          <p:cNvPr id="8" name="Shape 6"/>
          <p:cNvSpPr/>
          <p:nvPr/>
        </p:nvSpPr>
        <p:spPr>
          <a:xfrm>
            <a:off x="3090672" y="2057400"/>
            <a:ext cx="164592" cy="0"/>
          </a:xfrm>
          <a:prstGeom prst="line">
            <a:avLst/>
          </a:prstGeom>
          <a:noFill/>
          <a:ln w="25400">
            <a:solidFill>
              <a:srgbClr val="5B6B7F"/>
            </a:solidFill>
            <a:prstDash val="solid"/>
            <a:tailEnd type="triangle"/>
          </a:ln>
        </p:spPr>
      </p:sp>
      <p:sp>
        <p:nvSpPr>
          <p:cNvPr id="9" name="Shape 7"/>
          <p:cNvSpPr/>
          <p:nvPr/>
        </p:nvSpPr>
        <p:spPr>
          <a:xfrm>
            <a:off x="3255264" y="1554480"/>
            <a:ext cx="1234440" cy="1005840"/>
          </a:xfrm>
          <a:prstGeom prst="rect">
            <a:avLst/>
          </a:prstGeom>
          <a:solidFill>
            <a:srgbClr val="FFFFFF"/>
          </a:solidFill>
          <a:ln w="19050">
            <a:solidFill>
              <a:srgbClr val="0B1F3A"/>
            </a:solidFill>
            <a:prstDash val="solid"/>
          </a:ln>
        </p:spPr>
      </p:sp>
      <p:sp>
        <p:nvSpPr>
          <p:cNvPr id="10" name="Text 8"/>
          <p:cNvSpPr txBox="1"/>
          <p:nvPr/>
        </p:nvSpPr>
        <p:spPr>
          <a:xfrm>
            <a:off x="3300984"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3</a:t>
            </a:r>
            <a:endParaRPr lang="en-US" sz="1400" dirty="0"/>
          </a:p>
          <a:p>
            <a:pPr marL="0" indent="0" algn="ctr">
              <a:buNone/>
            </a:pPr>
            <a:r>
              <a:rPr lang="en-US" sz="1300" b="1" dirty="0">
                <a:solidFill>
                  <a:srgbClr val="0B1F3A"/>
                </a:solidFill>
              </a:rPr>
              <a:t>Tender</a:t>
            </a:r>
            <a:endParaRPr lang="en-US" sz="1400" dirty="0"/>
          </a:p>
        </p:txBody>
      </p:sp>
      <p:sp>
        <p:nvSpPr>
          <p:cNvPr id="11" name="Shape 9"/>
          <p:cNvSpPr/>
          <p:nvPr/>
        </p:nvSpPr>
        <p:spPr>
          <a:xfrm>
            <a:off x="4489704" y="2057400"/>
            <a:ext cx="164592" cy="0"/>
          </a:xfrm>
          <a:prstGeom prst="line">
            <a:avLst/>
          </a:prstGeom>
          <a:noFill/>
          <a:ln w="25400">
            <a:solidFill>
              <a:srgbClr val="5B6B7F"/>
            </a:solidFill>
            <a:prstDash val="solid"/>
            <a:tailEnd type="triangle"/>
          </a:ln>
        </p:spPr>
      </p:sp>
      <p:sp>
        <p:nvSpPr>
          <p:cNvPr id="12" name="Shape 10"/>
          <p:cNvSpPr/>
          <p:nvPr/>
        </p:nvSpPr>
        <p:spPr>
          <a:xfrm>
            <a:off x="4654296" y="1554480"/>
            <a:ext cx="1234440" cy="1005840"/>
          </a:xfrm>
          <a:prstGeom prst="rect">
            <a:avLst/>
          </a:prstGeom>
          <a:solidFill>
            <a:srgbClr val="FFFFFF"/>
          </a:solidFill>
          <a:ln w="19050">
            <a:solidFill>
              <a:srgbClr val="0B1F3A"/>
            </a:solidFill>
            <a:prstDash val="solid"/>
          </a:ln>
        </p:spPr>
      </p:sp>
      <p:sp>
        <p:nvSpPr>
          <p:cNvPr id="13" name="Text 11"/>
          <p:cNvSpPr txBox="1"/>
          <p:nvPr/>
        </p:nvSpPr>
        <p:spPr>
          <a:xfrm>
            <a:off x="4700016"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4</a:t>
            </a:r>
            <a:endParaRPr lang="en-US" sz="1400" dirty="0"/>
          </a:p>
          <a:p>
            <a:pPr marL="0" indent="0" algn="ctr">
              <a:buNone/>
            </a:pPr>
            <a:r>
              <a:rPr lang="en-US" sz="1300" b="1" dirty="0">
                <a:solidFill>
                  <a:srgbClr val="0B1F3A"/>
                </a:solidFill>
              </a:rPr>
              <a:t>Bidding</a:t>
            </a:r>
            <a:endParaRPr lang="en-US" sz="1400" dirty="0"/>
          </a:p>
        </p:txBody>
      </p:sp>
      <p:sp>
        <p:nvSpPr>
          <p:cNvPr id="14" name="Shape 12"/>
          <p:cNvSpPr/>
          <p:nvPr/>
        </p:nvSpPr>
        <p:spPr>
          <a:xfrm>
            <a:off x="5888736" y="2057400"/>
            <a:ext cx="164592" cy="0"/>
          </a:xfrm>
          <a:prstGeom prst="line">
            <a:avLst/>
          </a:prstGeom>
          <a:noFill/>
          <a:ln w="25400">
            <a:solidFill>
              <a:srgbClr val="5B6B7F"/>
            </a:solidFill>
            <a:prstDash val="solid"/>
            <a:tailEnd type="triangle"/>
          </a:ln>
        </p:spPr>
      </p:sp>
      <p:sp>
        <p:nvSpPr>
          <p:cNvPr id="15" name="Shape 13"/>
          <p:cNvSpPr/>
          <p:nvPr/>
        </p:nvSpPr>
        <p:spPr>
          <a:xfrm>
            <a:off x="6053328" y="1554480"/>
            <a:ext cx="1234440" cy="1005840"/>
          </a:xfrm>
          <a:prstGeom prst="rect">
            <a:avLst/>
          </a:prstGeom>
          <a:solidFill>
            <a:srgbClr val="FFFFFF"/>
          </a:solidFill>
          <a:ln w="19050">
            <a:solidFill>
              <a:srgbClr val="0B1F3A"/>
            </a:solidFill>
            <a:prstDash val="solid"/>
          </a:ln>
        </p:spPr>
      </p:sp>
      <p:sp>
        <p:nvSpPr>
          <p:cNvPr id="16" name="Text 14"/>
          <p:cNvSpPr txBox="1"/>
          <p:nvPr/>
        </p:nvSpPr>
        <p:spPr>
          <a:xfrm>
            <a:off x="6099048"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5</a:t>
            </a:r>
            <a:endParaRPr lang="en-US" sz="1400" dirty="0"/>
          </a:p>
          <a:p>
            <a:pPr marL="0" indent="0" algn="ctr">
              <a:buNone/>
            </a:pPr>
            <a:r>
              <a:rPr lang="en-US" sz="1300" b="1" dirty="0">
                <a:solidFill>
                  <a:srgbClr val="0B1F3A"/>
                </a:solidFill>
              </a:rPr>
              <a:t>Order Acquisition</a:t>
            </a:r>
            <a:endParaRPr lang="en-US" sz="1400" dirty="0"/>
          </a:p>
        </p:txBody>
      </p:sp>
      <p:sp>
        <p:nvSpPr>
          <p:cNvPr id="17" name="Shape 15"/>
          <p:cNvSpPr/>
          <p:nvPr/>
        </p:nvSpPr>
        <p:spPr>
          <a:xfrm>
            <a:off x="7287768" y="2057400"/>
            <a:ext cx="164592" cy="0"/>
          </a:xfrm>
          <a:prstGeom prst="line">
            <a:avLst/>
          </a:prstGeom>
          <a:noFill/>
          <a:ln w="25400">
            <a:solidFill>
              <a:srgbClr val="5B6B7F"/>
            </a:solidFill>
            <a:prstDash val="solid"/>
            <a:tailEnd type="triangle"/>
          </a:ln>
        </p:spPr>
      </p:sp>
      <p:sp>
        <p:nvSpPr>
          <p:cNvPr id="18" name="Shape 16"/>
          <p:cNvSpPr/>
          <p:nvPr/>
        </p:nvSpPr>
        <p:spPr>
          <a:xfrm>
            <a:off x="7452360" y="1554480"/>
            <a:ext cx="1234440" cy="1005840"/>
          </a:xfrm>
          <a:prstGeom prst="rect">
            <a:avLst/>
          </a:prstGeom>
          <a:solidFill>
            <a:srgbClr val="FFFFFF"/>
          </a:solidFill>
          <a:ln w="19050">
            <a:solidFill>
              <a:srgbClr val="0B1F3A"/>
            </a:solidFill>
            <a:prstDash val="solid"/>
          </a:ln>
        </p:spPr>
      </p:sp>
      <p:sp>
        <p:nvSpPr>
          <p:cNvPr id="19" name="Text 17"/>
          <p:cNvSpPr txBox="1"/>
          <p:nvPr/>
        </p:nvSpPr>
        <p:spPr>
          <a:xfrm>
            <a:off x="7498080" y="1554480"/>
            <a:ext cx="1143000" cy="1005840"/>
          </a:xfrm>
          <a:prstGeom prst="rect">
            <a:avLst/>
          </a:prstGeom>
          <a:noFill/>
          <a:ln/>
        </p:spPr>
        <p:txBody>
          <a:bodyPr wrap="square" lIns="0" tIns="0" rIns="0" bIns="0" rtlCol="0" anchor="ctr"/>
          <a:lstStyle/>
          <a:p>
            <a:pPr marL="0" indent="0" algn="ctr">
              <a:buNone/>
            </a:pPr>
            <a:r>
              <a:rPr lang="en-US" sz="1400" b="1" dirty="0">
                <a:solidFill>
                  <a:srgbClr val="1C7293"/>
                </a:solidFill>
              </a:rPr>
              <a:t>6</a:t>
            </a:r>
            <a:endParaRPr lang="en-US" sz="1400" dirty="0"/>
          </a:p>
          <a:p>
            <a:pPr marL="0" indent="0" algn="ctr">
              <a:buNone/>
            </a:pPr>
            <a:r>
              <a:rPr lang="en-US" sz="1300" b="1" dirty="0">
                <a:solidFill>
                  <a:srgbClr val="0B1F3A"/>
                </a:solidFill>
              </a:rPr>
              <a:t>Order Received</a:t>
            </a:r>
            <a:endParaRPr lang="en-US" sz="1400" dirty="0"/>
          </a:p>
        </p:txBody>
      </p:sp>
      <p:sp>
        <p:nvSpPr>
          <p:cNvPr id="20" name="Text 18"/>
          <p:cNvSpPr txBox="1"/>
          <p:nvPr/>
        </p:nvSpPr>
        <p:spPr>
          <a:xfrm>
            <a:off x="457200" y="2926080"/>
            <a:ext cx="822960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Start with a new lead: capture the enquiry and lead information</a:t>
            </a:r>
            <a:endParaRPr lang="en-US" sz="1600" dirty="0"/>
          </a:p>
          <a:p>
            <a:pPr marL="342900" indent="-342900">
              <a:spcAft>
                <a:spcPts val="800"/>
              </a:spcAft>
              <a:buSzPct val="100000"/>
              <a:buChar char="•"/>
            </a:pPr>
            <a:r>
              <a:rPr lang="en-US" sz="1600" dirty="0">
                <a:solidFill>
                  <a:schemeClr val="tx1"/>
                </a:solidFill>
              </a:rPr>
              <a:t>Check: is the lead valid?</a:t>
            </a:r>
            <a:endParaRPr lang="en-US" sz="1600" dirty="0"/>
          </a:p>
          <a:p>
            <a:pPr marL="342900" indent="-342900">
              <a:spcAft>
                <a:spcPts val="800"/>
              </a:spcAft>
              <a:buSzPct val="100000"/>
              <a:buChar char="•"/>
            </a:pPr>
            <a:r>
              <a:rPr lang="en-US" sz="1600" dirty="0">
                <a:solidFill>
                  <a:schemeClr val="tx1"/>
                </a:solidFill>
              </a:rPr>
              <a:t>If valid, prepare a price estimate as a budgetary quotation</a:t>
            </a:r>
            <a:endParaRPr lang="en-US" sz="1600" dirty="0"/>
          </a:p>
          <a:p>
            <a:pPr marL="342900" indent="-342900">
              <a:spcAft>
                <a:spcPts val="800"/>
              </a:spcAft>
              <a:buSzPct val="100000"/>
              <a:buChar char="•"/>
            </a:pPr>
            <a:r>
              <a:rPr lang="en-US" sz="1600" dirty="0">
                <a:solidFill>
                  <a:schemeClr val="tx1"/>
                </a:solidFill>
              </a:rPr>
              <a:t>Then continue through tender, bidding, order acquisition and order received</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Module Structure</a:t>
            </a:r>
            <a:endParaRPr lang="en-US" sz="3200" dirty="0"/>
          </a:p>
        </p:txBody>
      </p:sp>
      <p:sp>
        <p:nvSpPr>
          <p:cNvPr id="3" name="Text 1"/>
          <p:cNvSpPr txBox="1"/>
          <p:nvPr/>
        </p:nvSpPr>
        <p:spPr>
          <a:xfrm>
            <a:off x="457200" y="1280160"/>
            <a:ext cx="3840480" cy="365760"/>
          </a:xfrm>
          <a:prstGeom prst="rect">
            <a:avLst/>
          </a:prstGeom>
          <a:noFill/>
          <a:ln/>
        </p:spPr>
        <p:txBody>
          <a:bodyPr wrap="square" lIns="0" tIns="0" rIns="0" bIns="0" rtlCol="0" anchor="t"/>
          <a:lstStyle/>
          <a:p>
            <a:pPr marL="0" indent="0">
              <a:buNone/>
            </a:pPr>
            <a:r>
              <a:rPr lang="en-US" sz="2000" b="1" dirty="0">
                <a:solidFill>
                  <a:schemeClr val="tx2"/>
                </a:solidFill>
              </a:rPr>
              <a:t>Every module has 3 tabs</a:t>
            </a:r>
            <a:endParaRPr lang="en-US" sz="2000" dirty="0"/>
          </a:p>
        </p:txBody>
      </p:sp>
      <p:sp>
        <p:nvSpPr>
          <p:cNvPr id="4" name="Text 2"/>
          <p:cNvSpPr txBox="1"/>
          <p:nvPr/>
        </p:nvSpPr>
        <p:spPr>
          <a:xfrm>
            <a:off x="457200" y="1783080"/>
            <a:ext cx="3840480" cy="13716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Form submission</a:t>
            </a:r>
            <a:endParaRPr lang="en-US" sz="1800" dirty="0"/>
          </a:p>
          <a:p>
            <a:pPr marL="342900" indent="-342900">
              <a:spcAft>
                <a:spcPts val="800"/>
              </a:spcAft>
              <a:buSzPct val="100000"/>
              <a:buChar char="•"/>
            </a:pPr>
            <a:r>
              <a:rPr lang="en-US" sz="1800" dirty="0">
                <a:solidFill>
                  <a:schemeClr val="tx1"/>
                </a:solidFill>
              </a:rPr>
              <a:t>View / table</a:t>
            </a:r>
            <a:endParaRPr lang="en-US" sz="1800" dirty="0"/>
          </a:p>
          <a:p>
            <a:pPr marL="342900" indent="-342900">
              <a:spcAft>
                <a:spcPts val="800"/>
              </a:spcAft>
              <a:buSzPct val="100000"/>
              <a:buChar char="•"/>
            </a:pPr>
            <a:r>
              <a:rPr lang="en-US" sz="1800" dirty="0">
                <a:solidFill>
                  <a:schemeClr val="tx1"/>
                </a:solidFill>
              </a:rPr>
              <a:t>Bulk upload</a:t>
            </a:r>
            <a:endParaRPr lang="en-US" sz="1800" dirty="0"/>
          </a:p>
        </p:txBody>
      </p:sp>
      <p:sp>
        <p:nvSpPr>
          <p:cNvPr id="5" name="Text 3"/>
          <p:cNvSpPr txBox="1"/>
          <p:nvPr/>
        </p:nvSpPr>
        <p:spPr>
          <a:xfrm>
            <a:off x="4846320" y="1280160"/>
            <a:ext cx="3840480" cy="365760"/>
          </a:xfrm>
          <a:prstGeom prst="rect">
            <a:avLst/>
          </a:prstGeom>
          <a:noFill/>
          <a:ln/>
        </p:spPr>
        <p:txBody>
          <a:bodyPr wrap="square" lIns="0" tIns="0" rIns="0" bIns="0" rtlCol="0" anchor="t"/>
          <a:lstStyle/>
          <a:p>
            <a:pPr marL="0" indent="0">
              <a:buNone/>
            </a:pPr>
            <a:r>
              <a:rPr lang="en-US" sz="2000" b="1" dirty="0">
                <a:solidFill>
                  <a:schemeClr val="tx2"/>
                </a:solidFill>
              </a:rPr>
              <a:t>Inside form submission</a:t>
            </a:r>
            <a:endParaRPr lang="en-US" sz="2000" dirty="0"/>
          </a:p>
        </p:txBody>
      </p:sp>
      <p:sp>
        <p:nvSpPr>
          <p:cNvPr id="6" name="Text 4"/>
          <p:cNvSpPr txBox="1"/>
          <p:nvPr/>
        </p:nvSpPr>
        <p:spPr>
          <a:xfrm>
            <a:off x="4846320" y="1783080"/>
            <a:ext cx="384048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Multiple sections, with 4 major ones</a:t>
            </a:r>
            <a:endParaRPr lang="en-US" sz="1800" dirty="0"/>
          </a:p>
          <a:p>
            <a:pPr marL="342900" indent="-342900">
              <a:spcAft>
                <a:spcPts val="800"/>
              </a:spcAft>
              <a:buSzPct val="100000"/>
              <a:buChar char="•"/>
            </a:pPr>
            <a:r>
              <a:rPr lang="en-US" sz="1800" dirty="0">
                <a:solidFill>
                  <a:schemeClr val="tx1"/>
                </a:solidFill>
              </a:rPr>
              <a:t>A unique key is used to update existing data</a:t>
            </a:r>
            <a:endParaRPr lang="en-US" sz="1800" dirty="0"/>
          </a:p>
          <a:p>
            <a:pPr marL="342900" indent="-342900">
              <a:spcAft>
                <a:spcPts val="800"/>
              </a:spcAft>
              <a:buSzPct val="100000"/>
              <a:buChar char="•"/>
            </a:pPr>
            <a:r>
              <a:rPr lang="en-US" sz="1800" dirty="0">
                <a:solidFill>
                  <a:schemeClr val="tx1"/>
                </a:solidFill>
              </a:rPr>
              <a:t>The first table uses the primary key (PK)</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Dashboards and Forms</a:t>
            </a:r>
            <a:endParaRPr lang="en-US" sz="3200" dirty="0"/>
          </a:p>
        </p:txBody>
      </p:sp>
      <p:sp>
        <p:nvSpPr>
          <p:cNvPr id="3" name="Text 1"/>
          <p:cNvSpPr txBox="1"/>
          <p:nvPr/>
        </p:nvSpPr>
        <p:spPr>
          <a:xfrm>
            <a:off x="457200" y="1280160"/>
            <a:ext cx="3840480" cy="365760"/>
          </a:xfrm>
          <a:prstGeom prst="rect">
            <a:avLst/>
          </a:prstGeom>
          <a:noFill/>
          <a:ln/>
        </p:spPr>
        <p:txBody>
          <a:bodyPr wrap="square" lIns="0" tIns="0" rIns="0" bIns="0" rtlCol="0" anchor="t"/>
          <a:lstStyle/>
          <a:p>
            <a:pPr marL="0" indent="0">
              <a:buNone/>
            </a:pPr>
            <a:r>
              <a:rPr lang="en-US" sz="2000" b="1" dirty="0">
                <a:solidFill>
                  <a:schemeClr val="tx2"/>
                </a:solidFill>
              </a:rPr>
              <a:t>8 Dashboards</a:t>
            </a:r>
            <a:endParaRPr lang="en-US" sz="2000" dirty="0"/>
          </a:p>
        </p:txBody>
      </p:sp>
      <p:sp>
        <p:nvSpPr>
          <p:cNvPr id="4" name="Text 2"/>
          <p:cNvSpPr txBox="1"/>
          <p:nvPr/>
        </p:nvSpPr>
        <p:spPr>
          <a:xfrm>
            <a:off x="457200" y="1737360"/>
            <a:ext cx="3840480" cy="292608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Domestic</a:t>
            </a:r>
            <a:endParaRPr lang="en-US" sz="1600" dirty="0"/>
          </a:p>
          <a:p>
            <a:pPr marL="342900" indent="-342900">
              <a:spcAft>
                <a:spcPts val="300"/>
              </a:spcAft>
              <a:buSzPct val="100000"/>
              <a:buChar char="•"/>
            </a:pPr>
            <a:r>
              <a:rPr lang="en-US" sz="1600" dirty="0">
                <a:solidFill>
                  <a:schemeClr val="tx1"/>
                </a:solidFill>
              </a:rPr>
              <a:t>Export</a:t>
            </a:r>
            <a:endParaRPr lang="en-US" sz="1600" dirty="0"/>
          </a:p>
          <a:p>
            <a:pPr marL="342900" indent="-342900">
              <a:spcAft>
                <a:spcPts val="300"/>
              </a:spcAft>
              <a:buSzPct val="100000"/>
              <a:buChar char="•"/>
            </a:pPr>
            <a:r>
              <a:rPr lang="en-US" sz="1600" dirty="0">
                <a:solidFill>
                  <a:schemeClr val="tx1"/>
                </a:solidFill>
              </a:rPr>
              <a:t>Overview</a:t>
            </a:r>
            <a:endParaRPr lang="en-US" sz="1600" dirty="0"/>
          </a:p>
          <a:p>
            <a:pPr marL="342900" indent="-342900">
              <a:spcAft>
                <a:spcPts val="300"/>
              </a:spcAft>
              <a:buSzPct val="100000"/>
              <a:buChar char="•"/>
            </a:pPr>
            <a:r>
              <a:rPr lang="en-US" sz="1600" dirty="0">
                <a:solidFill>
                  <a:schemeClr val="tx1"/>
                </a:solidFill>
              </a:rPr>
              <a:t>Analysis</a:t>
            </a:r>
            <a:endParaRPr lang="en-US" sz="1600" dirty="0"/>
          </a:p>
          <a:p>
            <a:pPr marL="342900" indent="-342900">
              <a:spcAft>
                <a:spcPts val="300"/>
              </a:spcAft>
              <a:buSzPct val="100000"/>
              <a:buChar char="•"/>
            </a:pPr>
            <a:r>
              <a:rPr lang="en-US" sz="1600" dirty="0">
                <a:solidFill>
                  <a:schemeClr val="tx1"/>
                </a:solidFill>
              </a:rPr>
              <a:t>Pipeline</a:t>
            </a:r>
            <a:endParaRPr lang="en-US" sz="1600" dirty="0"/>
          </a:p>
          <a:p>
            <a:pPr marL="342900" indent="-342900">
              <a:spcAft>
                <a:spcPts val="300"/>
              </a:spcAft>
              <a:buSzPct val="100000"/>
              <a:buChar char="•"/>
            </a:pPr>
            <a:r>
              <a:rPr lang="en-US" sz="1600" dirty="0">
                <a:solidFill>
                  <a:schemeClr val="tx1"/>
                </a:solidFill>
              </a:rPr>
              <a:t>Monthly</a:t>
            </a:r>
            <a:endParaRPr lang="en-US" sz="1600" dirty="0"/>
          </a:p>
          <a:p>
            <a:pPr marL="342900" indent="-342900">
              <a:spcAft>
                <a:spcPts val="300"/>
              </a:spcAft>
              <a:buSzPct val="100000"/>
              <a:buChar char="•"/>
            </a:pPr>
            <a:r>
              <a:rPr lang="en-US" sz="1600" dirty="0">
                <a:solidFill>
                  <a:schemeClr val="tx1"/>
                </a:solidFill>
              </a:rPr>
              <a:t>Yearly</a:t>
            </a:r>
            <a:endParaRPr lang="en-US" sz="1600" dirty="0"/>
          </a:p>
          <a:p>
            <a:pPr marL="342900" indent="-342900">
              <a:spcAft>
                <a:spcPts val="300"/>
              </a:spcAft>
              <a:buSzPct val="100000"/>
              <a:buChar char="•"/>
            </a:pPr>
            <a:r>
              <a:rPr lang="en-US" sz="1600" dirty="0">
                <a:solidFill>
                  <a:schemeClr val="tx1"/>
                </a:solidFill>
              </a:rPr>
              <a:t>Radar</a:t>
            </a:r>
            <a:endParaRPr lang="en-US" sz="1600" dirty="0"/>
          </a:p>
        </p:txBody>
      </p:sp>
      <p:sp>
        <p:nvSpPr>
          <p:cNvPr id="5" name="Text 3"/>
          <p:cNvSpPr txBox="1"/>
          <p:nvPr/>
        </p:nvSpPr>
        <p:spPr>
          <a:xfrm>
            <a:off x="4846320" y="1280160"/>
            <a:ext cx="3840480" cy="365760"/>
          </a:xfrm>
          <a:prstGeom prst="rect">
            <a:avLst/>
          </a:prstGeom>
          <a:noFill/>
          <a:ln/>
        </p:spPr>
        <p:txBody>
          <a:bodyPr wrap="square" lIns="0" tIns="0" rIns="0" bIns="0" rtlCol="0" anchor="t"/>
          <a:lstStyle/>
          <a:p>
            <a:pPr marL="0" indent="0">
              <a:buNone/>
            </a:pPr>
            <a:r>
              <a:rPr lang="en-US" sz="2000" b="1" dirty="0">
                <a:solidFill>
                  <a:schemeClr val="tx2"/>
                </a:solidFill>
              </a:rPr>
              <a:t>6 Forms</a:t>
            </a:r>
            <a:endParaRPr lang="en-US" sz="2000" dirty="0"/>
          </a:p>
        </p:txBody>
      </p:sp>
      <p:sp>
        <p:nvSpPr>
          <p:cNvPr id="6" name="Text 4"/>
          <p:cNvSpPr txBox="1"/>
          <p:nvPr/>
        </p:nvSpPr>
        <p:spPr>
          <a:xfrm>
            <a:off x="4846320" y="1737360"/>
            <a:ext cx="3840480" cy="292608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Leads</a:t>
            </a:r>
            <a:endParaRPr lang="en-US" sz="1600" dirty="0"/>
          </a:p>
          <a:p>
            <a:pPr marL="342900" indent="-342900">
              <a:spcAft>
                <a:spcPts val="300"/>
              </a:spcAft>
              <a:buSzPct val="100000"/>
              <a:buChar char="•"/>
            </a:pPr>
            <a:r>
              <a:rPr lang="en-US" sz="1600" dirty="0">
                <a:solidFill>
                  <a:schemeClr val="tx1"/>
                </a:solidFill>
              </a:rPr>
              <a:t>Budgetary Quotation</a:t>
            </a:r>
            <a:endParaRPr lang="en-US" sz="1600" dirty="0"/>
          </a:p>
          <a:p>
            <a:pPr marL="342900" indent="-342900">
              <a:spcAft>
                <a:spcPts val="300"/>
              </a:spcAft>
              <a:buSzPct val="100000"/>
              <a:buChar char="•"/>
            </a:pPr>
            <a:r>
              <a:rPr lang="en-US" sz="1600" dirty="0">
                <a:solidFill>
                  <a:schemeClr val="tx1"/>
                </a:solidFill>
              </a:rPr>
              <a:t>Tender</a:t>
            </a:r>
            <a:endParaRPr lang="en-US" sz="1600" dirty="0"/>
          </a:p>
          <a:p>
            <a:pPr marL="342900" indent="-342900">
              <a:spcAft>
                <a:spcPts val="300"/>
              </a:spcAft>
              <a:buSzPct val="100000"/>
              <a:buChar char="•"/>
            </a:pPr>
            <a:r>
              <a:rPr lang="en-US" sz="1600" dirty="0">
                <a:solidFill>
                  <a:schemeClr val="tx1"/>
                </a:solidFill>
              </a:rPr>
              <a:t>Bid</a:t>
            </a:r>
            <a:endParaRPr lang="en-US" sz="1600" dirty="0"/>
          </a:p>
          <a:p>
            <a:pPr marL="342900" indent="-342900">
              <a:spcAft>
                <a:spcPts val="300"/>
              </a:spcAft>
              <a:buSzPct val="100000"/>
              <a:buChar char="•"/>
            </a:pPr>
            <a:r>
              <a:rPr lang="en-US" sz="1600" dirty="0">
                <a:solidFill>
                  <a:schemeClr val="tx1"/>
                </a:solidFill>
              </a:rPr>
              <a:t>Order Acquisition</a:t>
            </a:r>
            <a:endParaRPr lang="en-US" sz="1600" dirty="0"/>
          </a:p>
          <a:p>
            <a:pPr marL="342900" indent="-342900">
              <a:spcAft>
                <a:spcPts val="300"/>
              </a:spcAft>
              <a:buSzPct val="100000"/>
              <a:buChar char="•"/>
            </a:pPr>
            <a:r>
              <a:rPr lang="en-US" sz="1600" dirty="0">
                <a:solidFill>
                  <a:schemeClr val="tx1"/>
                </a:solidFill>
              </a:rPr>
              <a:t>Order Received</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User Roles and Responsibilities</a:t>
            </a:r>
            <a:endParaRPr lang="en-US" sz="3200" dirty="0"/>
          </a:p>
        </p:txBody>
      </p:sp>
      <p:sp>
        <p:nvSpPr>
          <p:cNvPr id="3" name="Text 1"/>
          <p:cNvSpPr txBox="1"/>
          <p:nvPr/>
        </p:nvSpPr>
        <p:spPr>
          <a:xfrm>
            <a:off x="45720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Admin</a:t>
            </a:r>
            <a:endParaRPr lang="en-US" sz="2200" dirty="0"/>
          </a:p>
        </p:txBody>
      </p:sp>
      <p:sp>
        <p:nvSpPr>
          <p:cNvPr id="4" name="Text 2"/>
          <p:cNvSpPr txBox="1"/>
          <p:nvPr/>
        </p:nvSpPr>
        <p:spPr>
          <a:xfrm>
            <a:off x="45720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All</a:t>
            </a:r>
            <a:endParaRPr lang="en-US" sz="1400" dirty="0"/>
          </a:p>
        </p:txBody>
      </p:sp>
      <p:sp>
        <p:nvSpPr>
          <p:cNvPr id="5" name="Text 3"/>
          <p:cNvSpPr txBox="1"/>
          <p:nvPr/>
        </p:nvSpPr>
        <p:spPr>
          <a:xfrm>
            <a:off x="45720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Full access to every dashboard, form and tool</a:t>
            </a:r>
            <a:endParaRPr lang="en-US" sz="1600" dirty="0"/>
          </a:p>
          <a:p>
            <a:pPr marL="342900" indent="-342900">
              <a:spcAft>
                <a:spcPts val="800"/>
              </a:spcAft>
              <a:buSzPct val="100000"/>
              <a:buChar char="•"/>
            </a:pPr>
            <a:r>
              <a:rPr lang="en-US" sz="1600" dirty="0">
                <a:solidFill>
                  <a:schemeClr val="tx1"/>
                </a:solidFill>
              </a:rPr>
              <a:t>Manages the portal overall</a:t>
            </a:r>
            <a:endParaRPr lang="en-US" sz="1600" dirty="0"/>
          </a:p>
        </p:txBody>
      </p:sp>
      <p:sp>
        <p:nvSpPr>
          <p:cNvPr id="6" name="Text 4"/>
          <p:cNvSpPr txBox="1"/>
          <p:nvPr/>
        </p:nvSpPr>
        <p:spPr>
          <a:xfrm>
            <a:off x="329184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Executive</a:t>
            </a:r>
            <a:endParaRPr lang="en-US" sz="2200" dirty="0"/>
          </a:p>
        </p:txBody>
      </p:sp>
      <p:sp>
        <p:nvSpPr>
          <p:cNvPr id="7" name="Text 5"/>
          <p:cNvSpPr txBox="1"/>
          <p:nvPr/>
        </p:nvSpPr>
        <p:spPr>
          <a:xfrm>
            <a:off x="329184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Dashboards</a:t>
            </a:r>
            <a:endParaRPr lang="en-US" sz="1400" dirty="0"/>
          </a:p>
        </p:txBody>
      </p:sp>
      <p:sp>
        <p:nvSpPr>
          <p:cNvPr id="8" name="Text 6"/>
          <p:cNvSpPr txBox="1"/>
          <p:nvPr/>
        </p:nvSpPr>
        <p:spPr>
          <a:xfrm>
            <a:off x="329184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Views dashboards in the lead tabs</a:t>
            </a:r>
            <a:endParaRPr lang="en-US" sz="1600" dirty="0"/>
          </a:p>
          <a:p>
            <a:pPr marL="342900" indent="-342900">
              <a:spcAft>
                <a:spcPts val="800"/>
              </a:spcAft>
              <a:buSzPct val="100000"/>
              <a:buChar char="•"/>
            </a:pPr>
            <a:r>
              <a:rPr lang="en-US" sz="1600" dirty="0">
                <a:solidFill>
                  <a:schemeClr val="tx1"/>
                </a:solidFill>
              </a:rPr>
              <a:t>Monitors pipeline and analysis</a:t>
            </a:r>
            <a:endParaRPr lang="en-US" sz="1600" dirty="0"/>
          </a:p>
        </p:txBody>
      </p:sp>
      <p:sp>
        <p:nvSpPr>
          <p:cNvPr id="9" name="Text 7"/>
          <p:cNvSpPr txBox="1"/>
          <p:nvPr/>
        </p:nvSpPr>
        <p:spPr>
          <a:xfrm>
            <a:off x="6126480" y="1280160"/>
            <a:ext cx="2560320" cy="365760"/>
          </a:xfrm>
          <a:prstGeom prst="rect">
            <a:avLst/>
          </a:prstGeom>
          <a:noFill/>
          <a:ln/>
        </p:spPr>
        <p:txBody>
          <a:bodyPr wrap="square" lIns="0" tIns="0" rIns="0" bIns="0" rtlCol="0" anchor="t"/>
          <a:lstStyle/>
          <a:p>
            <a:pPr marL="0" indent="0">
              <a:buNone/>
            </a:pPr>
            <a:r>
              <a:rPr lang="en-US" sz="2200" b="1" dirty="0">
                <a:solidFill>
                  <a:schemeClr val="tx2"/>
                </a:solidFill>
              </a:rPr>
              <a:t>Operator</a:t>
            </a:r>
            <a:endParaRPr lang="en-US" sz="2200" dirty="0"/>
          </a:p>
        </p:txBody>
      </p:sp>
      <p:sp>
        <p:nvSpPr>
          <p:cNvPr id="10" name="Text 8"/>
          <p:cNvSpPr txBox="1"/>
          <p:nvPr/>
        </p:nvSpPr>
        <p:spPr>
          <a:xfrm>
            <a:off x="6126480" y="1691640"/>
            <a:ext cx="2560320" cy="320040"/>
          </a:xfrm>
          <a:prstGeom prst="rect">
            <a:avLst/>
          </a:prstGeom>
          <a:noFill/>
          <a:ln/>
        </p:spPr>
        <p:txBody>
          <a:bodyPr wrap="square" lIns="0" tIns="0" rIns="0" bIns="0" rtlCol="0" anchor="t"/>
          <a:lstStyle/>
          <a:p>
            <a:pPr marL="0" indent="0">
              <a:buNone/>
            </a:pPr>
            <a:r>
              <a:rPr lang="en-US" sz="1400" b="1" dirty="0">
                <a:solidFill>
                  <a:schemeClr val="accent1"/>
                </a:solidFill>
              </a:rPr>
              <a:t>Access: All 6 forms</a:t>
            </a:r>
            <a:endParaRPr lang="en-US" sz="1400" dirty="0"/>
          </a:p>
        </p:txBody>
      </p:sp>
      <p:sp>
        <p:nvSpPr>
          <p:cNvPr id="11" name="Text 9"/>
          <p:cNvSpPr txBox="1"/>
          <p:nvPr/>
        </p:nvSpPr>
        <p:spPr>
          <a:xfrm>
            <a:off x="6126480" y="214884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Enters data through all 6 forms</a:t>
            </a:r>
            <a:endParaRPr lang="en-US" sz="1600" dirty="0"/>
          </a:p>
          <a:p>
            <a:pPr marL="342900" indent="-342900">
              <a:spcAft>
                <a:spcPts val="800"/>
              </a:spcAft>
              <a:buSzPct val="100000"/>
              <a:buChar char="•"/>
            </a:pPr>
            <a:r>
              <a:rPr lang="en-US" sz="1600" dirty="0">
                <a:solidFill>
                  <a:schemeClr val="tx1"/>
                </a:solidFill>
              </a:rPr>
              <a:t>Uses bulk upload tools</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Data Model</a:t>
            </a:r>
            <a:endParaRPr lang="en-US" sz="3200" dirty="0"/>
          </a:p>
        </p:txBody>
      </p:sp>
      <p:sp>
        <p:nvSpPr>
          <p:cNvPr id="3" name="Shape 1"/>
          <p:cNvSpPr/>
          <p:nvPr/>
        </p:nvSpPr>
        <p:spPr>
          <a:xfrm>
            <a:off x="2286000" y="1188720"/>
            <a:ext cx="4572000" cy="822960"/>
          </a:xfrm>
          <a:prstGeom prst="rect">
            <a:avLst/>
          </a:prstGeom>
          <a:solidFill>
            <a:srgbClr val="0B1F3A"/>
          </a:solidFill>
          <a:ln/>
        </p:spPr>
      </p:sp>
      <p:sp>
        <p:nvSpPr>
          <p:cNvPr id="4" name="Text 2"/>
          <p:cNvSpPr txBox="1"/>
          <p:nvPr/>
        </p:nvSpPr>
        <p:spPr>
          <a:xfrm>
            <a:off x="2286000" y="1188720"/>
            <a:ext cx="4572000" cy="822960"/>
          </a:xfrm>
          <a:prstGeom prst="rect">
            <a:avLst/>
          </a:prstGeom>
          <a:noFill/>
          <a:ln/>
        </p:spPr>
        <p:txBody>
          <a:bodyPr wrap="square" lIns="0" tIns="0" rIns="0" bIns="0" rtlCol="0" anchor="ctr"/>
          <a:lstStyle/>
          <a:p>
            <a:pPr marL="0" indent="0" algn="ctr">
              <a:buNone/>
            </a:pPr>
            <a:r>
              <a:rPr lang="en-US" sz="1600" b="1" dirty="0">
                <a:solidFill>
                  <a:srgbClr val="FFFFFF"/>
                </a:solidFill>
              </a:rPr>
              <a:t>leads (one row per lead)</a:t>
            </a:r>
            <a:endParaRPr lang="en-US" sz="1600" dirty="0"/>
          </a:p>
          <a:p>
            <a:pPr marL="0" indent="0" algn="ctr">
              <a:buNone/>
            </a:pPr>
            <a:r>
              <a:rPr lang="en-US" sz="1300" dirty="0">
                <a:solidFill>
                  <a:srgbClr val="FFFFFF"/>
                </a:solidFill>
              </a:rPr>
              <a:t>lead_reference_no (PK)</a:t>
            </a:r>
            <a:endParaRPr lang="en-US" sz="1600" dirty="0"/>
          </a:p>
        </p:txBody>
      </p:sp>
      <p:sp>
        <p:nvSpPr>
          <p:cNvPr id="5" name="Shape 3"/>
          <p:cNvSpPr/>
          <p:nvPr/>
        </p:nvSpPr>
        <p:spPr>
          <a:xfrm>
            <a:off x="4572000" y="2011680"/>
            <a:ext cx="0" cy="320040"/>
          </a:xfrm>
          <a:prstGeom prst="line">
            <a:avLst/>
          </a:prstGeom>
          <a:noFill/>
          <a:ln w="25400">
            <a:solidFill>
              <a:srgbClr val="5B6B7F"/>
            </a:solidFill>
            <a:prstDash val="solid"/>
          </a:ln>
        </p:spPr>
      </p:sp>
      <p:sp>
        <p:nvSpPr>
          <p:cNvPr id="6" name="Shape 4"/>
          <p:cNvSpPr/>
          <p:nvPr/>
        </p:nvSpPr>
        <p:spPr>
          <a:xfrm>
            <a:off x="1078992" y="2331720"/>
            <a:ext cx="6986016" cy="0"/>
          </a:xfrm>
          <a:prstGeom prst="line">
            <a:avLst/>
          </a:prstGeom>
          <a:noFill/>
          <a:ln w="25400">
            <a:solidFill>
              <a:srgbClr val="5B6B7F"/>
            </a:solidFill>
            <a:prstDash val="solid"/>
          </a:ln>
        </p:spPr>
      </p:sp>
      <p:sp>
        <p:nvSpPr>
          <p:cNvPr id="7" name="Shape 5"/>
          <p:cNvSpPr/>
          <p:nvPr/>
        </p:nvSpPr>
        <p:spPr>
          <a:xfrm>
            <a:off x="1074420" y="2331720"/>
            <a:ext cx="0" cy="274320"/>
          </a:xfrm>
          <a:prstGeom prst="line">
            <a:avLst/>
          </a:prstGeom>
          <a:noFill/>
          <a:ln w="25400">
            <a:solidFill>
              <a:srgbClr val="5B6B7F"/>
            </a:solidFill>
            <a:prstDash val="solid"/>
            <a:tailEnd type="triangle"/>
          </a:ln>
        </p:spPr>
      </p:sp>
      <p:sp>
        <p:nvSpPr>
          <p:cNvPr id="8" name="Shape 6"/>
          <p:cNvSpPr/>
          <p:nvPr/>
        </p:nvSpPr>
        <p:spPr>
          <a:xfrm>
            <a:off x="457200" y="2606040"/>
            <a:ext cx="1234440" cy="868680"/>
          </a:xfrm>
          <a:prstGeom prst="rect">
            <a:avLst/>
          </a:prstGeom>
          <a:solidFill>
            <a:srgbClr val="FFFFFF"/>
          </a:solidFill>
          <a:ln w="19050">
            <a:solidFill>
              <a:srgbClr val="0B1F3A"/>
            </a:solidFill>
            <a:prstDash val="solid"/>
          </a:ln>
        </p:spPr>
      </p:sp>
      <p:sp>
        <p:nvSpPr>
          <p:cNvPr id="9" name="Text 7"/>
          <p:cNvSpPr txBox="1"/>
          <p:nvPr/>
        </p:nvSpPr>
        <p:spPr>
          <a:xfrm>
            <a:off x="502920"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Quotation details</a:t>
            </a:r>
            <a:endParaRPr lang="en-US" sz="1300" dirty="0"/>
          </a:p>
        </p:txBody>
      </p:sp>
      <p:sp>
        <p:nvSpPr>
          <p:cNvPr id="10" name="Shape 8"/>
          <p:cNvSpPr/>
          <p:nvPr/>
        </p:nvSpPr>
        <p:spPr>
          <a:xfrm>
            <a:off x="2473452" y="2331720"/>
            <a:ext cx="0" cy="274320"/>
          </a:xfrm>
          <a:prstGeom prst="line">
            <a:avLst/>
          </a:prstGeom>
          <a:noFill/>
          <a:ln w="25400">
            <a:solidFill>
              <a:srgbClr val="5B6B7F"/>
            </a:solidFill>
            <a:prstDash val="solid"/>
            <a:tailEnd type="triangle"/>
          </a:ln>
        </p:spPr>
      </p:sp>
      <p:sp>
        <p:nvSpPr>
          <p:cNvPr id="11" name="Shape 9"/>
          <p:cNvSpPr/>
          <p:nvPr/>
        </p:nvSpPr>
        <p:spPr>
          <a:xfrm>
            <a:off x="1856232" y="2606040"/>
            <a:ext cx="1234440" cy="868680"/>
          </a:xfrm>
          <a:prstGeom prst="rect">
            <a:avLst/>
          </a:prstGeom>
          <a:solidFill>
            <a:srgbClr val="FFFFFF"/>
          </a:solidFill>
          <a:ln w="19050">
            <a:solidFill>
              <a:srgbClr val="0B1F3A"/>
            </a:solidFill>
            <a:prstDash val="solid"/>
          </a:ln>
        </p:spPr>
      </p:sp>
      <p:sp>
        <p:nvSpPr>
          <p:cNvPr id="12" name="Text 10"/>
          <p:cNvSpPr txBox="1"/>
          <p:nvPr/>
        </p:nvSpPr>
        <p:spPr>
          <a:xfrm>
            <a:off x="1901952"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Tender details</a:t>
            </a:r>
            <a:endParaRPr lang="en-US" sz="1300" dirty="0"/>
          </a:p>
        </p:txBody>
      </p:sp>
      <p:sp>
        <p:nvSpPr>
          <p:cNvPr id="13" name="Shape 11"/>
          <p:cNvSpPr/>
          <p:nvPr/>
        </p:nvSpPr>
        <p:spPr>
          <a:xfrm>
            <a:off x="3872484" y="2331720"/>
            <a:ext cx="0" cy="274320"/>
          </a:xfrm>
          <a:prstGeom prst="line">
            <a:avLst/>
          </a:prstGeom>
          <a:noFill/>
          <a:ln w="25400">
            <a:solidFill>
              <a:srgbClr val="5B6B7F"/>
            </a:solidFill>
            <a:prstDash val="solid"/>
            <a:tailEnd type="triangle"/>
          </a:ln>
        </p:spPr>
      </p:sp>
      <p:sp>
        <p:nvSpPr>
          <p:cNvPr id="14" name="Shape 12"/>
          <p:cNvSpPr/>
          <p:nvPr/>
        </p:nvSpPr>
        <p:spPr>
          <a:xfrm>
            <a:off x="3255264" y="2606040"/>
            <a:ext cx="1234440" cy="868680"/>
          </a:xfrm>
          <a:prstGeom prst="rect">
            <a:avLst/>
          </a:prstGeom>
          <a:solidFill>
            <a:srgbClr val="FFFFFF"/>
          </a:solidFill>
          <a:ln w="19050">
            <a:solidFill>
              <a:srgbClr val="0B1F3A"/>
            </a:solidFill>
            <a:prstDash val="solid"/>
          </a:ln>
        </p:spPr>
      </p:sp>
      <p:sp>
        <p:nvSpPr>
          <p:cNvPr id="15" name="Text 13"/>
          <p:cNvSpPr txBox="1"/>
          <p:nvPr/>
        </p:nvSpPr>
        <p:spPr>
          <a:xfrm>
            <a:off x="3300984"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Bidding details</a:t>
            </a:r>
            <a:endParaRPr lang="en-US" sz="1300" dirty="0"/>
          </a:p>
        </p:txBody>
      </p:sp>
      <p:sp>
        <p:nvSpPr>
          <p:cNvPr id="16" name="Shape 14"/>
          <p:cNvSpPr/>
          <p:nvPr/>
        </p:nvSpPr>
        <p:spPr>
          <a:xfrm>
            <a:off x="5271516" y="2331720"/>
            <a:ext cx="0" cy="274320"/>
          </a:xfrm>
          <a:prstGeom prst="line">
            <a:avLst/>
          </a:prstGeom>
          <a:noFill/>
          <a:ln w="25400">
            <a:solidFill>
              <a:srgbClr val="5B6B7F"/>
            </a:solidFill>
            <a:prstDash val="solid"/>
            <a:tailEnd type="triangle"/>
          </a:ln>
        </p:spPr>
      </p:sp>
      <p:sp>
        <p:nvSpPr>
          <p:cNvPr id="17" name="Shape 15"/>
          <p:cNvSpPr/>
          <p:nvPr/>
        </p:nvSpPr>
        <p:spPr>
          <a:xfrm>
            <a:off x="4654296" y="2606040"/>
            <a:ext cx="1234440" cy="868680"/>
          </a:xfrm>
          <a:prstGeom prst="rect">
            <a:avLst/>
          </a:prstGeom>
          <a:solidFill>
            <a:srgbClr val="FFFFFF"/>
          </a:solidFill>
          <a:ln w="19050">
            <a:solidFill>
              <a:srgbClr val="0B1F3A"/>
            </a:solidFill>
            <a:prstDash val="solid"/>
          </a:ln>
        </p:spPr>
      </p:sp>
      <p:sp>
        <p:nvSpPr>
          <p:cNvPr id="18" name="Text 16"/>
          <p:cNvSpPr txBox="1"/>
          <p:nvPr/>
        </p:nvSpPr>
        <p:spPr>
          <a:xfrm>
            <a:off x="4700016"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Order acquisition details</a:t>
            </a:r>
            <a:endParaRPr lang="en-US" sz="1300" dirty="0"/>
          </a:p>
        </p:txBody>
      </p:sp>
      <p:sp>
        <p:nvSpPr>
          <p:cNvPr id="19" name="Shape 17"/>
          <p:cNvSpPr/>
          <p:nvPr/>
        </p:nvSpPr>
        <p:spPr>
          <a:xfrm>
            <a:off x="6670548" y="2331720"/>
            <a:ext cx="0" cy="274320"/>
          </a:xfrm>
          <a:prstGeom prst="line">
            <a:avLst/>
          </a:prstGeom>
          <a:noFill/>
          <a:ln w="25400">
            <a:solidFill>
              <a:srgbClr val="5B6B7F"/>
            </a:solidFill>
            <a:prstDash val="solid"/>
            <a:tailEnd type="triangle"/>
          </a:ln>
        </p:spPr>
      </p:sp>
      <p:sp>
        <p:nvSpPr>
          <p:cNvPr id="20" name="Shape 18"/>
          <p:cNvSpPr/>
          <p:nvPr/>
        </p:nvSpPr>
        <p:spPr>
          <a:xfrm>
            <a:off x="6053328" y="2606040"/>
            <a:ext cx="1234440" cy="868680"/>
          </a:xfrm>
          <a:prstGeom prst="rect">
            <a:avLst/>
          </a:prstGeom>
          <a:solidFill>
            <a:srgbClr val="FFFFFF"/>
          </a:solidFill>
          <a:ln w="19050">
            <a:solidFill>
              <a:srgbClr val="0B1F3A"/>
            </a:solidFill>
            <a:prstDash val="solid"/>
          </a:ln>
        </p:spPr>
      </p:sp>
      <p:sp>
        <p:nvSpPr>
          <p:cNvPr id="21" name="Text 19"/>
          <p:cNvSpPr txBox="1"/>
          <p:nvPr/>
        </p:nvSpPr>
        <p:spPr>
          <a:xfrm>
            <a:off x="6099048"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Order received details</a:t>
            </a:r>
            <a:endParaRPr lang="en-US" sz="1300" dirty="0"/>
          </a:p>
        </p:txBody>
      </p:sp>
      <p:sp>
        <p:nvSpPr>
          <p:cNvPr id="22" name="Shape 20"/>
          <p:cNvSpPr/>
          <p:nvPr/>
        </p:nvSpPr>
        <p:spPr>
          <a:xfrm>
            <a:off x="8069580" y="2331720"/>
            <a:ext cx="0" cy="274320"/>
          </a:xfrm>
          <a:prstGeom prst="line">
            <a:avLst/>
          </a:prstGeom>
          <a:noFill/>
          <a:ln w="25400">
            <a:solidFill>
              <a:srgbClr val="5B6B7F"/>
            </a:solidFill>
            <a:prstDash val="solid"/>
            <a:tailEnd type="triangle"/>
          </a:ln>
        </p:spPr>
      </p:sp>
      <p:sp>
        <p:nvSpPr>
          <p:cNvPr id="23" name="Shape 21"/>
          <p:cNvSpPr/>
          <p:nvPr/>
        </p:nvSpPr>
        <p:spPr>
          <a:xfrm>
            <a:off x="7452360" y="2606040"/>
            <a:ext cx="1234440" cy="868680"/>
          </a:xfrm>
          <a:prstGeom prst="rect">
            <a:avLst/>
          </a:prstGeom>
          <a:solidFill>
            <a:srgbClr val="FFFFFF"/>
          </a:solidFill>
          <a:ln w="19050">
            <a:solidFill>
              <a:srgbClr val="0B1F3A"/>
            </a:solidFill>
            <a:prstDash val="solid"/>
          </a:ln>
        </p:spPr>
      </p:sp>
      <p:sp>
        <p:nvSpPr>
          <p:cNvPr id="24" name="Text 22"/>
          <p:cNvSpPr txBox="1"/>
          <p:nvPr/>
        </p:nvSpPr>
        <p:spPr>
          <a:xfrm>
            <a:off x="7498080" y="2606040"/>
            <a:ext cx="1143000" cy="868680"/>
          </a:xfrm>
          <a:prstGeom prst="rect">
            <a:avLst/>
          </a:prstGeom>
          <a:noFill/>
          <a:ln/>
        </p:spPr>
        <p:txBody>
          <a:bodyPr wrap="square" lIns="0" tIns="0" rIns="0" bIns="0" rtlCol="0" anchor="ctr"/>
          <a:lstStyle/>
          <a:p>
            <a:pPr marL="0" indent="0" algn="ctr">
              <a:buNone/>
            </a:pPr>
            <a:r>
              <a:rPr lang="en-US" sz="1300" b="1" dirty="0">
                <a:solidFill>
                  <a:srgbClr val="0B1F3A"/>
                </a:solidFill>
              </a:rPr>
              <a:t>Stage history</a:t>
            </a:r>
            <a:endParaRPr lang="en-US" sz="1300" dirty="0"/>
          </a:p>
        </p:txBody>
      </p:sp>
      <p:sp>
        <p:nvSpPr>
          <p:cNvPr id="25" name="Text 23"/>
          <p:cNvSpPr txBox="1"/>
          <p:nvPr/>
        </p:nvSpPr>
        <p:spPr>
          <a:xfrm>
            <a:off x="457200" y="3840480"/>
            <a:ext cx="8229600" cy="365760"/>
          </a:xfrm>
          <a:prstGeom prst="rect">
            <a:avLst/>
          </a:prstGeom>
          <a:noFill/>
          <a:ln/>
        </p:spPr>
        <p:txBody>
          <a:bodyPr wrap="square" lIns="0" tIns="0" rIns="0" bIns="0" rtlCol="0" anchor="t"/>
          <a:lstStyle/>
          <a:p>
            <a:pPr marL="0" indent="0">
              <a:buNone/>
            </a:pPr>
            <a:r>
              <a:rPr lang="en-US" sz="1600" b="1" dirty="0">
                <a:solidFill>
                  <a:srgbClr val="1C7293"/>
                </a:solidFill>
              </a:rPr>
              <a:t>Supporting data: </a:t>
            </a:r>
            <a:r>
              <a:rPr lang="en-US" sz="1600" dirty="0">
                <a:solidFill>
                  <a:schemeClr val="tx1"/>
                </a:solidFill>
              </a:rPr>
              <a:t>partners, competitors, corrigenda and milestones</a:t>
            </a:r>
            <a:endParaRPr lang="en-US" sz="1600" dirty="0"/>
          </a:p>
        </p:txBody>
      </p:sp>
      <p:sp>
        <p:nvSpPr>
          <p:cNvPr id="26"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The Marketing Portal manages every lead in one place, from enquiry to order received.</a:t>
            </a:r>
            <a:endParaRPr lang="en-US" sz="1800" dirty="0"/>
          </a:p>
          <a:p>
            <a:pPr marL="342900" indent="-342900">
              <a:spcAft>
                <a:spcPts val="800"/>
              </a:spcAft>
              <a:buSzPct val="100000"/>
              <a:buChar char="•"/>
            </a:pPr>
            <a:r>
              <a:rPr lang="en-US" sz="1800" dirty="0">
                <a:solidFill>
                  <a:schemeClr val="tx1"/>
                </a:solidFill>
              </a:rPr>
              <a:t>Three tabs per module make data entry, viewing and bulk upload simple.</a:t>
            </a:r>
            <a:endParaRPr lang="en-US" sz="1800" dirty="0"/>
          </a:p>
          <a:p>
            <a:pPr marL="342900" indent="-342900">
              <a:spcAft>
                <a:spcPts val="800"/>
              </a:spcAft>
              <a:buSzPct val="100000"/>
              <a:buChar char="•"/>
            </a:pPr>
            <a:r>
              <a:rPr lang="en-US" sz="1800" dirty="0">
                <a:solidFill>
                  <a:schemeClr val="tx1"/>
                </a:solidFill>
              </a:rPr>
              <a:t>Eight dashboards give management a clear view of the pipeline.</a:t>
            </a:r>
            <a:endParaRPr lang="en-US" sz="1800" dirty="0"/>
          </a:p>
          <a:p>
            <a:pPr marL="342900" indent="-342900">
              <a:spcAft>
                <a:spcPts val="800"/>
              </a:spcAft>
              <a:buSzPct val="100000"/>
              <a:buChar char="•"/>
            </a:pPr>
            <a:r>
              <a:rPr lang="en-US" sz="1800" dirty="0">
                <a:solidFill>
                  <a:schemeClr val="tx1"/>
                </a:solidFill>
              </a:rPr>
              <a:t>Role-based access and a unique key keep the data controlled and consistent.</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r"/>
            <a:fld id="{F7021451-1387-4CA6-816F-3879F97B5CBC}" type="slidenum">
              <a:rPr lang="en-US" b="0"/>
              <a:t>48</a:t>
            </a:fld>
            <a:endParaRPr lang="en-US"/>
          </a:p>
        </p:txBody>
      </p:sp>
    </p:spTree>
  </p:cSld>
  <p:clrMapOvr>
    <a:masterClrMapping/>
  </p:clrMapOvr>
</p:sld>
</file>

<file path=ppt/theme/theme1.xml><?xml version="1.0" encoding="utf-8"?>
<a:theme xmlns:a="http://schemas.openxmlformats.org/drawingml/2006/main" name="MROT Plain">
  <a:themeElements>
    <a:clrScheme name="MROT Plain">
      <a:dk1>
        <a:srgbClr val="1A2433"/>
      </a:dk1>
      <a:lt1>
        <a:srgbClr val="FFFFFF"/>
      </a:lt1>
      <a:dk2>
        <a:srgbClr val="0B1F3A"/>
      </a:dk2>
      <a:lt2>
        <a:srgbClr val="F2F4F7"/>
      </a:lt2>
      <a:accent1>
        <a:srgbClr val="1C7293"/>
      </a:accent1>
      <a:accent2>
        <a:srgbClr val="F2A900"/>
      </a:accent2>
      <a:accent3>
        <a:srgbClr val="2E8B6A"/>
      </a:accent3>
      <a:accent4>
        <a:srgbClr val="C8553D"/>
      </a:accent4>
      <a:accent5>
        <a:srgbClr val="5B6B7F"/>
      </a:accent5>
      <a:accent6>
        <a:srgbClr val="9CC9E3"/>
      </a:accent6>
      <a:hlink>
        <a:srgbClr val="1C7293"/>
      </a:hlink>
      <a:folHlink>
        <a:srgbClr val="5B6B7F"/>
      </a:folHlink>
    </a:clrScheme>
    <a:fontScheme name="MROT Pl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MROT Plain</vt:lpstr>
      <vt:lpstr>Project Summary</vt:lpstr>
      <vt:lpstr>JavaScript Learning</vt:lpstr>
      <vt:lpstr>JavaScript: Concepts</vt:lpstr>
      <vt:lpstr>React.js Learning</vt:lpstr>
      <vt:lpstr>React.js: Components and Props</vt:lpstr>
      <vt:lpstr>React Hooks</vt:lpstr>
      <vt:lpstr>Overall Learning Outcome</vt:lpstr>
      <vt:lpstr>Industry 4.0 (NIRMAN)</vt:lpstr>
      <vt:lpstr>NIRMAN: Problem and Objective</vt:lpstr>
      <vt:lpstr>NIRMAN: User Roles (1/2)</vt:lpstr>
      <vt:lpstr>NIRMAN: User Roles (2/2)</vt:lpstr>
      <vt:lpstr>NIRMAN: Workflow</vt:lpstr>
      <vt:lpstr>NIRMAN: Conclusion</vt:lpstr>
      <vt:lpstr>NIRMAN: Learning and Tech</vt:lpstr>
      <vt:lpstr>Industry 4.0 (GR TO UD)</vt:lpstr>
      <vt:lpstr>GR to UD: Scope and Users</vt:lpstr>
      <vt:lpstr>GR to UD: IG Store</vt:lpstr>
      <vt:lpstr>GR to UD: Inspectors</vt:lpstr>
      <vt:lpstr>GR to UD: Indenter and Approver</vt:lpstr>
      <vt:lpstr>GR to UD: Workflow</vt:lpstr>
      <vt:lpstr>PDM (Predictive Maintenance)</vt:lpstr>
      <vt:lpstr>PDM: Problem and Objective</vt:lpstr>
      <vt:lpstr>PDM: Components (1/2)</vt:lpstr>
      <vt:lpstr>PDM: Components (2/2)</vt:lpstr>
      <vt:lpstr>PDM: Motor and Technology</vt:lpstr>
      <vt:lpstr>PDM: Conclusion</vt:lpstr>
      <vt:lpstr>PDM: Learning</vt:lpstr>
      <vt:lpstr>MROT</vt:lpstr>
      <vt:lpstr>Project Overview</vt:lpstr>
      <vt:lpstr>Problem Statement</vt:lpstr>
      <vt:lpstr>Objectives</vt:lpstr>
      <vt:lpstr>System Modules</vt:lpstr>
      <vt:lpstr>User Roles and Responsibilities (1/2)</vt:lpstr>
      <vt:lpstr>User Roles and Responsibilities (2/2)</vt:lpstr>
      <vt:lpstr>System Architecture</vt:lpstr>
      <vt:lpstr>Setup and Data Workflow</vt:lpstr>
      <vt:lpstr>Technologies Used</vt:lpstr>
      <vt:lpstr>Conclusion</vt:lpstr>
      <vt:lpstr>Marketing Portal</vt:lpstr>
      <vt:lpstr>Project Overview</vt:lpstr>
      <vt:lpstr>Problem Statement</vt:lpstr>
      <vt:lpstr>Objectives</vt:lpstr>
      <vt:lpstr>Lead Lifecycle (6 Stages)</vt:lpstr>
      <vt:lpstr>Module Structure</vt:lpstr>
      <vt:lpstr>Dashboards and Forms</vt:lpstr>
      <vt:lpstr>User Roles and Responsibilities</vt:lpstr>
      <vt:lpstr>Data Model</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MROT Project Presentation</dc:title>
  <dc:subject>PptxGenJS Presentation</dc:subject>
  <dc:creator>PptxGenJS</dc:creator>
  <cp:lastModifiedBy>SANJAY P</cp:lastModifiedBy>
  <cp:revision>2</cp:revision>
  <dcterms:created xsi:type="dcterms:W3CDTF">2026-10-13T01:36:08Z</dcterms:created>
  <dcterms:modified xsi:type="dcterms:W3CDTF">2026-10-13T01:40:09Z</dcterms:modified>
</cp:coreProperties>
</file>