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6cf9211c1eb07623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6cf9211c1eb07623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6cf9211c1eb07623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h6cf9211c1eb07623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h6cf9211c1eb07623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h6cf9211c1eb07623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h6cf9211c1eb07623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h6cf9211c1eb07623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h6cf9211c1eb07623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h6cf9211c1eb07623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h6cf9211c1eb07623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h6cf9211c1eb07623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h33206cd1bf2339e9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h33206cd1bf2339e9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h33206cd1bf2339e9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h33206cd1bf2339e9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h33206cd1bf2339e9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h33206cd1bf2339e9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h33206cd1bf2339e9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h33206cd1bf2339e9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h6cf9211c1eb07623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h6cf9211c1eb07623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h6cf9211c1eb0762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h6cf9211c1eb0762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h6cf9211c1eb0762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h6cf9211c1eb0762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h6cf9211c1eb07623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h6cf9211c1eb07623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h6cf9211c1eb07623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h6cf9211c1eb07623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h6cf9211c1eb0762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h6cf9211c1eb0762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h6cf9211c1eb0762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h6cf9211c1eb0762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h6cf9211c1eb07623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h6cf9211c1eb07623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h6cf9211c1eb07623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h6cf9211c1eb07623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h6cf9211c1eb07623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h6cf9211c1eb07623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h6cf9211c1eb07623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h6cf9211c1eb07623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h6cf9211c1eb07623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h6cf9211c1eb07623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Project summary</a:t>
            </a:r>
            <a:endParaRPr/>
          </a:p>
        </p:txBody>
      </p:sp>
      <p:sp>
        <p:nvSpPr>
          <p:cNvPr id="55" name="Google Shape;55;p13"/>
          <p:cNvSpPr txBox="1"/>
          <p:nvPr>
            <p:ph idx="1" type="subTitle"/>
          </p:nvPr>
        </p:nvSpPr>
        <p:spPr>
          <a:xfrm>
            <a:off x="566177" y="4258825"/>
            <a:ext cx="7688100" cy="541200"/>
          </a:xfrm>
          <a:prstGeom prst="rect">
            <a:avLst/>
          </a:prstGeom>
        </p:spPr>
        <p:txBody>
          <a:bodyPr anchorCtr="0" anchor="t" bIns="91425" lIns="91425" spcFirstLastPara="1" rIns="91425" wrap="square" tIns="91425">
            <a:normAutofit fontScale="47500" lnSpcReduction="20000"/>
          </a:bodyPr>
          <a:lstStyle/>
          <a:p>
            <a:pPr indent="0" lvl="0" marL="0" rtl="0" algn="ctr">
              <a:spcBef>
                <a:spcPts val="0"/>
              </a:spcBef>
              <a:spcAft>
                <a:spcPts val="0"/>
              </a:spcAft>
              <a:buNone/>
            </a:pPr>
            <a:r>
              <a:rPr lang="en-GB"/>
              <a:t>Name: Sumanth S</a:t>
            </a:r>
            <a:br>
              <a:rPr lang="en-GB"/>
            </a:b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JavaScript Learning </a:t>
            </a:r>
            <a:endParaRPr/>
          </a:p>
        </p:txBody>
      </p:sp>
      <p:sp>
        <p:nvSpPr>
          <p:cNvPr id="61" name="Google Shape;61;p14"/>
          <p:cNvSpPr txBox="1"/>
          <p:nvPr>
            <p:ph idx="1" type="body"/>
          </p:nvPr>
        </p:nvSpPr>
        <p:spPr>
          <a:xfrm>
            <a:off x="311700" y="1152475"/>
            <a:ext cx="8520600" cy="36597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b="1" lang="en-GB" sz="1700">
                <a:solidFill>
                  <a:schemeClr val="dk1"/>
                </a:solidFill>
              </a:rPr>
              <a:t>JavaScript Training</a:t>
            </a:r>
            <a:endParaRPr b="1" sz="1700">
              <a:solidFill>
                <a:schemeClr val="dk1"/>
              </a:solidFill>
            </a:endParaRPr>
          </a:p>
          <a:p>
            <a:pPr indent="0" lvl="0" marL="0" rtl="0" algn="l">
              <a:spcBef>
                <a:spcPts val="1400"/>
              </a:spcBef>
              <a:spcAft>
                <a:spcPts val="0"/>
              </a:spcAft>
              <a:buClr>
                <a:schemeClr val="dk1"/>
              </a:buClr>
              <a:buSzPts val="1100"/>
              <a:buFont typeface="Arial"/>
              <a:buNone/>
            </a:pPr>
            <a:r>
              <a:rPr b="1" lang="en-GB" sz="1300">
                <a:solidFill>
                  <a:schemeClr val="dk1"/>
                </a:solidFill>
              </a:rPr>
              <a:t>Overview</a:t>
            </a:r>
            <a:endParaRPr b="1" sz="13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Studied JavaScript fundamentals to build a strong foundation for frontend web development.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Learned the core programming concepts required for developing dynamic and interactive web applications.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Gained an understanding of how JavaScript interacts with HTML, CSS, and browser elements to create responsive user interfaces.</a:t>
            </a:r>
            <a:endParaRPr sz="1100">
              <a:solidFill>
                <a:schemeClr val="dk1"/>
              </a:solidFill>
            </a:endParaRPr>
          </a:p>
          <a:p>
            <a:pPr indent="0" lvl="0" marL="0" rtl="0" algn="l">
              <a:spcBef>
                <a:spcPts val="1400"/>
              </a:spcBef>
              <a:spcAft>
                <a:spcPts val="0"/>
              </a:spcAft>
              <a:buNone/>
            </a:pPr>
            <a:r>
              <a:rPr b="1" lang="en-GB" sz="1300">
                <a:solidFill>
                  <a:schemeClr val="dk1"/>
                </a:solidFill>
              </a:rPr>
              <a:t>Topics Covered</a:t>
            </a:r>
            <a:endParaRPr b="1" sz="1300">
              <a:solidFill>
                <a:schemeClr val="dk1"/>
              </a:solidFill>
            </a:endParaRPr>
          </a:p>
          <a:p>
            <a:pPr indent="0" lvl="0" marL="0" rtl="0" algn="l">
              <a:spcBef>
                <a:spcPts val="1200"/>
              </a:spcBef>
              <a:spcAft>
                <a:spcPts val="0"/>
              </a:spcAft>
              <a:buNone/>
            </a:pPr>
            <a:r>
              <a:rPr b="1" lang="en-GB" sz="1100">
                <a:solidFill>
                  <a:schemeClr val="dk1"/>
                </a:solidFill>
              </a:rPr>
              <a:t>JavaScript Fundamentals</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JavaScript Introduction</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JavaScript Syntax</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Variables and Data Types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JavaScript Output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JavaScript Operators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idx="1" type="body"/>
          </p:nvPr>
        </p:nvSpPr>
        <p:spPr>
          <a:xfrm>
            <a:off x="311700" y="617125"/>
            <a:ext cx="8520600" cy="39519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Clr>
                <a:schemeClr val="dk1"/>
              </a:buClr>
              <a:buSzPts val="1100"/>
              <a:buFont typeface="Arial"/>
              <a:buNone/>
            </a:pPr>
            <a:r>
              <a:rPr b="1" lang="en-GB" sz="1100">
                <a:solidFill>
                  <a:schemeClr val="dk1"/>
                </a:solidFill>
              </a:rPr>
              <a:t>Programming Concepts</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Conditional Statements (If, Else, Switch)</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Loops and Iterations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Functions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Scope</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Objects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Arrays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Strings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Numbers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Sets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Maps</a:t>
            </a:r>
            <a:endParaRPr sz="1100">
              <a:solidFill>
                <a:schemeClr val="dk1"/>
              </a:solidFill>
            </a:endParaRPr>
          </a:p>
          <a:p>
            <a:pPr indent="0" lvl="0" marL="0" rtl="0" algn="l">
              <a:spcBef>
                <a:spcPts val="1200"/>
              </a:spcBef>
              <a:spcAft>
                <a:spcPts val="0"/>
              </a:spcAft>
              <a:buNone/>
            </a:pPr>
            <a:r>
              <a:rPr b="1" lang="en-GB" sz="1100">
                <a:solidFill>
                  <a:schemeClr val="dk1"/>
                </a:solidFill>
              </a:rPr>
              <a:t>Advanced JavaScript</a:t>
            </a:r>
            <a:endParaRPr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Regular Expressions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Error Handling</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Modern JavaScript (ES6)</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React.js Learning </a:t>
            </a:r>
            <a:endParaRPr/>
          </a:p>
        </p:txBody>
      </p:sp>
      <p:sp>
        <p:nvSpPr>
          <p:cNvPr id="72" name="Google Shape;72;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GB" sz="1300">
                <a:solidFill>
                  <a:schemeClr val="dk1"/>
                </a:solidFill>
              </a:rPr>
              <a:t>Overview</a:t>
            </a:r>
            <a:endParaRPr b="1" sz="13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Learned React.js to understand modern frontend application development.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Studied component-based architecture for building scalable and reusable user interfaces.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Gained practical knowledge of React fundamentals required for enterprise web applications.</a:t>
            </a:r>
            <a:endParaRPr sz="1100">
              <a:solidFill>
                <a:schemeClr val="dk1"/>
              </a:solidFill>
            </a:endParaRPr>
          </a:p>
          <a:p>
            <a:pPr indent="0" lvl="0" marL="0" rtl="0" algn="l">
              <a:spcBef>
                <a:spcPts val="1400"/>
              </a:spcBef>
              <a:spcAft>
                <a:spcPts val="0"/>
              </a:spcAft>
              <a:buNone/>
            </a:pPr>
            <a:r>
              <a:rPr b="1" lang="en-GB" sz="1300">
                <a:solidFill>
                  <a:schemeClr val="dk1"/>
                </a:solidFill>
              </a:rPr>
              <a:t>Topics Covered</a:t>
            </a:r>
            <a:endParaRPr b="1" sz="1300">
              <a:solidFill>
                <a:schemeClr val="dk1"/>
              </a:solidFill>
            </a:endParaRPr>
          </a:p>
          <a:p>
            <a:pPr indent="0" lvl="0" marL="0" rtl="0" algn="l">
              <a:spcBef>
                <a:spcPts val="1200"/>
              </a:spcBef>
              <a:spcAft>
                <a:spcPts val="0"/>
              </a:spcAft>
              <a:buNone/>
            </a:pPr>
            <a:r>
              <a:rPr b="1" lang="en-GB" sz="1100">
                <a:solidFill>
                  <a:schemeClr val="dk1"/>
                </a:solidFill>
              </a:rPr>
              <a:t>React Fundamentals</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React Introduction</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Project Setup</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First React Application</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Rendering HTML</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React Upgrade</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ES6 Features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idx="1" type="body"/>
          </p:nvPr>
        </p:nvSpPr>
        <p:spPr>
          <a:xfrm>
            <a:off x="311700" y="413475"/>
            <a:ext cx="8520600" cy="41553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GB" sz="1100">
                <a:solidFill>
                  <a:schemeClr val="dk1"/>
                </a:solidFill>
              </a:rPr>
              <a:t>JSX</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JSX Introduction</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JSX Expressions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JSX Attributes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Conditional Rendering</a:t>
            </a:r>
            <a:endParaRPr sz="1100">
              <a:solidFill>
                <a:schemeClr val="dk1"/>
              </a:solidFill>
            </a:endParaRPr>
          </a:p>
          <a:p>
            <a:pPr indent="0" lvl="0" marL="0" rtl="0" algn="l">
              <a:spcBef>
                <a:spcPts val="1200"/>
              </a:spcBef>
              <a:spcAft>
                <a:spcPts val="0"/>
              </a:spcAft>
              <a:buNone/>
            </a:pPr>
            <a:r>
              <a:rPr b="1" lang="en-GB" sz="1100">
                <a:solidFill>
                  <a:schemeClr val="dk1"/>
                </a:solidFill>
              </a:rPr>
              <a:t>Component Architecture</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React Components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Class Components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Functional Components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Component Reusability</a:t>
            </a:r>
            <a:endParaRPr sz="1100">
              <a:solidFill>
                <a:schemeClr val="dk1"/>
              </a:solidFill>
            </a:endParaRPr>
          </a:p>
          <a:p>
            <a:pPr indent="0" lvl="0" marL="0" rtl="0" algn="l">
              <a:spcBef>
                <a:spcPts val="1200"/>
              </a:spcBef>
              <a:spcAft>
                <a:spcPts val="0"/>
              </a:spcAft>
              <a:buNone/>
            </a:pPr>
            <a:r>
              <a:rPr b="1" lang="en-GB" sz="1100">
                <a:solidFill>
                  <a:schemeClr val="dk1"/>
                </a:solidFill>
              </a:rPr>
              <a:t>Props</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Props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Props Destructuring</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Props Children</a:t>
            </a:r>
            <a:endParaRPr sz="1100">
              <a:solidFill>
                <a:schemeClr val="dk1"/>
              </a:solidFill>
            </a:endParaRPr>
          </a:p>
          <a:p>
            <a:pPr indent="0" lvl="0" marL="0" rtl="0" algn="l">
              <a:spcBef>
                <a:spcPts val="1200"/>
              </a:spcBef>
              <a:spcAft>
                <a:spcPts val="1200"/>
              </a:spcAft>
              <a:buNone/>
            </a:pPr>
            <a:r>
              <a:t/>
            </a:r>
            <a:endParaRPr sz="11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idx="1" type="body"/>
          </p:nvPr>
        </p:nvSpPr>
        <p:spPr>
          <a:xfrm>
            <a:off x="311700" y="460025"/>
            <a:ext cx="8520600" cy="41088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GB" sz="1100">
                <a:solidFill>
                  <a:schemeClr val="dk1"/>
                </a:solidFill>
              </a:rPr>
              <a:t>React Hooks</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useState</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useEffect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useContext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useRef</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useReducer</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use Callback</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useMemo</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Custom Hooks</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Overall Learning Outcome </a:t>
            </a:r>
            <a:endParaRPr/>
          </a:p>
        </p:txBody>
      </p:sp>
      <p:sp>
        <p:nvSpPr>
          <p:cNvPr id="88" name="Google Shape;88;p19"/>
          <p:cNvSpPr txBox="1"/>
          <p:nvPr>
            <p:ph idx="1" type="body"/>
          </p:nvPr>
        </p:nvSpPr>
        <p:spPr>
          <a:xfrm>
            <a:off x="311700" y="1152475"/>
            <a:ext cx="8520600" cy="3671400"/>
          </a:xfrm>
          <a:prstGeom prst="rect">
            <a:avLst/>
          </a:prstGeom>
        </p:spPr>
        <p:txBody>
          <a:bodyPr anchorCtr="0" anchor="t" bIns="91425" lIns="91425" spcFirstLastPara="1" rIns="91425" wrap="square" tIns="91425">
            <a:normAutofit fontScale="92500" lnSpcReduction="20000"/>
          </a:bodyPr>
          <a:lstStyle/>
          <a:p>
            <a:pPr indent="0" lvl="0" marL="0" rtl="0" algn="l">
              <a:spcBef>
                <a:spcPts val="1400"/>
              </a:spcBef>
              <a:spcAft>
                <a:spcPts val="0"/>
              </a:spcAft>
              <a:buClr>
                <a:schemeClr val="dk1"/>
              </a:buClr>
              <a:buSzPct val="84615"/>
              <a:buFont typeface="Arial"/>
              <a:buNone/>
            </a:pPr>
            <a:r>
              <a:rPr b="1" lang="en-GB" sz="1300">
                <a:solidFill>
                  <a:schemeClr val="dk1"/>
                </a:solidFill>
              </a:rPr>
              <a:t>Frontend Development Skills</a:t>
            </a:r>
            <a:endParaRPr b="1" sz="1300">
              <a:solidFill>
                <a:schemeClr val="dk1"/>
              </a:solidFill>
            </a:endParaRPr>
          </a:p>
          <a:p>
            <a:pPr indent="-293211" lvl="0" marL="457200" rtl="0" algn="l">
              <a:spcBef>
                <a:spcPts val="1200"/>
              </a:spcBef>
              <a:spcAft>
                <a:spcPts val="0"/>
              </a:spcAft>
              <a:buClr>
                <a:schemeClr val="dk1"/>
              </a:buClr>
              <a:buSzPct val="100000"/>
              <a:buChar char="●"/>
            </a:pPr>
            <a:r>
              <a:rPr lang="en-GB" sz="1100">
                <a:solidFill>
                  <a:schemeClr val="dk1"/>
                </a:solidFill>
              </a:rPr>
              <a:t>Built a foundation in React.js.</a:t>
            </a:r>
            <a:endParaRPr sz="1100">
              <a:solidFill>
                <a:schemeClr val="dk1"/>
              </a:solidFill>
            </a:endParaRPr>
          </a:p>
          <a:p>
            <a:pPr indent="-293211" lvl="0" marL="457200" rtl="0" algn="l">
              <a:spcBef>
                <a:spcPts val="0"/>
              </a:spcBef>
              <a:spcAft>
                <a:spcPts val="0"/>
              </a:spcAft>
              <a:buClr>
                <a:schemeClr val="dk1"/>
              </a:buClr>
              <a:buSzPct val="100000"/>
              <a:buChar char="●"/>
            </a:pPr>
            <a:r>
              <a:rPr lang="en-GB" sz="1100">
                <a:solidFill>
                  <a:schemeClr val="dk1"/>
                </a:solidFill>
              </a:rPr>
              <a:t>Learned reusable component development.</a:t>
            </a:r>
            <a:endParaRPr sz="1100">
              <a:solidFill>
                <a:schemeClr val="dk1"/>
              </a:solidFill>
            </a:endParaRPr>
          </a:p>
          <a:p>
            <a:pPr indent="-293211" lvl="0" marL="457200" rtl="0" algn="l">
              <a:spcBef>
                <a:spcPts val="0"/>
              </a:spcBef>
              <a:spcAft>
                <a:spcPts val="0"/>
              </a:spcAft>
              <a:buClr>
                <a:schemeClr val="dk1"/>
              </a:buClr>
              <a:buSzPct val="100000"/>
              <a:buChar char="●"/>
            </a:pPr>
            <a:r>
              <a:rPr lang="en-GB" sz="1100">
                <a:solidFill>
                  <a:schemeClr val="dk1"/>
                </a:solidFill>
              </a:rPr>
              <a:t>Understood state and props management.</a:t>
            </a:r>
            <a:endParaRPr sz="1100">
              <a:solidFill>
                <a:schemeClr val="dk1"/>
              </a:solidFill>
            </a:endParaRPr>
          </a:p>
          <a:p>
            <a:pPr indent="-293211" lvl="0" marL="457200" rtl="0" algn="l">
              <a:spcBef>
                <a:spcPts val="0"/>
              </a:spcBef>
              <a:spcAft>
                <a:spcPts val="0"/>
              </a:spcAft>
              <a:buClr>
                <a:schemeClr val="dk1"/>
              </a:buClr>
              <a:buSzPct val="100000"/>
              <a:buChar char="●"/>
            </a:pPr>
            <a:r>
              <a:rPr lang="en-GB" sz="1100">
                <a:solidFill>
                  <a:schemeClr val="dk1"/>
                </a:solidFill>
              </a:rPr>
              <a:t>Learned modern UI development practices.</a:t>
            </a:r>
            <a:endParaRPr sz="1100">
              <a:solidFill>
                <a:schemeClr val="dk1"/>
              </a:solidFill>
            </a:endParaRPr>
          </a:p>
          <a:p>
            <a:pPr indent="0" lvl="0" marL="0" rtl="0" algn="l">
              <a:spcBef>
                <a:spcPts val="1400"/>
              </a:spcBef>
              <a:spcAft>
                <a:spcPts val="0"/>
              </a:spcAft>
              <a:buClr>
                <a:schemeClr val="dk1"/>
              </a:buClr>
              <a:buSzPct val="84615"/>
              <a:buFont typeface="Arial"/>
              <a:buNone/>
            </a:pPr>
            <a:r>
              <a:rPr b="1" lang="en-GB" sz="1300">
                <a:solidFill>
                  <a:schemeClr val="dk1"/>
                </a:solidFill>
              </a:rPr>
              <a:t>Technical Understanding</a:t>
            </a:r>
            <a:endParaRPr b="1" sz="1300">
              <a:solidFill>
                <a:schemeClr val="dk1"/>
              </a:solidFill>
            </a:endParaRPr>
          </a:p>
          <a:p>
            <a:pPr indent="-293211" lvl="0" marL="457200" rtl="0" algn="l">
              <a:spcBef>
                <a:spcPts val="1200"/>
              </a:spcBef>
              <a:spcAft>
                <a:spcPts val="0"/>
              </a:spcAft>
              <a:buClr>
                <a:schemeClr val="dk1"/>
              </a:buClr>
              <a:buSzPct val="100000"/>
              <a:buChar char="●"/>
            </a:pPr>
            <a:r>
              <a:rPr lang="en-GB" sz="1100">
                <a:solidFill>
                  <a:schemeClr val="dk1"/>
                </a:solidFill>
              </a:rPr>
              <a:t>JavaScript Programming</a:t>
            </a:r>
            <a:endParaRPr sz="1100">
              <a:solidFill>
                <a:schemeClr val="dk1"/>
              </a:solidFill>
            </a:endParaRPr>
          </a:p>
          <a:p>
            <a:pPr indent="-293211" lvl="0" marL="457200" rtl="0" algn="l">
              <a:spcBef>
                <a:spcPts val="0"/>
              </a:spcBef>
              <a:spcAft>
                <a:spcPts val="0"/>
              </a:spcAft>
              <a:buClr>
                <a:schemeClr val="dk1"/>
              </a:buClr>
              <a:buSzPct val="100000"/>
              <a:buChar char="●"/>
            </a:pPr>
            <a:r>
              <a:rPr lang="en-GB" sz="1100">
                <a:solidFill>
                  <a:schemeClr val="dk1"/>
                </a:solidFill>
              </a:rPr>
              <a:t>React.js Framework</a:t>
            </a:r>
            <a:endParaRPr sz="1100">
              <a:solidFill>
                <a:schemeClr val="dk1"/>
              </a:solidFill>
            </a:endParaRPr>
          </a:p>
          <a:p>
            <a:pPr indent="-293211" lvl="0" marL="457200" rtl="0" algn="l">
              <a:spcBef>
                <a:spcPts val="0"/>
              </a:spcBef>
              <a:spcAft>
                <a:spcPts val="0"/>
              </a:spcAft>
              <a:buClr>
                <a:schemeClr val="dk1"/>
              </a:buClr>
              <a:buSzPct val="100000"/>
              <a:buChar char="●"/>
            </a:pPr>
            <a:r>
              <a:rPr lang="en-GB" sz="1100">
                <a:solidFill>
                  <a:schemeClr val="dk1"/>
                </a:solidFill>
              </a:rPr>
              <a:t>Component-Based Architecture</a:t>
            </a:r>
            <a:endParaRPr sz="1100">
              <a:solidFill>
                <a:schemeClr val="dk1"/>
              </a:solidFill>
            </a:endParaRPr>
          </a:p>
          <a:p>
            <a:pPr indent="-293211" lvl="0" marL="457200" rtl="0" algn="l">
              <a:spcBef>
                <a:spcPts val="0"/>
              </a:spcBef>
              <a:spcAft>
                <a:spcPts val="0"/>
              </a:spcAft>
              <a:buClr>
                <a:schemeClr val="dk1"/>
              </a:buClr>
              <a:buSzPct val="100000"/>
              <a:buChar char="●"/>
            </a:pPr>
            <a:r>
              <a:rPr lang="en-GB" sz="1100">
                <a:solidFill>
                  <a:schemeClr val="dk1"/>
                </a:solidFill>
              </a:rPr>
              <a:t>JSX</a:t>
            </a:r>
            <a:endParaRPr sz="1100">
              <a:solidFill>
                <a:schemeClr val="dk1"/>
              </a:solidFill>
            </a:endParaRPr>
          </a:p>
          <a:p>
            <a:pPr indent="-293211" lvl="0" marL="457200" rtl="0" algn="l">
              <a:spcBef>
                <a:spcPts val="0"/>
              </a:spcBef>
              <a:spcAft>
                <a:spcPts val="0"/>
              </a:spcAft>
              <a:buClr>
                <a:schemeClr val="dk1"/>
              </a:buClr>
              <a:buSzPct val="100000"/>
              <a:buChar char="●"/>
            </a:pPr>
            <a:r>
              <a:rPr lang="en-GB" sz="1100">
                <a:solidFill>
                  <a:schemeClr val="dk1"/>
                </a:solidFill>
              </a:rPr>
              <a:t>React Hooks</a:t>
            </a:r>
            <a:endParaRPr sz="1100">
              <a:solidFill>
                <a:schemeClr val="dk1"/>
              </a:solidFill>
            </a:endParaRPr>
          </a:p>
          <a:p>
            <a:pPr indent="-293211" lvl="0" marL="457200" rtl="0" algn="l">
              <a:spcBef>
                <a:spcPts val="0"/>
              </a:spcBef>
              <a:spcAft>
                <a:spcPts val="0"/>
              </a:spcAft>
              <a:buClr>
                <a:schemeClr val="dk1"/>
              </a:buClr>
              <a:buSzPct val="100000"/>
              <a:buChar char="●"/>
            </a:pPr>
            <a:r>
              <a:rPr lang="en-GB" sz="1100">
                <a:solidFill>
                  <a:schemeClr val="dk1"/>
                </a:solidFill>
              </a:rPr>
              <a:t>State Management</a:t>
            </a:r>
            <a:endParaRPr sz="1100">
              <a:solidFill>
                <a:schemeClr val="dk1"/>
              </a:solidFill>
            </a:endParaRPr>
          </a:p>
          <a:p>
            <a:pPr indent="-293211" lvl="0" marL="457200" rtl="0" algn="l">
              <a:spcBef>
                <a:spcPts val="0"/>
              </a:spcBef>
              <a:spcAft>
                <a:spcPts val="0"/>
              </a:spcAft>
              <a:buClr>
                <a:schemeClr val="dk1"/>
              </a:buClr>
              <a:buSzPct val="100000"/>
              <a:buChar char="●"/>
            </a:pPr>
            <a:r>
              <a:rPr lang="en-GB" sz="1100">
                <a:solidFill>
                  <a:schemeClr val="dk1"/>
                </a:solidFill>
              </a:rPr>
              <a:t>Event Handling</a:t>
            </a:r>
            <a:endParaRPr sz="1100">
              <a:solidFill>
                <a:schemeClr val="dk1"/>
              </a:solidFill>
            </a:endParaRPr>
          </a:p>
          <a:p>
            <a:pPr indent="-293211" lvl="0" marL="457200" rtl="0" algn="l">
              <a:spcBef>
                <a:spcPts val="0"/>
              </a:spcBef>
              <a:spcAft>
                <a:spcPts val="0"/>
              </a:spcAft>
              <a:buClr>
                <a:schemeClr val="dk1"/>
              </a:buClr>
              <a:buSzPct val="100000"/>
              <a:buChar char="●"/>
            </a:pPr>
            <a:r>
              <a:rPr lang="en-GB" sz="1100">
                <a:solidFill>
                  <a:schemeClr val="dk1"/>
                </a:solidFill>
              </a:rPr>
              <a:t>Dynamic UI Rendering</a:t>
            </a:r>
            <a:endParaRPr sz="1100">
              <a:solidFill>
                <a:schemeClr val="dk1"/>
              </a:solidFill>
            </a:endParaRPr>
          </a:p>
          <a:p>
            <a:pPr indent="0" lvl="0" marL="0" rtl="0" algn="l">
              <a:spcBef>
                <a:spcPts val="1400"/>
              </a:spcBef>
              <a:spcAft>
                <a:spcPts val="0"/>
              </a:spcAft>
              <a:buClr>
                <a:schemeClr val="dk1"/>
              </a:buClr>
              <a:buSzPct val="84615"/>
              <a:buFont typeface="Arial"/>
              <a:buNone/>
            </a:pPr>
            <a:r>
              <a:rPr b="1" lang="en-GB" sz="1300">
                <a:solidFill>
                  <a:schemeClr val="dk1"/>
                </a:solidFill>
              </a:rPr>
              <a:t>Outcome</a:t>
            </a:r>
            <a:endParaRPr b="1" sz="1300">
              <a:solidFill>
                <a:schemeClr val="dk1"/>
              </a:solidFill>
            </a:endParaRPr>
          </a:p>
          <a:p>
            <a:pPr indent="-293211" lvl="0" marL="457200" rtl="0" algn="l">
              <a:spcBef>
                <a:spcPts val="1200"/>
              </a:spcBef>
              <a:spcAft>
                <a:spcPts val="0"/>
              </a:spcAft>
              <a:buClr>
                <a:schemeClr val="dk1"/>
              </a:buClr>
              <a:buSzPct val="100000"/>
              <a:buChar char="●"/>
            </a:pPr>
            <a:r>
              <a:rPr lang="en-GB" sz="1100">
                <a:solidFill>
                  <a:schemeClr val="dk1"/>
                </a:solidFill>
              </a:rPr>
              <a:t>Developed a strong foundation in JavaScript and React.js required for working on frontend web applications.</a:t>
            </a:r>
            <a:endParaRPr sz="1100">
              <a:solidFill>
                <a:schemeClr val="dk1"/>
              </a:solidFill>
            </a:endParaRPr>
          </a:p>
          <a:p>
            <a:pPr indent="-293211" lvl="0" marL="457200" rtl="0" algn="l">
              <a:spcBef>
                <a:spcPts val="0"/>
              </a:spcBef>
              <a:spcAft>
                <a:spcPts val="0"/>
              </a:spcAft>
              <a:buClr>
                <a:schemeClr val="dk1"/>
              </a:buClr>
              <a:buSzPct val="100000"/>
              <a:buChar char="●"/>
            </a:pPr>
            <a:r>
              <a:rPr lang="en-GB" sz="1100">
                <a:solidFill>
                  <a:schemeClr val="dk1"/>
                </a:solidFill>
              </a:rPr>
              <a:t>Gained the necessary knowledge to understand, modify, and contribute to React-based enterprise projects.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0"/>
          <p:cNvSpPr txBox="1"/>
          <p:nvPr>
            <p:ph type="title"/>
          </p:nvPr>
        </p:nvSpPr>
        <p:spPr>
          <a:xfrm>
            <a:off x="311700" y="1627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Industry 4.0 (NIRMAN)</a:t>
            </a:r>
            <a:endParaRPr/>
          </a:p>
        </p:txBody>
      </p:sp>
      <p:sp>
        <p:nvSpPr>
          <p:cNvPr id="94" name="Google Shape;94;p20"/>
          <p:cNvSpPr txBox="1"/>
          <p:nvPr>
            <p:ph idx="1" type="body"/>
          </p:nvPr>
        </p:nvSpPr>
        <p:spPr>
          <a:xfrm>
            <a:off x="311700" y="863550"/>
            <a:ext cx="8520600" cy="3970800"/>
          </a:xfrm>
          <a:prstGeom prst="rect">
            <a:avLst/>
          </a:prstGeom>
        </p:spPr>
        <p:txBody>
          <a:bodyPr anchorCtr="0" anchor="t" bIns="91425" lIns="91425" spcFirstLastPara="1" rIns="91425" wrap="square" tIns="91425">
            <a:normAutofit lnSpcReduction="20000"/>
          </a:bodyPr>
          <a:lstStyle/>
          <a:p>
            <a:pPr indent="0" lvl="0" marL="0" rtl="0" algn="l">
              <a:spcBef>
                <a:spcPts val="1400"/>
              </a:spcBef>
              <a:spcAft>
                <a:spcPts val="0"/>
              </a:spcAft>
              <a:buClr>
                <a:schemeClr val="dk1"/>
              </a:buClr>
              <a:buSzPts val="1100"/>
              <a:buFont typeface="Arial"/>
              <a:buNone/>
            </a:pPr>
            <a:r>
              <a:rPr b="1" lang="en-GB" sz="1300">
                <a:solidFill>
                  <a:schemeClr val="dk1"/>
                </a:solidFill>
              </a:rPr>
              <a:t>Project Overview:</a:t>
            </a:r>
            <a:endParaRPr b="1" sz="13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NIRMAN (Next-gen Intelligent Realtime Manufacturing Automation Network) is a centralized web-based </a:t>
            </a:r>
            <a:r>
              <a:rPr b="1" lang="en-GB" sz="1100">
                <a:solidFill>
                  <a:schemeClr val="dk1"/>
                </a:solidFill>
              </a:rPr>
              <a:t>Manufacturing automation system</a:t>
            </a:r>
            <a:r>
              <a:rPr lang="en-GB" sz="1100">
                <a:solidFill>
                  <a:schemeClr val="dk1"/>
                </a:solidFill>
              </a:rPr>
              <a:t> for managing and monitoring the complete product development lifecycle.</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Eliminates manual process tracking by maintaining structured digital records and workflow management.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Provides </a:t>
            </a:r>
            <a:r>
              <a:rPr b="1" lang="en-GB" sz="1100">
                <a:solidFill>
                  <a:schemeClr val="dk1"/>
                </a:solidFill>
              </a:rPr>
              <a:t>role-based access</a:t>
            </a:r>
            <a:r>
              <a:rPr lang="en-GB" sz="1100">
                <a:solidFill>
                  <a:schemeClr val="dk1"/>
                </a:solidFill>
              </a:rPr>
              <a:t> to ensure controlled system usage based on user responsibilities.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Assigns a </a:t>
            </a:r>
            <a:r>
              <a:rPr b="1" lang="en-GB" sz="1100">
                <a:solidFill>
                  <a:schemeClr val="dk1"/>
                </a:solidFill>
              </a:rPr>
              <a:t>unique Product ID</a:t>
            </a:r>
            <a:r>
              <a:rPr lang="en-GB" sz="1100">
                <a:solidFill>
                  <a:schemeClr val="dk1"/>
                </a:solidFill>
              </a:rPr>
              <a:t> to every product for complete lifecycle tracking and traceability.</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Enables centralized monitoring of product progress, task allocation, documentation, and quality verification.</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Improves accountability, process consistency, visibility, and operational efficiency across the entire workflow.</a:t>
            </a:r>
            <a:endParaRPr sz="1100">
              <a:solidFill>
                <a:schemeClr val="dk1"/>
              </a:solidFill>
            </a:endParaRPr>
          </a:p>
          <a:p>
            <a:pPr indent="0" lvl="0" marL="0" rtl="0" algn="l">
              <a:spcBef>
                <a:spcPts val="2400"/>
              </a:spcBef>
              <a:spcAft>
                <a:spcPts val="0"/>
              </a:spcAft>
              <a:buNone/>
            </a:pPr>
            <a:r>
              <a:rPr b="1" lang="en-GB" sz="1300">
                <a:solidFill>
                  <a:schemeClr val="dk1"/>
                </a:solidFill>
              </a:rPr>
              <a:t>Problem Statement:</a:t>
            </a:r>
            <a:endParaRPr b="1" sz="1300">
              <a:solidFill>
                <a:schemeClr val="dk1"/>
              </a:solidFill>
            </a:endParaRPr>
          </a:p>
          <a:p>
            <a:pPr indent="0" lvl="0" marL="0" rtl="0" algn="l">
              <a:spcBef>
                <a:spcPts val="1200"/>
              </a:spcBef>
              <a:spcAft>
                <a:spcPts val="0"/>
              </a:spcAft>
              <a:buNone/>
            </a:pPr>
            <a:r>
              <a:rPr lang="en-GB" sz="1100">
                <a:solidFill>
                  <a:schemeClr val="dk1"/>
                </a:solidFill>
              </a:rPr>
              <a:t>Modern product development involves multiple stages, users, approvals, and documentation, making manual process management increasingly difficult. As the complexity of the development process grows, organizations face challenges in maintaining workflow consistency, tracking product progress, coordinating multiple users, and ensuring proper documentation at every stage.</a:t>
            </a:r>
            <a:endParaRPr sz="1100">
              <a:solidFill>
                <a:schemeClr val="dk1"/>
              </a:solidFill>
            </a:endParaRPr>
          </a:p>
          <a:p>
            <a:pPr indent="0" lvl="0" marL="0" rtl="0" algn="l">
              <a:spcBef>
                <a:spcPts val="1400"/>
              </a:spcBef>
              <a:spcAft>
                <a:spcPts val="0"/>
              </a:spcAft>
              <a:buNone/>
            </a:pPr>
            <a:r>
              <a:rPr b="1" lang="en-GB" sz="1300">
                <a:solidFill>
                  <a:schemeClr val="dk1"/>
                </a:solidFill>
              </a:rPr>
              <a:t>Objective:</a:t>
            </a:r>
            <a:endParaRPr b="1" sz="13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Automate and simplify the complete product development process.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Manage products through predefined sequential stages.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Ensure every stage is completed and validated before moving to the next stage.</a:t>
            </a:r>
            <a:endParaRPr sz="10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1"/>
          <p:cNvSpPr txBox="1"/>
          <p:nvPr>
            <p:ph idx="1" type="body"/>
          </p:nvPr>
        </p:nvSpPr>
        <p:spPr>
          <a:xfrm>
            <a:off x="311700" y="333150"/>
            <a:ext cx="8520600" cy="4477200"/>
          </a:xfrm>
          <a:prstGeom prst="rect">
            <a:avLst/>
          </a:prstGeom>
        </p:spPr>
        <p:txBody>
          <a:bodyPr anchorCtr="0" anchor="t" bIns="91425" lIns="91425" spcFirstLastPara="1" rIns="91425" wrap="square" tIns="91425">
            <a:noAutofit/>
          </a:bodyPr>
          <a:lstStyle/>
          <a:p>
            <a:pPr indent="-304800" lvl="0" marL="457200" rtl="0" algn="l">
              <a:spcBef>
                <a:spcPts val="1200"/>
              </a:spcBef>
              <a:spcAft>
                <a:spcPts val="0"/>
              </a:spcAft>
              <a:buClr>
                <a:schemeClr val="dk1"/>
              </a:buClr>
              <a:buSzPts val="1200"/>
              <a:buChar char="●"/>
            </a:pPr>
            <a:r>
              <a:rPr lang="en-GB" sz="1200">
                <a:solidFill>
                  <a:schemeClr val="dk1"/>
                </a:solidFill>
              </a:rPr>
              <a:t>Maintain centralized digital documentation throughout the product lifecycle.</a:t>
            </a:r>
            <a:endParaRPr sz="1200">
              <a:solidFill>
                <a:schemeClr val="dk1"/>
              </a:solidFill>
            </a:endParaRPr>
          </a:p>
          <a:p>
            <a:pPr indent="-304800" lvl="0" marL="457200" rtl="0" algn="l">
              <a:spcBef>
                <a:spcPts val="0"/>
              </a:spcBef>
              <a:spcAft>
                <a:spcPts val="0"/>
              </a:spcAft>
              <a:buClr>
                <a:schemeClr val="dk1"/>
              </a:buClr>
              <a:buSzPts val="1200"/>
              <a:buChar char="●"/>
            </a:pPr>
            <a:r>
              <a:rPr lang="en-GB" sz="1200">
                <a:solidFill>
                  <a:schemeClr val="dk1"/>
                </a:solidFill>
              </a:rPr>
              <a:t>Support secure role-based operations and controlled user access.</a:t>
            </a:r>
            <a:endParaRPr sz="1200">
              <a:solidFill>
                <a:schemeClr val="dk1"/>
              </a:solidFill>
            </a:endParaRPr>
          </a:p>
          <a:p>
            <a:pPr indent="-304800" lvl="0" marL="457200" rtl="0" algn="l">
              <a:spcBef>
                <a:spcPts val="0"/>
              </a:spcBef>
              <a:spcAft>
                <a:spcPts val="0"/>
              </a:spcAft>
              <a:buClr>
                <a:schemeClr val="dk1"/>
              </a:buClr>
              <a:buSzPts val="1200"/>
              <a:buChar char="●"/>
            </a:pPr>
            <a:r>
              <a:rPr lang="en-GB" sz="1200">
                <a:solidFill>
                  <a:schemeClr val="dk1"/>
                </a:solidFill>
              </a:rPr>
              <a:t>Improve product traceability and progress monitoring.</a:t>
            </a:r>
            <a:endParaRPr sz="1200">
              <a:solidFill>
                <a:schemeClr val="dk1"/>
              </a:solidFill>
            </a:endParaRPr>
          </a:p>
          <a:p>
            <a:pPr indent="-304800" lvl="0" marL="457200" rtl="0" algn="l">
              <a:spcBef>
                <a:spcPts val="0"/>
              </a:spcBef>
              <a:spcAft>
                <a:spcPts val="0"/>
              </a:spcAft>
              <a:buClr>
                <a:schemeClr val="dk1"/>
              </a:buClr>
              <a:buSzPts val="1200"/>
              <a:buChar char="●"/>
            </a:pPr>
            <a:r>
              <a:rPr lang="en-GB" sz="1200">
                <a:solidFill>
                  <a:schemeClr val="dk1"/>
                </a:solidFill>
              </a:rPr>
              <a:t>Strengthen quality assurance through qualification and verification mechanisms. Pasted markdown</a:t>
            </a:r>
            <a:endParaRPr b="1" sz="1653">
              <a:solidFill>
                <a:schemeClr val="dk1"/>
              </a:solidFill>
            </a:endParaRPr>
          </a:p>
          <a:p>
            <a:pPr indent="0" lvl="0" marL="0" rtl="0" algn="l">
              <a:spcBef>
                <a:spcPts val="1400"/>
              </a:spcBef>
              <a:spcAft>
                <a:spcPts val="0"/>
              </a:spcAft>
              <a:buNone/>
            </a:pPr>
            <a:r>
              <a:rPr b="1" lang="en-GB" sz="1353">
                <a:solidFill>
                  <a:schemeClr val="dk1"/>
                </a:solidFill>
              </a:rPr>
              <a:t>User Roles &amp; Responsibilities:</a:t>
            </a:r>
            <a:endParaRPr b="1" sz="1353">
              <a:solidFill>
                <a:schemeClr val="dk1"/>
              </a:solidFill>
            </a:endParaRPr>
          </a:p>
          <a:p>
            <a:pPr indent="0" lvl="0" marL="0" rtl="0" algn="l">
              <a:spcBef>
                <a:spcPts val="1200"/>
              </a:spcBef>
              <a:spcAft>
                <a:spcPts val="0"/>
              </a:spcAft>
              <a:buNone/>
            </a:pPr>
            <a:r>
              <a:rPr b="1" lang="en-GB" sz="1253" u="sng">
                <a:solidFill>
                  <a:schemeClr val="dk1"/>
                </a:solidFill>
              </a:rPr>
              <a:t>Administrator</a:t>
            </a:r>
            <a:endParaRPr b="1" sz="1253" u="sng">
              <a:solidFill>
                <a:schemeClr val="dk1"/>
              </a:solidFill>
            </a:endParaRPr>
          </a:p>
          <a:p>
            <a:pPr indent="-300691" lvl="0" marL="457200" rtl="0" algn="l">
              <a:spcBef>
                <a:spcPts val="1200"/>
              </a:spcBef>
              <a:spcAft>
                <a:spcPts val="0"/>
              </a:spcAft>
              <a:buClr>
                <a:schemeClr val="dk1"/>
              </a:buClr>
              <a:buSzPts val="1135"/>
              <a:buChar char="●"/>
            </a:pPr>
            <a:r>
              <a:rPr lang="en-GB" sz="1135">
                <a:solidFill>
                  <a:schemeClr val="dk1"/>
                </a:solidFill>
              </a:rPr>
              <a:t>Manages the overall workflow and initial project setup.</a:t>
            </a:r>
            <a:endParaRPr sz="1135">
              <a:solidFill>
                <a:schemeClr val="dk1"/>
              </a:solidFill>
            </a:endParaRPr>
          </a:p>
          <a:p>
            <a:pPr indent="-300691" lvl="0" marL="457200" rtl="0" algn="l">
              <a:spcBef>
                <a:spcPts val="0"/>
              </a:spcBef>
              <a:spcAft>
                <a:spcPts val="0"/>
              </a:spcAft>
              <a:buClr>
                <a:schemeClr val="dk1"/>
              </a:buClr>
              <a:buSzPts val="1135"/>
              <a:buChar char="●"/>
            </a:pPr>
            <a:r>
              <a:rPr lang="en-GB" sz="1135">
                <a:solidFill>
                  <a:schemeClr val="dk1"/>
                </a:solidFill>
              </a:rPr>
              <a:t>Creates and allocates products for processing.</a:t>
            </a:r>
            <a:endParaRPr sz="1135">
              <a:solidFill>
                <a:schemeClr val="dk1"/>
              </a:solidFill>
            </a:endParaRPr>
          </a:p>
          <a:p>
            <a:pPr indent="-300691" lvl="0" marL="457200" rtl="0" algn="l">
              <a:spcBef>
                <a:spcPts val="0"/>
              </a:spcBef>
              <a:spcAft>
                <a:spcPts val="0"/>
              </a:spcAft>
              <a:buClr>
                <a:schemeClr val="dk1"/>
              </a:buClr>
              <a:buSzPts val="1135"/>
              <a:buChar char="●"/>
            </a:pPr>
            <a:r>
              <a:rPr lang="en-GB" sz="1135">
                <a:solidFill>
                  <a:schemeClr val="dk1"/>
                </a:solidFill>
              </a:rPr>
              <a:t>Organizes work distribution across different stages.</a:t>
            </a:r>
            <a:endParaRPr sz="1135">
              <a:solidFill>
                <a:schemeClr val="dk1"/>
              </a:solidFill>
            </a:endParaRPr>
          </a:p>
          <a:p>
            <a:pPr indent="-300691" lvl="0" marL="457200" rtl="0" algn="l">
              <a:spcBef>
                <a:spcPts val="0"/>
              </a:spcBef>
              <a:spcAft>
                <a:spcPts val="0"/>
              </a:spcAft>
              <a:buClr>
                <a:schemeClr val="dk1"/>
              </a:buClr>
              <a:buSzPts val="1135"/>
              <a:buChar char="●"/>
            </a:pPr>
            <a:r>
              <a:rPr lang="en-GB" sz="1135">
                <a:solidFill>
                  <a:schemeClr val="dk1"/>
                </a:solidFill>
              </a:rPr>
              <a:t>Assigns resources and coordinates the overall development process.</a:t>
            </a:r>
            <a:endParaRPr sz="1135">
              <a:solidFill>
                <a:schemeClr val="dk1"/>
              </a:solidFill>
            </a:endParaRPr>
          </a:p>
          <a:p>
            <a:pPr indent="0" lvl="0" marL="0" rtl="0" algn="l">
              <a:spcBef>
                <a:spcPts val="1200"/>
              </a:spcBef>
              <a:spcAft>
                <a:spcPts val="0"/>
              </a:spcAft>
              <a:buNone/>
            </a:pPr>
            <a:r>
              <a:rPr b="1" lang="en-GB" sz="1153" u="sng">
                <a:solidFill>
                  <a:schemeClr val="dk1"/>
                </a:solidFill>
              </a:rPr>
              <a:t>Internal Supervisor</a:t>
            </a:r>
            <a:endParaRPr b="1" sz="1153" u="sng">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Assigns stage-specific tasks to operators.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Coordinates task distribution among multiple users.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Monitors task allocation and stage completion.</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Ensures smooth workflow progression between stages.</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2"/>
          <p:cNvSpPr txBox="1"/>
          <p:nvPr>
            <p:ph idx="1" type="body"/>
          </p:nvPr>
        </p:nvSpPr>
        <p:spPr>
          <a:xfrm>
            <a:off x="311700" y="340950"/>
            <a:ext cx="8520600" cy="4219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GB" sz="1208" u="sng">
                <a:solidFill>
                  <a:schemeClr val="dk1"/>
                </a:solidFill>
              </a:rPr>
              <a:t>Operator</a:t>
            </a:r>
            <a:endParaRPr b="1" sz="1208" u="sng">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Executes assigned stage-specific tasks.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Accesses only authorized tasks through role-based login.</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Updates task status and submits required digital forms.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Records completion details before progressing to the next stage. </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GB" sz="1200" u="sng">
                <a:solidFill>
                  <a:schemeClr val="dk1"/>
                </a:solidFill>
              </a:rPr>
              <a:t>Quality Manager</a:t>
            </a:r>
            <a:endParaRPr b="1" sz="1200" u="sng">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Monitors operator qualifications and certification validity.</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Verifies operator eligibility before task assignment.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Ensures compliance with quality and competency requirements.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Supports quality assurance throughout the development process.</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GB" sz="1200" u="sng">
                <a:solidFill>
                  <a:schemeClr val="dk1"/>
                </a:solidFill>
              </a:rPr>
              <a:t>External Supervisor</a:t>
            </a:r>
            <a:endParaRPr b="1" sz="1200" u="sng">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Performs final verification of completed products.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Reviews completed work against defined standards.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Approves products or recommends corrective actions.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Provides an additional level of quality validation before completion.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3"/>
          <p:cNvSpPr txBox="1"/>
          <p:nvPr>
            <p:ph idx="1" type="body"/>
          </p:nvPr>
        </p:nvSpPr>
        <p:spPr>
          <a:xfrm>
            <a:off x="309550" y="223950"/>
            <a:ext cx="8385300" cy="46956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GB" sz="1100">
                <a:solidFill>
                  <a:schemeClr val="dk1"/>
                </a:solidFill>
              </a:rPr>
              <a:t>WORKFLOW:</a:t>
            </a:r>
            <a:endParaRPr b="1" sz="1100">
              <a:solidFill>
                <a:schemeClr val="dk1"/>
              </a:solidFill>
            </a:endParaRPr>
          </a:p>
          <a:p>
            <a:pPr indent="0" lvl="0" marL="0" rtl="0" algn="l">
              <a:spcBef>
                <a:spcPts val="1200"/>
              </a:spcBef>
              <a:spcAft>
                <a:spcPts val="1200"/>
              </a:spcAft>
              <a:buNone/>
            </a:pPr>
            <a:r>
              <a:t/>
            </a:r>
            <a:endParaRPr/>
          </a:p>
        </p:txBody>
      </p:sp>
      <p:pic>
        <p:nvPicPr>
          <p:cNvPr id="110" name="Google Shape;110;p23" title="Gemini_Generated_Image_1qemdj1qemdj1qem.png"/>
          <p:cNvPicPr preferRelativeResize="0"/>
          <p:nvPr/>
        </p:nvPicPr>
        <p:blipFill>
          <a:blip r:embed="rId3">
            <a:alphaModFix/>
          </a:blip>
          <a:stretch>
            <a:fillRect/>
          </a:stretch>
        </p:blipFill>
        <p:spPr>
          <a:xfrm>
            <a:off x="1979450" y="489100"/>
            <a:ext cx="3651350" cy="4372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4"/>
          <p:cNvSpPr txBox="1"/>
          <p:nvPr>
            <p:ph idx="1" type="body"/>
          </p:nvPr>
        </p:nvSpPr>
        <p:spPr>
          <a:xfrm>
            <a:off x="311700" y="436750"/>
            <a:ext cx="8520600" cy="4375500"/>
          </a:xfrm>
          <a:prstGeom prst="rect">
            <a:avLst/>
          </a:prstGeom>
        </p:spPr>
        <p:txBody>
          <a:bodyPr anchorCtr="0" anchor="t" bIns="91425" lIns="91425" spcFirstLastPara="1" rIns="91425" wrap="square" tIns="91425">
            <a:normAutofit fontScale="92500" lnSpcReduction="20000"/>
          </a:bodyPr>
          <a:lstStyle/>
          <a:p>
            <a:pPr indent="0" lvl="0" marL="0" rtl="0" algn="l">
              <a:spcBef>
                <a:spcPts val="2400"/>
              </a:spcBef>
              <a:spcAft>
                <a:spcPts val="0"/>
              </a:spcAft>
              <a:buClr>
                <a:schemeClr val="dk1"/>
              </a:buClr>
              <a:buSzPct val="78571"/>
              <a:buFont typeface="Arial"/>
              <a:buNone/>
            </a:pPr>
            <a:r>
              <a:rPr b="1" lang="en-GB" sz="1400">
                <a:solidFill>
                  <a:schemeClr val="dk1"/>
                </a:solidFill>
              </a:rPr>
              <a:t>Conclusion:</a:t>
            </a:r>
            <a:endParaRPr b="1" sz="1400">
              <a:solidFill>
                <a:schemeClr val="dk1"/>
              </a:solidFill>
            </a:endParaRPr>
          </a:p>
          <a:p>
            <a:pPr indent="-296148" lvl="0" marL="457200" rtl="0" algn="l">
              <a:spcBef>
                <a:spcPts val="1200"/>
              </a:spcBef>
              <a:spcAft>
                <a:spcPts val="0"/>
              </a:spcAft>
              <a:buClr>
                <a:schemeClr val="dk1"/>
              </a:buClr>
              <a:buSzPct val="100000"/>
              <a:buChar char="●"/>
            </a:pPr>
            <a:r>
              <a:rPr lang="en-GB" sz="1150">
                <a:solidFill>
                  <a:schemeClr val="dk1"/>
                </a:solidFill>
              </a:rPr>
              <a:t>The project provides a centralized platform for managing the complete product development lifecycle through a structured, stage-wise workflow.</a:t>
            </a:r>
            <a:endParaRPr sz="1150">
              <a:solidFill>
                <a:schemeClr val="dk1"/>
              </a:solidFill>
            </a:endParaRPr>
          </a:p>
          <a:p>
            <a:pPr indent="-296148" lvl="0" marL="457200" rtl="0" algn="l">
              <a:spcBef>
                <a:spcPts val="0"/>
              </a:spcBef>
              <a:spcAft>
                <a:spcPts val="0"/>
              </a:spcAft>
              <a:buClr>
                <a:schemeClr val="dk1"/>
              </a:buClr>
              <a:buSzPct val="100000"/>
              <a:buChar char="●"/>
            </a:pPr>
            <a:r>
              <a:rPr lang="en-GB" sz="1150">
                <a:solidFill>
                  <a:schemeClr val="dk1"/>
                </a:solidFill>
              </a:rPr>
              <a:t>It improves process organization by integrating role-based access, task allocation, digital documentation, and product traceability into a single system.</a:t>
            </a:r>
            <a:endParaRPr sz="1150">
              <a:solidFill>
                <a:schemeClr val="dk1"/>
              </a:solidFill>
            </a:endParaRPr>
          </a:p>
          <a:p>
            <a:pPr indent="-296148" lvl="0" marL="457200" rtl="0" algn="l">
              <a:spcBef>
                <a:spcPts val="0"/>
              </a:spcBef>
              <a:spcAft>
                <a:spcPts val="0"/>
              </a:spcAft>
              <a:buClr>
                <a:schemeClr val="dk1"/>
              </a:buClr>
              <a:buSzPct val="100000"/>
              <a:buChar char="●"/>
            </a:pPr>
            <a:r>
              <a:rPr lang="en-GB" sz="1150">
                <a:solidFill>
                  <a:schemeClr val="dk1"/>
                </a:solidFill>
              </a:rPr>
              <a:t>The application ensures controlled workflow execution, enhances accountability, and supports quality assurance through systematic validation and monitoring.</a:t>
            </a:r>
            <a:endParaRPr sz="1150">
              <a:solidFill>
                <a:schemeClr val="dk1"/>
              </a:solidFill>
            </a:endParaRPr>
          </a:p>
          <a:p>
            <a:pPr indent="-296148" lvl="0" marL="457200" rtl="0" algn="l">
              <a:spcBef>
                <a:spcPts val="0"/>
              </a:spcBef>
              <a:spcAft>
                <a:spcPts val="0"/>
              </a:spcAft>
              <a:buClr>
                <a:schemeClr val="dk1"/>
              </a:buClr>
              <a:buSzPct val="100000"/>
              <a:buChar char="●"/>
            </a:pPr>
            <a:r>
              <a:rPr lang="en-GB" sz="1150">
                <a:solidFill>
                  <a:schemeClr val="dk1"/>
                </a:solidFill>
              </a:rPr>
              <a:t>Overall, the system simplifies the management of complex multi-stage development processes while improving efficiency, transparency, and record maintenance. </a:t>
            </a:r>
            <a:endParaRPr sz="1150">
              <a:solidFill>
                <a:schemeClr val="dk1"/>
              </a:solidFill>
            </a:endParaRPr>
          </a:p>
          <a:p>
            <a:pPr indent="0" lvl="0" marL="0" rtl="0" algn="l">
              <a:spcBef>
                <a:spcPts val="1800"/>
              </a:spcBef>
              <a:spcAft>
                <a:spcPts val="0"/>
              </a:spcAft>
              <a:buNone/>
            </a:pPr>
            <a:r>
              <a:rPr b="1" lang="en-GB" sz="1400">
                <a:solidFill>
                  <a:schemeClr val="dk1"/>
                </a:solidFill>
              </a:rPr>
              <a:t>Learning:</a:t>
            </a:r>
            <a:endParaRPr sz="1400">
              <a:solidFill>
                <a:schemeClr val="dk1"/>
              </a:solidFill>
            </a:endParaRPr>
          </a:p>
          <a:p>
            <a:pPr indent="-296148" lvl="0" marL="457200" rtl="0" algn="l">
              <a:spcBef>
                <a:spcPts val="1200"/>
              </a:spcBef>
              <a:spcAft>
                <a:spcPts val="0"/>
              </a:spcAft>
              <a:buClr>
                <a:schemeClr val="dk1"/>
              </a:buClr>
              <a:buSzPct val="100000"/>
              <a:buChar char="●"/>
            </a:pPr>
            <a:r>
              <a:rPr lang="en-GB" sz="1150">
                <a:solidFill>
                  <a:schemeClr val="dk1"/>
                </a:solidFill>
              </a:rPr>
              <a:t>Role-Based Access Control (RBAC) and permission hierarchy.</a:t>
            </a:r>
            <a:endParaRPr sz="1150">
              <a:solidFill>
                <a:schemeClr val="dk1"/>
              </a:solidFill>
            </a:endParaRPr>
          </a:p>
          <a:p>
            <a:pPr indent="-296148" lvl="0" marL="457200" rtl="0" algn="l">
              <a:spcBef>
                <a:spcPts val="0"/>
              </a:spcBef>
              <a:spcAft>
                <a:spcPts val="0"/>
              </a:spcAft>
              <a:buClr>
                <a:schemeClr val="dk1"/>
              </a:buClr>
              <a:buSzPct val="100000"/>
              <a:buChar char="●"/>
            </a:pPr>
            <a:r>
              <a:rPr lang="en-GB" sz="1150">
                <a:solidFill>
                  <a:schemeClr val="dk1"/>
                </a:solidFill>
              </a:rPr>
              <a:t>Stage-wise workflow management and sequential processing.</a:t>
            </a:r>
            <a:endParaRPr sz="1150">
              <a:solidFill>
                <a:schemeClr val="dk1"/>
              </a:solidFill>
            </a:endParaRPr>
          </a:p>
          <a:p>
            <a:pPr indent="-296148" lvl="0" marL="457200" rtl="0" algn="l">
              <a:spcBef>
                <a:spcPts val="0"/>
              </a:spcBef>
              <a:spcAft>
                <a:spcPts val="0"/>
              </a:spcAft>
              <a:buClr>
                <a:schemeClr val="dk1"/>
              </a:buClr>
              <a:buSzPct val="100000"/>
              <a:buChar char="●"/>
            </a:pPr>
            <a:r>
              <a:rPr lang="en-GB" sz="1150">
                <a:solidFill>
                  <a:schemeClr val="dk1"/>
                </a:solidFill>
              </a:rPr>
              <a:t>Product lifecycle management and traceability using unique Product IDs.</a:t>
            </a:r>
            <a:endParaRPr sz="1150">
              <a:solidFill>
                <a:schemeClr val="dk1"/>
              </a:solidFill>
            </a:endParaRPr>
          </a:p>
          <a:p>
            <a:pPr indent="-296148" lvl="0" marL="457200" rtl="0" algn="l">
              <a:spcBef>
                <a:spcPts val="0"/>
              </a:spcBef>
              <a:spcAft>
                <a:spcPts val="0"/>
              </a:spcAft>
              <a:buClr>
                <a:schemeClr val="dk1"/>
              </a:buClr>
              <a:buSzPct val="100000"/>
              <a:buChar char="●"/>
            </a:pPr>
            <a:r>
              <a:rPr lang="en-GB" sz="1150">
                <a:solidFill>
                  <a:schemeClr val="dk1"/>
                </a:solidFill>
              </a:rPr>
              <a:t>Task allocation, progress monitoring, and digital documentation.</a:t>
            </a:r>
            <a:endParaRPr sz="1150">
              <a:solidFill>
                <a:schemeClr val="dk1"/>
              </a:solidFill>
            </a:endParaRPr>
          </a:p>
          <a:p>
            <a:pPr indent="-296148" lvl="0" marL="457200" rtl="0" algn="l">
              <a:spcBef>
                <a:spcPts val="0"/>
              </a:spcBef>
              <a:spcAft>
                <a:spcPts val="0"/>
              </a:spcAft>
              <a:buClr>
                <a:schemeClr val="dk1"/>
              </a:buClr>
              <a:buSzPct val="100000"/>
              <a:buChar char="●"/>
            </a:pPr>
            <a:r>
              <a:rPr lang="en-GB" sz="1150">
                <a:solidFill>
                  <a:schemeClr val="dk1"/>
                </a:solidFill>
              </a:rPr>
              <a:t>How multiple user roles collaborate within a centralized application.</a:t>
            </a:r>
            <a:endParaRPr sz="1150">
              <a:solidFill>
                <a:schemeClr val="dk1"/>
              </a:solidFill>
            </a:endParaRPr>
          </a:p>
          <a:p>
            <a:pPr indent="0" lvl="0" marL="0" rtl="0" algn="l">
              <a:spcBef>
                <a:spcPts val="1800"/>
              </a:spcBef>
              <a:spcAft>
                <a:spcPts val="0"/>
              </a:spcAft>
              <a:buClr>
                <a:schemeClr val="dk1"/>
              </a:buClr>
              <a:buSzPct val="78571"/>
              <a:buFont typeface="Arial"/>
              <a:buNone/>
            </a:pPr>
            <a:r>
              <a:rPr b="1" lang="en-GB" sz="1400">
                <a:solidFill>
                  <a:schemeClr val="dk1"/>
                </a:solidFill>
              </a:rPr>
              <a:t>Technologies Used:</a:t>
            </a:r>
            <a:endParaRPr b="1" sz="1400">
              <a:solidFill>
                <a:schemeClr val="dk1"/>
              </a:solidFill>
            </a:endParaRPr>
          </a:p>
          <a:p>
            <a:pPr indent="-296148" lvl="0" marL="457200" rtl="0" algn="l">
              <a:spcBef>
                <a:spcPts val="1200"/>
              </a:spcBef>
              <a:spcAft>
                <a:spcPts val="0"/>
              </a:spcAft>
              <a:buClr>
                <a:schemeClr val="dk1"/>
              </a:buClr>
              <a:buSzPct val="100000"/>
              <a:buChar char="●"/>
            </a:pPr>
            <a:r>
              <a:rPr b="1" lang="en-GB" sz="1150">
                <a:solidFill>
                  <a:schemeClr val="dk1"/>
                </a:solidFill>
              </a:rPr>
              <a:t>Frontend:</a:t>
            </a:r>
            <a:r>
              <a:rPr lang="en-GB" sz="1150">
                <a:solidFill>
                  <a:schemeClr val="dk1"/>
                </a:solidFill>
              </a:rPr>
              <a:t> React.js</a:t>
            </a:r>
            <a:endParaRPr sz="1150">
              <a:solidFill>
                <a:schemeClr val="dk1"/>
              </a:solidFill>
            </a:endParaRPr>
          </a:p>
          <a:p>
            <a:pPr indent="-296148" lvl="0" marL="457200" rtl="0" algn="l">
              <a:spcBef>
                <a:spcPts val="0"/>
              </a:spcBef>
              <a:spcAft>
                <a:spcPts val="0"/>
              </a:spcAft>
              <a:buClr>
                <a:schemeClr val="dk1"/>
              </a:buClr>
              <a:buSzPct val="100000"/>
              <a:buChar char="●"/>
            </a:pPr>
            <a:r>
              <a:rPr b="1" lang="en-GB" sz="1150">
                <a:solidFill>
                  <a:schemeClr val="dk1"/>
                </a:solidFill>
              </a:rPr>
              <a:t>Backend:</a:t>
            </a:r>
            <a:r>
              <a:rPr lang="en-GB" sz="1150">
                <a:solidFill>
                  <a:schemeClr val="dk1"/>
                </a:solidFill>
              </a:rPr>
              <a:t> Node.js, FastAPI</a:t>
            </a:r>
            <a:endParaRPr sz="1150">
              <a:solidFill>
                <a:schemeClr val="dk1"/>
              </a:solidFill>
            </a:endParaRPr>
          </a:p>
          <a:p>
            <a:pPr indent="-296148" lvl="0" marL="457200" rtl="0" algn="l">
              <a:spcBef>
                <a:spcPts val="0"/>
              </a:spcBef>
              <a:spcAft>
                <a:spcPts val="0"/>
              </a:spcAft>
              <a:buClr>
                <a:schemeClr val="dk1"/>
              </a:buClr>
              <a:buSzPct val="100000"/>
              <a:buChar char="●"/>
            </a:pPr>
            <a:r>
              <a:rPr b="1" lang="en-GB" sz="1150">
                <a:solidFill>
                  <a:schemeClr val="dk1"/>
                </a:solidFill>
              </a:rPr>
              <a:t>Database:</a:t>
            </a:r>
            <a:r>
              <a:rPr lang="en-GB" sz="1150">
                <a:solidFill>
                  <a:schemeClr val="dk1"/>
                </a:solidFill>
              </a:rPr>
              <a:t> PostgreSQL</a:t>
            </a:r>
            <a:endParaRPr sz="1150">
              <a:solidFill>
                <a:schemeClr val="dk1"/>
              </a:solidFill>
            </a:endParaRPr>
          </a:p>
          <a:p>
            <a:pPr indent="-296148" lvl="0" marL="457200" rtl="0" algn="l">
              <a:spcBef>
                <a:spcPts val="0"/>
              </a:spcBef>
              <a:spcAft>
                <a:spcPts val="0"/>
              </a:spcAft>
              <a:buClr>
                <a:schemeClr val="dk1"/>
              </a:buClr>
              <a:buSzPct val="100000"/>
              <a:buChar char="●"/>
            </a:pPr>
            <a:r>
              <a:rPr b="1" lang="en-GB" sz="1150">
                <a:solidFill>
                  <a:schemeClr val="dk1"/>
                </a:solidFill>
              </a:rPr>
              <a:t>Core Concepts:</a:t>
            </a:r>
            <a:r>
              <a:rPr lang="en-GB" sz="1150">
                <a:solidFill>
                  <a:schemeClr val="dk1"/>
                </a:solidFill>
              </a:rPr>
              <a:t> Workflow Management, Product Traceability, Digital Documentation, Quality Monitoring</a:t>
            </a:r>
            <a:endParaRPr sz="115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GB"/>
              <a:t>Industry 4.0 (GR TO UD)</a:t>
            </a:r>
            <a:endParaRPr/>
          </a:p>
        </p:txBody>
      </p:sp>
      <p:sp>
        <p:nvSpPr>
          <p:cNvPr id="121" name="Google Shape;121;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80000"/>
              </a:lnSpc>
              <a:spcBef>
                <a:spcPts val="0"/>
              </a:spcBef>
              <a:spcAft>
                <a:spcPts val="0"/>
              </a:spcAft>
              <a:buClr>
                <a:schemeClr val="dk1"/>
              </a:buClr>
              <a:buSzPts val="1100"/>
              <a:buFont typeface="Arial"/>
              <a:buNone/>
            </a:pPr>
            <a:r>
              <a:rPr b="1" lang="en-GB" sz="1300"/>
              <a:t>Overview:</a:t>
            </a:r>
            <a:endParaRPr b="1" sz="1300"/>
          </a:p>
          <a:p>
            <a:pPr indent="0" lvl="0" marL="0" rtl="0" algn="l">
              <a:lnSpc>
                <a:spcPct val="80000"/>
              </a:lnSpc>
              <a:spcBef>
                <a:spcPts val="1200"/>
              </a:spcBef>
              <a:spcAft>
                <a:spcPts val="0"/>
              </a:spcAft>
              <a:buNone/>
            </a:pPr>
            <a:r>
              <a:rPr lang="en-GB" sz="1100"/>
              <a:t>Aim: Automate</a:t>
            </a:r>
            <a:r>
              <a:rPr lang="en-GB" sz="1100"/>
              <a:t> </a:t>
            </a:r>
            <a:r>
              <a:rPr lang="en-GB" sz="1100"/>
              <a:t>GR to UD cycle by eliminating manual interventions such as PDF, inspection data, rejection tracking.</a:t>
            </a:r>
            <a:endParaRPr sz="1100"/>
          </a:p>
          <a:p>
            <a:pPr indent="0" lvl="0" marL="0" rtl="0" algn="l">
              <a:lnSpc>
                <a:spcPct val="80000"/>
              </a:lnSpc>
              <a:spcBef>
                <a:spcPts val="1200"/>
              </a:spcBef>
              <a:spcAft>
                <a:spcPts val="0"/>
              </a:spcAft>
              <a:buNone/>
            </a:pPr>
            <a:r>
              <a:rPr b="1" lang="en-GB" sz="1300"/>
              <a:t> Problems:</a:t>
            </a:r>
            <a:endParaRPr b="1" sz="1300"/>
          </a:p>
          <a:p>
            <a:pPr indent="-298450" lvl="0" marL="457200" rtl="0" algn="l">
              <a:lnSpc>
                <a:spcPct val="80000"/>
              </a:lnSpc>
              <a:spcBef>
                <a:spcPts val="1200"/>
              </a:spcBef>
              <a:spcAft>
                <a:spcPts val="0"/>
              </a:spcAft>
              <a:buSzPts val="1100"/>
              <a:buChar char="●"/>
            </a:pPr>
            <a:r>
              <a:rPr lang="en-GB" sz="1100"/>
              <a:t>Manual PDF upload.</a:t>
            </a:r>
            <a:endParaRPr sz="1100"/>
          </a:p>
          <a:p>
            <a:pPr indent="-298450" lvl="0" marL="457200" rtl="0" algn="l">
              <a:lnSpc>
                <a:spcPct val="80000"/>
              </a:lnSpc>
              <a:spcBef>
                <a:spcPts val="0"/>
              </a:spcBef>
              <a:spcAft>
                <a:spcPts val="0"/>
              </a:spcAft>
              <a:buSzPts val="1100"/>
              <a:buChar char="●"/>
            </a:pPr>
            <a:r>
              <a:rPr lang="en-GB" sz="1100"/>
              <a:t>Paper-based verification.</a:t>
            </a:r>
            <a:endParaRPr sz="1100"/>
          </a:p>
          <a:p>
            <a:pPr indent="-298450" lvl="0" marL="457200" rtl="0" algn="l">
              <a:lnSpc>
                <a:spcPct val="80000"/>
              </a:lnSpc>
              <a:spcBef>
                <a:spcPts val="0"/>
              </a:spcBef>
              <a:spcAft>
                <a:spcPts val="0"/>
              </a:spcAft>
              <a:buSzPts val="1100"/>
              <a:buChar char="●"/>
            </a:pPr>
            <a:r>
              <a:rPr lang="en-GB" sz="1100"/>
              <a:t>Manual GR &amp; UD.</a:t>
            </a:r>
            <a:endParaRPr sz="1100"/>
          </a:p>
          <a:p>
            <a:pPr indent="-298450" lvl="0" marL="457200" rtl="0" algn="l">
              <a:lnSpc>
                <a:spcPct val="80000"/>
              </a:lnSpc>
              <a:spcBef>
                <a:spcPts val="0"/>
              </a:spcBef>
              <a:spcAft>
                <a:spcPts val="0"/>
              </a:spcAft>
              <a:buSzPts val="1100"/>
              <a:buChar char="●"/>
            </a:pPr>
            <a:r>
              <a:rPr lang="en-GB" sz="1100"/>
              <a:t>Lengthy inspection cycles.</a:t>
            </a:r>
            <a:endParaRPr sz="1100"/>
          </a:p>
          <a:p>
            <a:pPr indent="-298450" lvl="0" marL="457200" rtl="0" algn="l">
              <a:lnSpc>
                <a:spcPct val="80000"/>
              </a:lnSpc>
              <a:spcBef>
                <a:spcPts val="0"/>
              </a:spcBef>
              <a:spcAft>
                <a:spcPts val="0"/>
              </a:spcAft>
              <a:buSzPts val="1100"/>
              <a:buChar char="●"/>
            </a:pPr>
            <a:r>
              <a:rPr lang="en-GB" sz="1100"/>
              <a:t>Manual tracking of rejected materials.</a:t>
            </a:r>
            <a:endParaRPr sz="1100"/>
          </a:p>
          <a:p>
            <a:pPr indent="0" lvl="0" marL="0" rtl="0" algn="l">
              <a:lnSpc>
                <a:spcPct val="80000"/>
              </a:lnSpc>
              <a:spcBef>
                <a:spcPts val="1200"/>
              </a:spcBef>
              <a:spcAft>
                <a:spcPts val="0"/>
              </a:spcAft>
              <a:buNone/>
            </a:pPr>
            <a:r>
              <a:rPr b="1" lang="en-GB" sz="1300"/>
              <a:t>Objectives:</a:t>
            </a:r>
            <a:endParaRPr b="1" sz="1300"/>
          </a:p>
          <a:p>
            <a:pPr indent="-298450" lvl="0" marL="457200" rtl="0" algn="l">
              <a:lnSpc>
                <a:spcPct val="80000"/>
              </a:lnSpc>
              <a:spcBef>
                <a:spcPts val="1200"/>
              </a:spcBef>
              <a:spcAft>
                <a:spcPts val="0"/>
              </a:spcAft>
              <a:buSzPts val="1100"/>
              <a:buChar char="●"/>
            </a:pPr>
            <a:r>
              <a:rPr lang="en-GB" sz="1100"/>
              <a:t>Reduce manual effort.</a:t>
            </a:r>
            <a:endParaRPr sz="1100"/>
          </a:p>
          <a:p>
            <a:pPr indent="-298450" lvl="0" marL="457200" rtl="0" algn="l">
              <a:lnSpc>
                <a:spcPct val="80000"/>
              </a:lnSpc>
              <a:spcBef>
                <a:spcPts val="0"/>
              </a:spcBef>
              <a:spcAft>
                <a:spcPts val="0"/>
              </a:spcAft>
              <a:buSzPts val="1100"/>
              <a:buChar char="●"/>
            </a:pPr>
            <a:r>
              <a:rPr lang="en-GB" sz="1100"/>
              <a:t>Improve operational accuracy &amp; reduce data errors.</a:t>
            </a:r>
            <a:endParaRPr sz="1100"/>
          </a:p>
          <a:p>
            <a:pPr indent="-298450" lvl="0" marL="457200" rtl="0" algn="l">
              <a:lnSpc>
                <a:spcPct val="80000"/>
              </a:lnSpc>
              <a:spcBef>
                <a:spcPts val="0"/>
              </a:spcBef>
              <a:spcAft>
                <a:spcPts val="0"/>
              </a:spcAft>
              <a:buSzPts val="1100"/>
              <a:buChar char="●"/>
            </a:pPr>
            <a:r>
              <a:rPr lang="en-GB" sz="1100"/>
              <a:t>Enable real-time tracking.</a:t>
            </a:r>
            <a:endParaRPr sz="1100"/>
          </a:p>
          <a:p>
            <a:pPr indent="-298450" lvl="0" marL="457200" rtl="0" algn="l">
              <a:lnSpc>
                <a:spcPct val="80000"/>
              </a:lnSpc>
              <a:spcBef>
                <a:spcPts val="0"/>
              </a:spcBef>
              <a:spcAft>
                <a:spcPts val="0"/>
              </a:spcAft>
              <a:buSzPts val="1100"/>
              <a:buChar char="●"/>
            </a:pPr>
            <a:r>
              <a:rPr lang="en-GB" sz="1100"/>
              <a:t>Introduce end-to-end traceability.</a:t>
            </a:r>
            <a:endParaRPr sz="1100"/>
          </a:p>
          <a:p>
            <a:pPr indent="-298450" lvl="0" marL="457200" rtl="0" algn="l">
              <a:lnSpc>
                <a:spcPct val="80000"/>
              </a:lnSpc>
              <a:spcBef>
                <a:spcPts val="0"/>
              </a:spcBef>
              <a:spcAft>
                <a:spcPts val="0"/>
              </a:spcAft>
              <a:buSzPts val="1100"/>
              <a:buChar char="●"/>
            </a:pPr>
            <a:r>
              <a:rPr lang="en-GB" sz="1100"/>
              <a:t>Accelerate approval, info &amp; decision boosting in SAP.</a:t>
            </a:r>
            <a:endParaRPr sz="1100"/>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6"/>
          <p:cNvSpPr txBox="1"/>
          <p:nvPr>
            <p:ph idx="1" type="body"/>
          </p:nvPr>
        </p:nvSpPr>
        <p:spPr>
          <a:xfrm>
            <a:off x="311700" y="378625"/>
            <a:ext cx="8520600" cy="4369500"/>
          </a:xfrm>
          <a:prstGeom prst="rect">
            <a:avLst/>
          </a:prstGeom>
        </p:spPr>
        <p:txBody>
          <a:bodyPr anchorCtr="0" anchor="t" bIns="91425" lIns="91425" spcFirstLastPara="1" rIns="91425" wrap="square" tIns="91425">
            <a:normAutofit/>
          </a:bodyPr>
          <a:lstStyle/>
          <a:p>
            <a:pPr indent="0" lvl="0" marL="0" rtl="0" algn="l">
              <a:lnSpc>
                <a:spcPct val="80000"/>
              </a:lnSpc>
              <a:spcBef>
                <a:spcPts val="0"/>
              </a:spcBef>
              <a:spcAft>
                <a:spcPts val="0"/>
              </a:spcAft>
              <a:buNone/>
            </a:pPr>
            <a:r>
              <a:rPr b="1" lang="en-GB" sz="1300"/>
              <a:t>Scope:</a:t>
            </a:r>
            <a:endParaRPr b="1" sz="1300"/>
          </a:p>
          <a:p>
            <a:pPr indent="-298450" lvl="0" marL="457200" rtl="0" algn="l">
              <a:lnSpc>
                <a:spcPct val="80000"/>
              </a:lnSpc>
              <a:spcBef>
                <a:spcPts val="1200"/>
              </a:spcBef>
              <a:spcAft>
                <a:spcPts val="0"/>
              </a:spcAft>
              <a:buSzPts val="1100"/>
              <a:buChar char="●"/>
            </a:pPr>
            <a:r>
              <a:rPr lang="en-GB" sz="1100"/>
              <a:t>Automate PDF.</a:t>
            </a:r>
            <a:endParaRPr sz="1100"/>
          </a:p>
          <a:p>
            <a:pPr indent="-298450" lvl="0" marL="457200" rtl="0" algn="l">
              <a:lnSpc>
                <a:spcPct val="80000"/>
              </a:lnSpc>
              <a:spcBef>
                <a:spcPts val="0"/>
              </a:spcBef>
              <a:spcAft>
                <a:spcPts val="0"/>
              </a:spcAft>
              <a:buSzPts val="1100"/>
              <a:buChar char="●"/>
            </a:pPr>
            <a:r>
              <a:rPr lang="en-GB" sz="1100"/>
              <a:t>Validate extracted PO.</a:t>
            </a:r>
            <a:endParaRPr sz="1100"/>
          </a:p>
          <a:p>
            <a:pPr indent="-298450" lvl="0" marL="457200" rtl="0" algn="l">
              <a:lnSpc>
                <a:spcPct val="80000"/>
              </a:lnSpc>
              <a:spcBef>
                <a:spcPts val="0"/>
              </a:spcBef>
              <a:spcAft>
                <a:spcPts val="0"/>
              </a:spcAft>
              <a:buSzPts val="1100"/>
              <a:buChar char="●"/>
            </a:pPr>
            <a:r>
              <a:rPr lang="en-GB" sz="1100"/>
              <a:t>Generate unique </a:t>
            </a:r>
            <a:r>
              <a:rPr lang="en-GB" sz="1100"/>
              <a:t>QR</a:t>
            </a:r>
            <a:r>
              <a:rPr lang="en-GB" sz="1100"/>
              <a:t> and barcode.</a:t>
            </a:r>
            <a:endParaRPr sz="1100"/>
          </a:p>
          <a:p>
            <a:pPr indent="-298450" lvl="0" marL="457200" rtl="0" algn="l">
              <a:lnSpc>
                <a:spcPct val="80000"/>
              </a:lnSpc>
              <a:spcBef>
                <a:spcPts val="0"/>
              </a:spcBef>
              <a:spcAft>
                <a:spcPts val="0"/>
              </a:spcAft>
              <a:buSzPts val="1100"/>
              <a:buChar char="●"/>
            </a:pPr>
            <a:r>
              <a:rPr lang="en-GB" sz="1100"/>
              <a:t>Automate GR posting using </a:t>
            </a:r>
            <a:r>
              <a:rPr lang="en-GB" sz="1100"/>
              <a:t>QR</a:t>
            </a:r>
            <a:r>
              <a:rPr lang="en-GB" sz="1100"/>
              <a:t> and barcode.</a:t>
            </a:r>
            <a:endParaRPr sz="1100"/>
          </a:p>
          <a:p>
            <a:pPr indent="-298450" lvl="0" marL="457200" rtl="0" algn="l">
              <a:lnSpc>
                <a:spcPct val="80000"/>
              </a:lnSpc>
              <a:spcBef>
                <a:spcPts val="0"/>
              </a:spcBef>
              <a:spcAft>
                <a:spcPts val="0"/>
              </a:spcAft>
              <a:buSzPts val="1100"/>
              <a:buChar char="●"/>
            </a:pPr>
            <a:r>
              <a:rPr lang="en-GB" sz="1100"/>
              <a:t>Capture inspection acceptance/rejection through the system.</a:t>
            </a:r>
            <a:endParaRPr sz="1100"/>
          </a:p>
          <a:p>
            <a:pPr indent="-298450" lvl="0" marL="457200" rtl="0" algn="l">
              <a:lnSpc>
                <a:spcPct val="80000"/>
              </a:lnSpc>
              <a:spcBef>
                <a:spcPts val="0"/>
              </a:spcBef>
              <a:spcAft>
                <a:spcPts val="0"/>
              </a:spcAft>
              <a:buSzPts val="1100"/>
              <a:buChar char="●"/>
            </a:pPr>
            <a:r>
              <a:rPr lang="en-GB" sz="1100"/>
              <a:t>Auto post UD decision in SAP.</a:t>
            </a:r>
            <a:endParaRPr sz="1100"/>
          </a:p>
          <a:p>
            <a:pPr indent="-298450" lvl="0" marL="457200" rtl="0" algn="l">
              <a:lnSpc>
                <a:spcPct val="80000"/>
              </a:lnSpc>
              <a:spcBef>
                <a:spcPts val="0"/>
              </a:spcBef>
              <a:spcAft>
                <a:spcPts val="0"/>
              </a:spcAft>
              <a:buSzPts val="1100"/>
              <a:buChar char="●"/>
            </a:pPr>
            <a:r>
              <a:rPr lang="en-GB" sz="1100"/>
              <a:t>Provide dashboard for monitoring &amp; reports.</a:t>
            </a:r>
            <a:endParaRPr sz="1100"/>
          </a:p>
          <a:p>
            <a:pPr indent="0" lvl="0" marL="0" rtl="0" algn="l">
              <a:lnSpc>
                <a:spcPct val="80000"/>
              </a:lnSpc>
              <a:spcBef>
                <a:spcPts val="1200"/>
              </a:spcBef>
              <a:spcAft>
                <a:spcPts val="0"/>
              </a:spcAft>
              <a:buNone/>
            </a:pPr>
            <a:r>
              <a:t/>
            </a:r>
            <a:endParaRPr sz="1100"/>
          </a:p>
          <a:p>
            <a:pPr indent="0" lvl="0" marL="0" rtl="0" algn="l">
              <a:lnSpc>
                <a:spcPct val="80000"/>
              </a:lnSpc>
              <a:spcBef>
                <a:spcPts val="1200"/>
              </a:spcBef>
              <a:spcAft>
                <a:spcPts val="0"/>
              </a:spcAft>
              <a:buNone/>
            </a:pPr>
            <a:r>
              <a:rPr b="1" lang="en-GB" sz="1300"/>
              <a:t>Users/Stakeholders:</a:t>
            </a:r>
            <a:endParaRPr b="1" sz="1300"/>
          </a:p>
          <a:p>
            <a:pPr indent="0" lvl="0" marL="0" rtl="0" algn="l">
              <a:spcBef>
                <a:spcPts val="1800"/>
              </a:spcBef>
              <a:spcAft>
                <a:spcPts val="0"/>
              </a:spcAft>
              <a:buClr>
                <a:schemeClr val="dk1"/>
              </a:buClr>
              <a:buSzPts val="1100"/>
              <a:buFont typeface="Arial"/>
              <a:buNone/>
            </a:pPr>
            <a:r>
              <a:rPr b="1" lang="en-GB" sz="1300" u="sng">
                <a:solidFill>
                  <a:schemeClr val="dk1"/>
                </a:solidFill>
              </a:rPr>
              <a:t>IG Store</a:t>
            </a:r>
            <a:endParaRPr b="1" sz="1300" u="sng">
              <a:solidFill>
                <a:schemeClr val="dk1"/>
              </a:solidFill>
            </a:endParaRPr>
          </a:p>
          <a:p>
            <a:pPr indent="0" lvl="0" marL="0" rtl="0" algn="l">
              <a:spcBef>
                <a:spcPts val="1200"/>
              </a:spcBef>
              <a:spcAft>
                <a:spcPts val="0"/>
              </a:spcAft>
              <a:buClr>
                <a:schemeClr val="dk1"/>
              </a:buClr>
              <a:buSzPts val="1100"/>
              <a:buFont typeface="Arial"/>
              <a:buNone/>
            </a:pPr>
            <a:r>
              <a:rPr b="1" lang="en-GB" sz="1100">
                <a:solidFill>
                  <a:schemeClr val="dk1"/>
                </a:solidFill>
              </a:rPr>
              <a:t>Responsibilities</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Receives incoming products from the Security Department.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Generates the </a:t>
            </a:r>
            <a:r>
              <a:rPr b="1" lang="en-GB" sz="1100">
                <a:solidFill>
                  <a:schemeClr val="dk1"/>
                </a:solidFill>
              </a:rPr>
              <a:t>Goods Receipt (GR)</a:t>
            </a:r>
            <a:r>
              <a:rPr lang="en-GB" sz="1100">
                <a:solidFill>
                  <a:schemeClr val="dk1"/>
                </a:solidFill>
              </a:rPr>
              <a:t> for every received product.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Records essential product information such as Product ID, Serial Number, and other identification details.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Generates and attaches </a:t>
            </a:r>
            <a:r>
              <a:rPr b="1" lang="en-GB" sz="1100">
                <a:solidFill>
                  <a:schemeClr val="dk1"/>
                </a:solidFill>
              </a:rPr>
              <a:t>QR Code</a:t>
            </a:r>
            <a:r>
              <a:rPr lang="en-GB" sz="1100">
                <a:solidFill>
                  <a:schemeClr val="dk1"/>
                </a:solidFill>
              </a:rPr>
              <a:t> and </a:t>
            </a:r>
            <a:r>
              <a:rPr b="1" lang="en-GB" sz="1100">
                <a:solidFill>
                  <a:schemeClr val="dk1"/>
                </a:solidFill>
              </a:rPr>
              <a:t>Barcode</a:t>
            </a:r>
            <a:r>
              <a:rPr lang="en-GB" sz="1100">
                <a:solidFill>
                  <a:schemeClr val="dk1"/>
                </a:solidFill>
              </a:rPr>
              <a:t> labels for product identification and traceability.</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Forwards the product to the appropriate Inspector for quality inspection.</a:t>
            </a:r>
            <a:endParaRPr sz="1100">
              <a:solidFill>
                <a:schemeClr val="dk1"/>
              </a:solidFill>
            </a:endParaRPr>
          </a:p>
          <a:p>
            <a:pPr indent="0" lvl="0" marL="0" rtl="0" algn="l">
              <a:lnSpc>
                <a:spcPct val="80000"/>
              </a:lnSpc>
              <a:spcBef>
                <a:spcPts val="1200"/>
              </a:spcBef>
              <a:spcAft>
                <a:spcPts val="1200"/>
              </a:spcAft>
              <a:buNone/>
            </a:pPr>
            <a:r>
              <a:t/>
            </a:r>
            <a:endParaRPr b="1" sz="13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7"/>
          <p:cNvSpPr txBox="1"/>
          <p:nvPr>
            <p:ph idx="1" type="body"/>
          </p:nvPr>
        </p:nvSpPr>
        <p:spPr>
          <a:xfrm>
            <a:off x="311700" y="471650"/>
            <a:ext cx="8520600" cy="4097100"/>
          </a:xfrm>
          <a:prstGeom prst="rect">
            <a:avLst/>
          </a:prstGeom>
        </p:spPr>
        <p:txBody>
          <a:bodyPr anchorCtr="0" anchor="t" bIns="91425" lIns="91425" spcFirstLastPara="1" rIns="91425" wrap="square" tIns="91425">
            <a:normAutofit lnSpcReduction="20000"/>
          </a:bodyPr>
          <a:lstStyle/>
          <a:p>
            <a:pPr indent="0" lvl="0" marL="0" rtl="0" algn="l">
              <a:spcBef>
                <a:spcPts val="1800"/>
              </a:spcBef>
              <a:spcAft>
                <a:spcPts val="0"/>
              </a:spcAft>
              <a:buClr>
                <a:schemeClr val="dk1"/>
              </a:buClr>
              <a:buSzPts val="1100"/>
              <a:buFont typeface="Arial"/>
              <a:buNone/>
            </a:pPr>
            <a:r>
              <a:rPr b="1" lang="en-GB" sz="1300" u="sng">
                <a:solidFill>
                  <a:schemeClr val="dk1"/>
                </a:solidFill>
              </a:rPr>
              <a:t>Material Inspector</a:t>
            </a:r>
            <a:endParaRPr b="1" sz="1300" u="sng">
              <a:solidFill>
                <a:schemeClr val="dk1"/>
              </a:solidFill>
            </a:endParaRPr>
          </a:p>
          <a:p>
            <a:pPr indent="0" lvl="0" marL="0" rtl="0" algn="l">
              <a:spcBef>
                <a:spcPts val="1200"/>
              </a:spcBef>
              <a:spcAft>
                <a:spcPts val="0"/>
              </a:spcAft>
              <a:buClr>
                <a:schemeClr val="dk1"/>
              </a:buClr>
              <a:buSzPts val="1100"/>
              <a:buFont typeface="Arial"/>
              <a:buNone/>
            </a:pPr>
            <a:r>
              <a:rPr b="1" lang="en-GB" sz="1100">
                <a:solidFill>
                  <a:schemeClr val="dk1"/>
                </a:solidFill>
              </a:rPr>
              <a:t>Responsibilities</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Inspects products assigned based on the product's serial number.</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Performs inspection according to predefined inspection guidelines.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Records inspection details in a digital inspection datasheet.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Verifies product measurements using appropriate measuring instruments.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Ensures all measurements fall within the specified tolerance limits.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Approves the product for further processing if inspection is successful if doubtful forwards to </a:t>
            </a:r>
            <a:r>
              <a:rPr lang="en-GB" sz="1100">
                <a:solidFill>
                  <a:schemeClr val="dk1"/>
                </a:solidFill>
              </a:rPr>
              <a:t>Indenter</a:t>
            </a:r>
            <a:r>
              <a:rPr lang="en-GB" sz="1100">
                <a:solidFill>
                  <a:schemeClr val="dk1"/>
                </a:solidFill>
              </a:rPr>
              <a:t>.</a:t>
            </a:r>
            <a:endParaRPr sz="1100">
              <a:solidFill>
                <a:schemeClr val="dk1"/>
              </a:solidFill>
            </a:endParaRPr>
          </a:p>
          <a:p>
            <a:pPr indent="0" lvl="0" marL="0" rtl="0" algn="l">
              <a:spcBef>
                <a:spcPts val="1800"/>
              </a:spcBef>
              <a:spcAft>
                <a:spcPts val="0"/>
              </a:spcAft>
              <a:buClr>
                <a:schemeClr val="dk1"/>
              </a:buClr>
              <a:buSzPts val="1100"/>
              <a:buFont typeface="Arial"/>
              <a:buNone/>
            </a:pPr>
            <a:r>
              <a:rPr b="1" lang="en-GB" sz="1300" u="sng">
                <a:solidFill>
                  <a:schemeClr val="dk1"/>
                </a:solidFill>
              </a:rPr>
              <a:t>S</a:t>
            </a:r>
            <a:r>
              <a:rPr b="1" lang="en-GB" sz="1300" u="sng">
                <a:solidFill>
                  <a:schemeClr val="dk1"/>
                </a:solidFill>
              </a:rPr>
              <a:t>ubcontract Inspector</a:t>
            </a:r>
            <a:endParaRPr b="1" sz="1300" u="sng">
              <a:solidFill>
                <a:schemeClr val="dk1"/>
              </a:solidFill>
            </a:endParaRPr>
          </a:p>
          <a:p>
            <a:pPr indent="0" lvl="0" marL="0" rtl="0" algn="l">
              <a:spcBef>
                <a:spcPts val="1200"/>
              </a:spcBef>
              <a:spcAft>
                <a:spcPts val="0"/>
              </a:spcAft>
              <a:buClr>
                <a:schemeClr val="dk1"/>
              </a:buClr>
              <a:buSzPts val="1100"/>
              <a:buFont typeface="Arial"/>
              <a:buNone/>
            </a:pPr>
            <a:r>
              <a:rPr b="1" lang="en-GB" sz="1100">
                <a:solidFill>
                  <a:schemeClr val="dk1"/>
                </a:solidFill>
              </a:rPr>
              <a:t>Responsibilities</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Inspects products received from subcontract vendors.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Performs inspection using the same quality guidelines and inspection standards.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Records inspection observations and measurement values.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Validates whether the product satisfies the required tolerance specifications.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Approves products that satisfy inspection criteria or forwards doubtful cases to </a:t>
            </a:r>
            <a:r>
              <a:rPr lang="en-GB" sz="1100">
                <a:solidFill>
                  <a:schemeClr val="dk1"/>
                </a:solidFill>
              </a:rPr>
              <a:t>Indenter</a:t>
            </a:r>
            <a:r>
              <a:rPr lang="en-GB" sz="1100">
                <a:solidFill>
                  <a:schemeClr val="dk1"/>
                </a:solidFill>
              </a:rPr>
              <a:t> for further review.</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8"/>
          <p:cNvSpPr txBox="1"/>
          <p:nvPr>
            <p:ph idx="1" type="body"/>
          </p:nvPr>
        </p:nvSpPr>
        <p:spPr>
          <a:xfrm>
            <a:off x="311700" y="384375"/>
            <a:ext cx="8520600" cy="4184400"/>
          </a:xfrm>
          <a:prstGeom prst="rect">
            <a:avLst/>
          </a:prstGeom>
        </p:spPr>
        <p:txBody>
          <a:bodyPr anchorCtr="0" anchor="t" bIns="91425" lIns="91425" spcFirstLastPara="1" rIns="91425" wrap="square" tIns="91425">
            <a:normAutofit lnSpcReduction="10000"/>
          </a:bodyPr>
          <a:lstStyle/>
          <a:p>
            <a:pPr indent="0" lvl="0" marL="0" rtl="0" algn="l">
              <a:spcBef>
                <a:spcPts val="1800"/>
              </a:spcBef>
              <a:spcAft>
                <a:spcPts val="0"/>
              </a:spcAft>
              <a:buClr>
                <a:schemeClr val="dk1"/>
              </a:buClr>
              <a:buSzPts val="1100"/>
              <a:buFont typeface="Arial"/>
              <a:buNone/>
            </a:pPr>
            <a:r>
              <a:rPr b="1" lang="en-GB" sz="1300" u="sng">
                <a:solidFill>
                  <a:schemeClr val="dk1"/>
                </a:solidFill>
              </a:rPr>
              <a:t>Indenter</a:t>
            </a:r>
            <a:endParaRPr b="1" sz="1300" u="sng">
              <a:solidFill>
                <a:schemeClr val="dk1"/>
              </a:solidFill>
            </a:endParaRPr>
          </a:p>
          <a:p>
            <a:pPr indent="0" lvl="0" marL="0" rtl="0" algn="l">
              <a:spcBef>
                <a:spcPts val="1200"/>
              </a:spcBef>
              <a:spcAft>
                <a:spcPts val="0"/>
              </a:spcAft>
              <a:buClr>
                <a:schemeClr val="dk1"/>
              </a:buClr>
              <a:buSzPts val="1100"/>
              <a:buFont typeface="Arial"/>
              <a:buNone/>
            </a:pPr>
            <a:r>
              <a:rPr b="1" lang="en-GB" sz="1100">
                <a:solidFill>
                  <a:schemeClr val="dk1"/>
                </a:solidFill>
              </a:rPr>
              <a:t>Responsibilities</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Acts as the person who originally placed the purchase order.</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Reviews products that require clarification after inspection.</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Examines the inspector's report and inspection findings.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Decides whether the product should continue for approval or be rejected.</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Places products in a </a:t>
            </a:r>
            <a:r>
              <a:rPr b="1" lang="en-GB" sz="1100">
                <a:solidFill>
                  <a:schemeClr val="dk1"/>
                </a:solidFill>
              </a:rPr>
              <a:t>Waiting</a:t>
            </a:r>
            <a:r>
              <a:rPr lang="en-GB" sz="1100">
                <a:solidFill>
                  <a:schemeClr val="dk1"/>
                </a:solidFill>
              </a:rPr>
              <a:t> state until the final usage decision is made.</a:t>
            </a:r>
            <a:endParaRPr sz="1100">
              <a:solidFill>
                <a:schemeClr val="dk1"/>
              </a:solidFill>
            </a:endParaRPr>
          </a:p>
          <a:p>
            <a:pPr indent="0" lvl="0" marL="0" rtl="0" algn="l">
              <a:spcBef>
                <a:spcPts val="1800"/>
              </a:spcBef>
              <a:spcAft>
                <a:spcPts val="0"/>
              </a:spcAft>
              <a:buClr>
                <a:schemeClr val="dk1"/>
              </a:buClr>
              <a:buSzPts val="1100"/>
              <a:buFont typeface="Arial"/>
              <a:buNone/>
            </a:pPr>
            <a:r>
              <a:rPr b="1" lang="en-GB" sz="1300" u="sng">
                <a:solidFill>
                  <a:schemeClr val="dk1"/>
                </a:solidFill>
              </a:rPr>
              <a:t>Approver</a:t>
            </a:r>
            <a:endParaRPr b="1" sz="1300" u="sng">
              <a:solidFill>
                <a:schemeClr val="dk1"/>
              </a:solidFill>
            </a:endParaRPr>
          </a:p>
          <a:p>
            <a:pPr indent="0" lvl="0" marL="0" rtl="0" algn="l">
              <a:spcBef>
                <a:spcPts val="1200"/>
              </a:spcBef>
              <a:spcAft>
                <a:spcPts val="0"/>
              </a:spcAft>
              <a:buClr>
                <a:schemeClr val="dk1"/>
              </a:buClr>
              <a:buSzPts val="1100"/>
              <a:buFont typeface="Arial"/>
              <a:buNone/>
            </a:pPr>
            <a:r>
              <a:rPr b="1" lang="en-GB" sz="1100">
                <a:solidFill>
                  <a:schemeClr val="dk1"/>
                </a:solidFill>
              </a:rPr>
              <a:t>Responsibilities</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Performs the final evaluation of the product.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Reviews inspection reports and the Indentor's recommendation.</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Makes the final </a:t>
            </a:r>
            <a:r>
              <a:rPr b="1" lang="en-GB" sz="1100">
                <a:solidFill>
                  <a:schemeClr val="dk1"/>
                </a:solidFill>
              </a:rPr>
              <a:t>Usage Decision (UD)</a:t>
            </a:r>
            <a:r>
              <a:rPr lang="en-GB"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Approves products for further departmental use or rejects them based on the inspection outcome.</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Completes the GR to UD process.</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9"/>
          <p:cNvSpPr txBox="1"/>
          <p:nvPr>
            <p:ph idx="1" type="body"/>
          </p:nvPr>
        </p:nvSpPr>
        <p:spPr>
          <a:xfrm>
            <a:off x="311700" y="396075"/>
            <a:ext cx="8520600" cy="4055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Workflow:</a:t>
            </a:r>
            <a:endParaRPr/>
          </a:p>
        </p:txBody>
      </p:sp>
      <p:pic>
        <p:nvPicPr>
          <p:cNvPr id="142" name="Google Shape;142;p29" title="d27b085a-0b49-493a-ac50-a973f8cf8ee6.jpg"/>
          <p:cNvPicPr preferRelativeResize="0"/>
          <p:nvPr/>
        </p:nvPicPr>
        <p:blipFill>
          <a:blip r:embed="rId3">
            <a:alphaModFix/>
          </a:blip>
          <a:stretch>
            <a:fillRect/>
          </a:stretch>
        </p:blipFill>
        <p:spPr>
          <a:xfrm>
            <a:off x="2721501" y="721875"/>
            <a:ext cx="2300225" cy="34037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PDM(Predictive </a:t>
            </a:r>
            <a:r>
              <a:rPr lang="en-GB"/>
              <a:t>maintenance</a:t>
            </a:r>
            <a:r>
              <a:rPr lang="en-GB"/>
              <a:t>)</a:t>
            </a:r>
            <a:endParaRPr/>
          </a:p>
        </p:txBody>
      </p:sp>
      <p:sp>
        <p:nvSpPr>
          <p:cNvPr id="148" name="Google Shape;148;p30"/>
          <p:cNvSpPr txBox="1"/>
          <p:nvPr>
            <p:ph idx="1" type="body"/>
          </p:nvPr>
        </p:nvSpPr>
        <p:spPr>
          <a:xfrm>
            <a:off x="311700" y="1152475"/>
            <a:ext cx="8520600" cy="3531600"/>
          </a:xfrm>
          <a:prstGeom prst="rect">
            <a:avLst/>
          </a:prstGeom>
        </p:spPr>
        <p:txBody>
          <a:bodyPr anchorCtr="0" anchor="t" bIns="91425" lIns="91425" spcFirstLastPara="1" rIns="91425" wrap="square" tIns="91425">
            <a:normAutofit fontScale="85000"/>
          </a:bodyPr>
          <a:lstStyle/>
          <a:p>
            <a:pPr indent="0" lvl="0" marL="0" rtl="0" algn="l">
              <a:spcBef>
                <a:spcPts val="1800"/>
              </a:spcBef>
              <a:spcAft>
                <a:spcPts val="0"/>
              </a:spcAft>
              <a:buClr>
                <a:schemeClr val="dk1"/>
              </a:buClr>
              <a:buSzPct val="70088"/>
              <a:buFont typeface="Arial"/>
              <a:buNone/>
            </a:pPr>
            <a:r>
              <a:rPr b="1" lang="en-GB" sz="1569">
                <a:solidFill>
                  <a:schemeClr val="dk1"/>
                </a:solidFill>
              </a:rPr>
              <a:t>Project Overview:</a:t>
            </a:r>
            <a:endParaRPr b="1" sz="1569">
              <a:solidFill>
                <a:schemeClr val="dk1"/>
              </a:solidFill>
            </a:endParaRPr>
          </a:p>
          <a:p>
            <a:pPr indent="-295529" lvl="0" marL="457200" rtl="0" algn="l">
              <a:spcBef>
                <a:spcPts val="1200"/>
              </a:spcBef>
              <a:spcAft>
                <a:spcPts val="0"/>
              </a:spcAft>
              <a:buClr>
                <a:schemeClr val="dk1"/>
              </a:buClr>
              <a:buSzPct val="100000"/>
              <a:buChar char="●"/>
            </a:pPr>
            <a:r>
              <a:rPr lang="en-GB" sz="1240">
                <a:solidFill>
                  <a:schemeClr val="dk1"/>
                </a:solidFill>
              </a:rPr>
              <a:t>Predictive Maintenance (PdM) is an intelligent monitoring system designed to continuously collect, store, visualize, and analyze sensor data from industrial components.</a:t>
            </a:r>
            <a:endParaRPr sz="1240">
              <a:solidFill>
                <a:schemeClr val="dk1"/>
              </a:solidFill>
            </a:endParaRPr>
          </a:p>
          <a:p>
            <a:pPr indent="-295529" lvl="0" marL="457200" rtl="0" algn="l">
              <a:spcBef>
                <a:spcPts val="0"/>
              </a:spcBef>
              <a:spcAft>
                <a:spcPts val="0"/>
              </a:spcAft>
              <a:buClr>
                <a:schemeClr val="dk1"/>
              </a:buClr>
              <a:buSzPct val="100000"/>
              <a:buChar char="●"/>
            </a:pPr>
            <a:r>
              <a:rPr lang="en-GB" sz="1240">
                <a:solidFill>
                  <a:schemeClr val="dk1"/>
                </a:solidFill>
              </a:rPr>
              <a:t>The project focuses on monitoring the health and operational status of multiple equipment components using real-time sensor data.</a:t>
            </a:r>
            <a:endParaRPr sz="1240">
              <a:solidFill>
                <a:schemeClr val="dk1"/>
              </a:solidFill>
            </a:endParaRPr>
          </a:p>
          <a:p>
            <a:pPr indent="-295529" lvl="0" marL="457200" rtl="0" algn="l">
              <a:spcBef>
                <a:spcPts val="0"/>
              </a:spcBef>
              <a:spcAft>
                <a:spcPts val="0"/>
              </a:spcAft>
              <a:buClr>
                <a:schemeClr val="dk1"/>
              </a:buClr>
              <a:buSzPct val="100000"/>
              <a:buChar char="●"/>
            </a:pPr>
            <a:r>
              <a:rPr lang="en-GB" sz="1240">
                <a:solidFill>
                  <a:schemeClr val="dk1"/>
                </a:solidFill>
              </a:rPr>
              <a:t>It enables early identification of abnormal operating conditions before equipment failure occurs.</a:t>
            </a:r>
            <a:endParaRPr sz="1240">
              <a:solidFill>
                <a:schemeClr val="dk1"/>
              </a:solidFill>
            </a:endParaRPr>
          </a:p>
          <a:p>
            <a:pPr indent="-295529" lvl="0" marL="457200" rtl="0" algn="l">
              <a:spcBef>
                <a:spcPts val="0"/>
              </a:spcBef>
              <a:spcAft>
                <a:spcPts val="0"/>
              </a:spcAft>
              <a:buClr>
                <a:schemeClr val="dk1"/>
              </a:buClr>
              <a:buSzPct val="100000"/>
              <a:buChar char="●"/>
            </a:pPr>
            <a:r>
              <a:rPr lang="en-GB" sz="1240">
                <a:solidFill>
                  <a:schemeClr val="dk1"/>
                </a:solidFill>
              </a:rPr>
              <a:t>Data is collected continuously through </a:t>
            </a:r>
            <a:r>
              <a:rPr b="1" lang="en-GB" sz="1240">
                <a:solidFill>
                  <a:schemeClr val="dk1"/>
                </a:solidFill>
              </a:rPr>
              <a:t>UDP communication</a:t>
            </a:r>
            <a:r>
              <a:rPr lang="en-GB" sz="1240">
                <a:solidFill>
                  <a:schemeClr val="dk1"/>
                </a:solidFill>
              </a:rPr>
              <a:t>, processed using a real-time data pipeline, and stored in specialized databases for monitoring and prediction.</a:t>
            </a:r>
            <a:endParaRPr sz="1240">
              <a:solidFill>
                <a:schemeClr val="dk1"/>
              </a:solidFill>
            </a:endParaRPr>
          </a:p>
          <a:p>
            <a:pPr indent="-295529" lvl="0" marL="457200" rtl="0" algn="l">
              <a:spcBef>
                <a:spcPts val="0"/>
              </a:spcBef>
              <a:spcAft>
                <a:spcPts val="0"/>
              </a:spcAft>
              <a:buClr>
                <a:schemeClr val="dk1"/>
              </a:buClr>
              <a:buSzPct val="100000"/>
              <a:buChar char="●"/>
            </a:pPr>
            <a:r>
              <a:rPr lang="en-GB" sz="1240">
                <a:solidFill>
                  <a:schemeClr val="dk1"/>
                </a:solidFill>
              </a:rPr>
              <a:t>Machine Learning models analyze historical sensor readings to predict potential failures and support maintenance planning.</a:t>
            </a:r>
            <a:endParaRPr sz="1240">
              <a:solidFill>
                <a:schemeClr val="dk1"/>
              </a:solidFill>
            </a:endParaRPr>
          </a:p>
          <a:p>
            <a:pPr indent="-295529" lvl="0" marL="457200" rtl="0" algn="l">
              <a:spcBef>
                <a:spcPts val="0"/>
              </a:spcBef>
              <a:spcAft>
                <a:spcPts val="0"/>
              </a:spcAft>
              <a:buClr>
                <a:schemeClr val="dk1"/>
              </a:buClr>
              <a:buSzPct val="100000"/>
              <a:buChar char="●"/>
            </a:pPr>
            <a:r>
              <a:rPr lang="en-GB" sz="1240">
                <a:solidFill>
                  <a:schemeClr val="dk1"/>
                </a:solidFill>
              </a:rPr>
              <a:t>The system combines real-time monitoring, historical data analysis, visualization dashboards, and AI-based prediction into a single platform.</a:t>
            </a:r>
            <a:endParaRPr sz="1240">
              <a:solidFill>
                <a:schemeClr val="dk1"/>
              </a:solidFill>
            </a:endParaRPr>
          </a:p>
          <a:p>
            <a:pPr indent="0" lvl="0" marL="0" rtl="0" algn="l">
              <a:spcBef>
                <a:spcPts val="2400"/>
              </a:spcBef>
              <a:spcAft>
                <a:spcPts val="0"/>
              </a:spcAft>
              <a:buNone/>
            </a:pPr>
            <a:r>
              <a:rPr b="1" lang="en-GB" sz="1532">
                <a:solidFill>
                  <a:schemeClr val="dk1"/>
                </a:solidFill>
              </a:rPr>
              <a:t>Problem Statement:</a:t>
            </a:r>
            <a:endParaRPr b="1" sz="1532">
              <a:solidFill>
                <a:schemeClr val="dk1"/>
              </a:solidFill>
            </a:endParaRPr>
          </a:p>
          <a:p>
            <a:pPr indent="0" lvl="0" marL="0" rtl="0" algn="l">
              <a:spcBef>
                <a:spcPts val="1200"/>
              </a:spcBef>
              <a:spcAft>
                <a:spcPts val="1200"/>
              </a:spcAft>
              <a:buNone/>
            </a:pPr>
            <a:r>
              <a:rPr lang="en-GB" sz="1315">
                <a:solidFill>
                  <a:schemeClr val="dk1"/>
                </a:solidFill>
              </a:rPr>
              <a:t>Industrial equipment often operates continuously, making manual monitoring difficult and inefficient. Traditional maintenance approaches either perform maintenance after equipment failure or follow fixed maintenance schedules, resulting in unnecessary downtime, increased maintenance costs, and unexpected equipment failures.</a:t>
            </a:r>
            <a:endParaRPr sz="1565"/>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1"/>
          <p:cNvSpPr txBox="1"/>
          <p:nvPr>
            <p:ph idx="1" type="body"/>
          </p:nvPr>
        </p:nvSpPr>
        <p:spPr>
          <a:xfrm>
            <a:off x="311700" y="436800"/>
            <a:ext cx="8520600" cy="4288200"/>
          </a:xfrm>
          <a:prstGeom prst="rect">
            <a:avLst/>
          </a:prstGeom>
        </p:spPr>
        <p:txBody>
          <a:bodyPr anchorCtr="0" anchor="t" bIns="91425" lIns="91425" spcFirstLastPara="1" rIns="91425" wrap="square" tIns="91425">
            <a:normAutofit/>
          </a:bodyPr>
          <a:lstStyle/>
          <a:p>
            <a:pPr indent="0" lvl="0" marL="0" rtl="0" algn="l">
              <a:spcBef>
                <a:spcPts val="2400"/>
              </a:spcBef>
              <a:spcAft>
                <a:spcPts val="0"/>
              </a:spcAft>
              <a:buClr>
                <a:schemeClr val="dk1"/>
              </a:buClr>
              <a:buSzPts val="1100"/>
              <a:buFont typeface="Arial"/>
              <a:buNone/>
            </a:pPr>
            <a:r>
              <a:rPr b="1" lang="en-GB" sz="1300">
                <a:solidFill>
                  <a:schemeClr val="dk1"/>
                </a:solidFill>
              </a:rPr>
              <a:t>Objective</a:t>
            </a:r>
            <a:endParaRPr b="1" sz="13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Continuously acquire sensor data from industrial equipment using UDP communication.</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Store real-time sensor readings efficiently for monitoring and analysis.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Visualize live and historical sensor data through interactive dashboards.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Detect abnormal operating conditions using sensor thresholds.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Predict equipment health using Machine Learning models.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Reduce unexpected equipment failures through predictive maintenance.</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Support data-driven maintenance planning and decision making.</a:t>
            </a:r>
            <a:endParaRPr sz="1100">
              <a:solidFill>
                <a:schemeClr val="dk1"/>
              </a:solidFill>
            </a:endParaRPr>
          </a:p>
          <a:p>
            <a:pPr indent="0" lvl="0" marL="0" rtl="0" algn="l">
              <a:spcBef>
                <a:spcPts val="2400"/>
              </a:spcBef>
              <a:spcAft>
                <a:spcPts val="0"/>
              </a:spcAft>
              <a:buNone/>
            </a:pPr>
            <a:r>
              <a:rPr b="1" lang="en-GB" sz="1300">
                <a:solidFill>
                  <a:schemeClr val="dk1"/>
                </a:solidFill>
              </a:rPr>
              <a:t>Components Monitored:</a:t>
            </a:r>
            <a:endParaRPr b="1" sz="1300">
              <a:solidFill>
                <a:schemeClr val="dk1"/>
              </a:solidFill>
            </a:endParaRPr>
          </a:p>
          <a:p>
            <a:pPr indent="0" lvl="0" marL="0" rtl="0" algn="l">
              <a:spcBef>
                <a:spcPts val="1400"/>
              </a:spcBef>
              <a:spcAft>
                <a:spcPts val="0"/>
              </a:spcAft>
              <a:buNone/>
            </a:pPr>
            <a:r>
              <a:rPr b="1" lang="en-GB" sz="1200" u="sng">
                <a:solidFill>
                  <a:schemeClr val="dk1"/>
                </a:solidFill>
              </a:rPr>
              <a:t>CWCM76/A190</a:t>
            </a:r>
            <a:endParaRPr b="1" sz="1200" u="sng">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CPU/Board-based component.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Monitored using temperature sensor readings.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Operating Levels:</a:t>
            </a:r>
            <a:endParaRPr sz="1100">
              <a:solidFill>
                <a:schemeClr val="dk1"/>
              </a:solidFill>
            </a:endParaRPr>
          </a:p>
          <a:p>
            <a:pPr indent="-298450" lvl="1" marL="914400" rtl="0" algn="l">
              <a:spcBef>
                <a:spcPts val="0"/>
              </a:spcBef>
              <a:spcAft>
                <a:spcPts val="0"/>
              </a:spcAft>
              <a:buClr>
                <a:schemeClr val="dk1"/>
              </a:buClr>
              <a:buSzPts val="1100"/>
              <a:buChar char="○"/>
            </a:pPr>
            <a:r>
              <a:rPr lang="en-GB" sz="1100">
                <a:solidFill>
                  <a:schemeClr val="dk1"/>
                </a:solidFill>
              </a:rPr>
              <a:t>Low : ≤ 40°C</a:t>
            </a:r>
            <a:endParaRPr sz="1100">
              <a:solidFill>
                <a:schemeClr val="dk1"/>
              </a:solidFill>
            </a:endParaRPr>
          </a:p>
          <a:p>
            <a:pPr indent="-298450" lvl="1" marL="914400" rtl="0" algn="l">
              <a:spcBef>
                <a:spcPts val="0"/>
              </a:spcBef>
              <a:spcAft>
                <a:spcPts val="0"/>
              </a:spcAft>
              <a:buClr>
                <a:schemeClr val="dk1"/>
              </a:buClr>
              <a:buSzPts val="1100"/>
              <a:buChar char="○"/>
            </a:pPr>
            <a:r>
              <a:rPr lang="en-GB" sz="1100">
                <a:solidFill>
                  <a:schemeClr val="dk1"/>
                </a:solidFill>
              </a:rPr>
              <a:t>Medium : 45–60°C</a:t>
            </a:r>
            <a:endParaRPr sz="1100">
              <a:solidFill>
                <a:schemeClr val="dk1"/>
              </a:solidFill>
            </a:endParaRPr>
          </a:p>
          <a:p>
            <a:pPr indent="-298450" lvl="1" marL="914400" rtl="0" algn="l">
              <a:spcBef>
                <a:spcPts val="0"/>
              </a:spcBef>
              <a:spcAft>
                <a:spcPts val="0"/>
              </a:spcAft>
              <a:buClr>
                <a:schemeClr val="dk1"/>
              </a:buClr>
              <a:buSzPts val="1100"/>
              <a:buChar char="○"/>
            </a:pPr>
            <a:r>
              <a:rPr lang="en-GB" sz="1100">
                <a:solidFill>
                  <a:schemeClr val="dk1"/>
                </a:solidFill>
              </a:rPr>
              <a:t>High : ≥ 100°C</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2"/>
          <p:cNvSpPr txBox="1"/>
          <p:nvPr>
            <p:ph idx="1" type="body"/>
          </p:nvPr>
        </p:nvSpPr>
        <p:spPr>
          <a:xfrm>
            <a:off x="311700" y="413475"/>
            <a:ext cx="8520600" cy="42531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n-GB" sz="1200" u="sng">
                <a:solidFill>
                  <a:schemeClr val="dk1"/>
                </a:solidFill>
              </a:rPr>
              <a:t>CWCMP&amp;SP</a:t>
            </a:r>
            <a:endParaRPr b="1" sz="14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CPU/Board-based component.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Temperature-based health monitoring.</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Uses predefined threshold values to determine operating condition.</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Temperature Ranges:</a:t>
            </a:r>
            <a:endParaRPr sz="1100">
              <a:solidFill>
                <a:schemeClr val="dk1"/>
              </a:solidFill>
            </a:endParaRPr>
          </a:p>
          <a:p>
            <a:pPr indent="-298450" lvl="1" marL="914400" rtl="0" algn="l">
              <a:spcBef>
                <a:spcPts val="0"/>
              </a:spcBef>
              <a:spcAft>
                <a:spcPts val="0"/>
              </a:spcAft>
              <a:buClr>
                <a:schemeClr val="dk1"/>
              </a:buClr>
              <a:buSzPts val="1100"/>
              <a:buChar char="○"/>
            </a:pPr>
            <a:r>
              <a:rPr lang="en-GB" sz="1100">
                <a:solidFill>
                  <a:schemeClr val="dk1"/>
                </a:solidFill>
              </a:rPr>
              <a:t>Low : ≤ 40°C</a:t>
            </a:r>
            <a:endParaRPr sz="1100">
              <a:solidFill>
                <a:schemeClr val="dk1"/>
              </a:solidFill>
            </a:endParaRPr>
          </a:p>
          <a:p>
            <a:pPr indent="-298450" lvl="1" marL="914400" rtl="0" algn="l">
              <a:spcBef>
                <a:spcPts val="0"/>
              </a:spcBef>
              <a:spcAft>
                <a:spcPts val="0"/>
              </a:spcAft>
              <a:buClr>
                <a:schemeClr val="dk1"/>
              </a:buClr>
              <a:buSzPts val="1100"/>
              <a:buChar char="○"/>
            </a:pPr>
            <a:r>
              <a:rPr lang="en-GB" sz="1100">
                <a:solidFill>
                  <a:schemeClr val="dk1"/>
                </a:solidFill>
              </a:rPr>
              <a:t>Medium : 45–60°C</a:t>
            </a:r>
            <a:endParaRPr sz="1100">
              <a:solidFill>
                <a:schemeClr val="dk1"/>
              </a:solidFill>
            </a:endParaRPr>
          </a:p>
          <a:p>
            <a:pPr indent="-298450" lvl="1" marL="914400" rtl="0" algn="l">
              <a:spcBef>
                <a:spcPts val="0"/>
              </a:spcBef>
              <a:spcAft>
                <a:spcPts val="0"/>
              </a:spcAft>
              <a:buClr>
                <a:schemeClr val="dk1"/>
              </a:buClr>
              <a:buSzPts val="1100"/>
              <a:buChar char="○"/>
            </a:pPr>
            <a:r>
              <a:rPr lang="en-GB" sz="1100">
                <a:solidFill>
                  <a:schemeClr val="dk1"/>
                </a:solidFill>
              </a:rPr>
              <a:t>High : ≥ 100°C</a:t>
            </a:r>
            <a:endParaRPr sz="1100">
              <a:solidFill>
                <a:schemeClr val="dk1"/>
              </a:solidFill>
            </a:endParaRPr>
          </a:p>
          <a:p>
            <a:pPr indent="0" lvl="0" marL="0" rtl="0" algn="l">
              <a:spcBef>
                <a:spcPts val="1400"/>
              </a:spcBef>
              <a:spcAft>
                <a:spcPts val="0"/>
              </a:spcAft>
              <a:buClr>
                <a:schemeClr val="dk1"/>
              </a:buClr>
              <a:buSzPts val="1100"/>
              <a:buFont typeface="Arial"/>
              <a:buNone/>
            </a:pPr>
            <a:r>
              <a:rPr b="1" lang="en-GB" sz="1200" u="sng">
                <a:solidFill>
                  <a:schemeClr val="dk1"/>
                </a:solidFill>
              </a:rPr>
              <a:t>RADAR</a:t>
            </a:r>
            <a:endParaRPr b="1" sz="1200" u="sng">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Industrial electronic component.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Continuously monitored through sensor readings.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Health status determined using collected operational parameters.</a:t>
            </a:r>
            <a:endParaRPr sz="1100">
              <a:solidFill>
                <a:schemeClr val="dk1"/>
              </a:solidFill>
            </a:endParaRPr>
          </a:p>
          <a:p>
            <a:pPr indent="0" lvl="0" marL="0" rtl="0" algn="l">
              <a:spcBef>
                <a:spcPts val="1400"/>
              </a:spcBef>
              <a:spcAft>
                <a:spcPts val="0"/>
              </a:spcAft>
              <a:buNone/>
            </a:pPr>
            <a:r>
              <a:rPr b="1" lang="en-GB" sz="1200" u="sng">
                <a:solidFill>
                  <a:schemeClr val="dk1"/>
                </a:solidFill>
              </a:rPr>
              <a:t>SERVO</a:t>
            </a:r>
            <a:endParaRPr b="1" sz="1200" u="sng">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Industrial electronic component.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Included in continuous condition monitoring.</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Sensor values contribute to predictive analysis.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3"/>
          <p:cNvSpPr txBox="1"/>
          <p:nvPr>
            <p:ph idx="1" type="body"/>
          </p:nvPr>
        </p:nvSpPr>
        <p:spPr>
          <a:xfrm>
            <a:off x="311700" y="425175"/>
            <a:ext cx="8520600" cy="4323000"/>
          </a:xfrm>
          <a:prstGeom prst="rect">
            <a:avLst/>
          </a:prstGeom>
        </p:spPr>
        <p:txBody>
          <a:bodyPr anchorCtr="0" anchor="t" bIns="91425" lIns="91425" spcFirstLastPara="1" rIns="91425" wrap="square" tIns="91425">
            <a:normAutofit fontScale="92500" lnSpcReduction="20000"/>
          </a:bodyPr>
          <a:lstStyle/>
          <a:p>
            <a:pPr indent="0" lvl="0" marL="0" rtl="0" algn="l">
              <a:spcBef>
                <a:spcPts val="1400"/>
              </a:spcBef>
              <a:spcAft>
                <a:spcPts val="0"/>
              </a:spcAft>
              <a:buClr>
                <a:schemeClr val="dk1"/>
              </a:buClr>
              <a:buSzPct val="91667"/>
              <a:buFont typeface="Arial"/>
              <a:buNone/>
            </a:pPr>
            <a:r>
              <a:rPr b="1" lang="en-GB" sz="1200" u="sng">
                <a:solidFill>
                  <a:schemeClr val="dk1"/>
                </a:solidFill>
              </a:rPr>
              <a:t>MOTOR</a:t>
            </a:r>
            <a:endParaRPr b="1" sz="1200" u="sng">
              <a:solidFill>
                <a:schemeClr val="dk1"/>
              </a:solidFill>
            </a:endParaRPr>
          </a:p>
          <a:p>
            <a:pPr indent="-293211" lvl="0" marL="457200" rtl="0" algn="l">
              <a:spcBef>
                <a:spcPts val="1200"/>
              </a:spcBef>
              <a:spcAft>
                <a:spcPts val="0"/>
              </a:spcAft>
              <a:buClr>
                <a:schemeClr val="dk1"/>
              </a:buClr>
              <a:buSzPct val="100000"/>
              <a:buChar char="●"/>
            </a:pPr>
            <a:r>
              <a:rPr lang="en-GB" sz="1100">
                <a:solidFill>
                  <a:schemeClr val="dk1"/>
                </a:solidFill>
              </a:rPr>
              <a:t>Motor component.</a:t>
            </a:r>
            <a:endParaRPr sz="1100">
              <a:solidFill>
                <a:schemeClr val="dk1"/>
              </a:solidFill>
            </a:endParaRPr>
          </a:p>
          <a:p>
            <a:pPr indent="-293211" lvl="0" marL="457200" rtl="0" algn="l">
              <a:spcBef>
                <a:spcPts val="0"/>
              </a:spcBef>
              <a:spcAft>
                <a:spcPts val="0"/>
              </a:spcAft>
              <a:buClr>
                <a:schemeClr val="dk1"/>
              </a:buClr>
              <a:buSzPct val="100000"/>
              <a:buChar char="●"/>
            </a:pPr>
            <a:r>
              <a:rPr lang="en-GB" sz="1100">
                <a:solidFill>
                  <a:schemeClr val="dk1"/>
                </a:solidFill>
              </a:rPr>
              <a:t>Monitored using </a:t>
            </a:r>
            <a:r>
              <a:rPr b="1" lang="en-GB" sz="1100">
                <a:solidFill>
                  <a:schemeClr val="dk1"/>
                </a:solidFill>
              </a:rPr>
              <a:t>Three-Phase Current</a:t>
            </a:r>
            <a:r>
              <a:rPr lang="en-GB" sz="1100">
                <a:solidFill>
                  <a:schemeClr val="dk1"/>
                </a:solidFill>
              </a:rPr>
              <a:t> measurements.</a:t>
            </a:r>
            <a:endParaRPr sz="1100">
              <a:solidFill>
                <a:schemeClr val="dk1"/>
              </a:solidFill>
            </a:endParaRPr>
          </a:p>
          <a:p>
            <a:pPr indent="-293211" lvl="0" marL="457200" rtl="0" algn="l">
              <a:spcBef>
                <a:spcPts val="0"/>
              </a:spcBef>
              <a:spcAft>
                <a:spcPts val="0"/>
              </a:spcAft>
              <a:buClr>
                <a:schemeClr val="dk1"/>
              </a:buClr>
              <a:buSzPct val="100000"/>
              <a:buChar char="●"/>
            </a:pPr>
            <a:r>
              <a:rPr lang="en-GB" sz="1100">
                <a:solidFill>
                  <a:schemeClr val="dk1"/>
                </a:solidFill>
              </a:rPr>
              <a:t>Current imbalance or abnormal current patterns may indicate overload, electrical faults, or motor degradation.</a:t>
            </a:r>
            <a:endParaRPr sz="1100">
              <a:solidFill>
                <a:schemeClr val="dk1"/>
              </a:solidFill>
            </a:endParaRPr>
          </a:p>
          <a:p>
            <a:pPr indent="-293211" lvl="0" marL="457200" rtl="0" algn="l">
              <a:spcBef>
                <a:spcPts val="0"/>
              </a:spcBef>
              <a:spcAft>
                <a:spcPts val="0"/>
              </a:spcAft>
              <a:buClr>
                <a:schemeClr val="dk1"/>
              </a:buClr>
              <a:buSzPct val="100000"/>
              <a:buChar char="●"/>
            </a:pPr>
            <a:r>
              <a:rPr lang="en-GB" sz="1100">
                <a:solidFill>
                  <a:schemeClr val="dk1"/>
                </a:solidFill>
              </a:rPr>
              <a:t>Sensor data is used to assess motor health and support predictive maintenance.</a:t>
            </a:r>
            <a:endParaRPr sz="1100">
              <a:solidFill>
                <a:schemeClr val="dk1"/>
              </a:solidFill>
            </a:endParaRPr>
          </a:p>
          <a:p>
            <a:pPr indent="0" lvl="0" marL="0" rtl="0" algn="l">
              <a:spcBef>
                <a:spcPts val="1200"/>
              </a:spcBef>
              <a:spcAft>
                <a:spcPts val="0"/>
              </a:spcAft>
              <a:buNone/>
            </a:pPr>
            <a:r>
              <a:rPr b="1" lang="en-GB" sz="1400">
                <a:solidFill>
                  <a:schemeClr val="dk1"/>
                </a:solidFill>
              </a:rPr>
              <a:t>Technology Stack:</a:t>
            </a:r>
            <a:endParaRPr b="1" sz="1400">
              <a:solidFill>
                <a:schemeClr val="dk1"/>
              </a:solidFill>
            </a:endParaRPr>
          </a:p>
          <a:p>
            <a:pPr indent="0" lvl="0" marL="0" rtl="0" algn="l">
              <a:spcBef>
                <a:spcPts val="1400"/>
              </a:spcBef>
              <a:spcAft>
                <a:spcPts val="0"/>
              </a:spcAft>
              <a:buNone/>
            </a:pPr>
            <a:r>
              <a:rPr b="1" lang="en-GB" sz="1300" u="sng">
                <a:solidFill>
                  <a:schemeClr val="dk1"/>
                </a:solidFill>
              </a:rPr>
              <a:t>Frontend</a:t>
            </a:r>
            <a:endParaRPr b="1" sz="1300" u="sng">
              <a:solidFill>
                <a:schemeClr val="dk1"/>
              </a:solidFill>
            </a:endParaRPr>
          </a:p>
          <a:p>
            <a:pPr indent="-293211" lvl="0" marL="457200" rtl="0" algn="l">
              <a:spcBef>
                <a:spcPts val="1200"/>
              </a:spcBef>
              <a:spcAft>
                <a:spcPts val="0"/>
              </a:spcAft>
              <a:buClr>
                <a:schemeClr val="dk1"/>
              </a:buClr>
              <a:buSzPct val="100000"/>
              <a:buChar char="●"/>
            </a:pPr>
            <a:r>
              <a:rPr lang="en-GB" sz="1100">
                <a:solidFill>
                  <a:schemeClr val="dk1"/>
                </a:solidFill>
              </a:rPr>
              <a:t>Dash Framework</a:t>
            </a:r>
            <a:endParaRPr sz="1100">
              <a:solidFill>
                <a:schemeClr val="dk1"/>
              </a:solidFill>
            </a:endParaRPr>
          </a:p>
          <a:p>
            <a:pPr indent="-293211" lvl="0" marL="457200" rtl="0" algn="l">
              <a:spcBef>
                <a:spcPts val="0"/>
              </a:spcBef>
              <a:spcAft>
                <a:spcPts val="0"/>
              </a:spcAft>
              <a:buClr>
                <a:schemeClr val="dk1"/>
              </a:buClr>
              <a:buSzPct val="100000"/>
              <a:buChar char="●"/>
            </a:pPr>
            <a:r>
              <a:rPr lang="en-GB" sz="1100">
                <a:solidFill>
                  <a:schemeClr val="dk1"/>
                </a:solidFill>
              </a:rPr>
              <a:t>React.js</a:t>
            </a:r>
            <a:endParaRPr sz="1100">
              <a:solidFill>
                <a:schemeClr val="dk1"/>
              </a:solidFill>
            </a:endParaRPr>
          </a:p>
          <a:p>
            <a:pPr indent="0" lvl="0" marL="0" rtl="0" algn="l">
              <a:spcBef>
                <a:spcPts val="1400"/>
              </a:spcBef>
              <a:spcAft>
                <a:spcPts val="0"/>
              </a:spcAft>
              <a:buNone/>
            </a:pPr>
            <a:r>
              <a:rPr b="1" lang="en-GB" sz="1300" u="sng">
                <a:solidFill>
                  <a:schemeClr val="dk1"/>
                </a:solidFill>
              </a:rPr>
              <a:t>Backend</a:t>
            </a:r>
            <a:endParaRPr b="1" sz="1300" u="sng">
              <a:solidFill>
                <a:schemeClr val="dk1"/>
              </a:solidFill>
            </a:endParaRPr>
          </a:p>
          <a:p>
            <a:pPr indent="-293211" lvl="0" marL="457200" rtl="0" algn="l">
              <a:spcBef>
                <a:spcPts val="1200"/>
              </a:spcBef>
              <a:spcAft>
                <a:spcPts val="0"/>
              </a:spcAft>
              <a:buClr>
                <a:schemeClr val="dk1"/>
              </a:buClr>
              <a:buSzPct val="100000"/>
              <a:buChar char="●"/>
            </a:pPr>
            <a:r>
              <a:rPr lang="en-GB" sz="1100">
                <a:solidFill>
                  <a:schemeClr val="dk1"/>
                </a:solidFill>
              </a:rPr>
              <a:t>Dash Framework</a:t>
            </a:r>
            <a:endParaRPr sz="1100">
              <a:solidFill>
                <a:schemeClr val="dk1"/>
              </a:solidFill>
            </a:endParaRPr>
          </a:p>
          <a:p>
            <a:pPr indent="-293211" lvl="0" marL="457200" rtl="0" algn="l">
              <a:spcBef>
                <a:spcPts val="0"/>
              </a:spcBef>
              <a:spcAft>
                <a:spcPts val="0"/>
              </a:spcAft>
              <a:buClr>
                <a:schemeClr val="dk1"/>
              </a:buClr>
              <a:buSzPct val="100000"/>
              <a:buChar char="●"/>
            </a:pPr>
            <a:r>
              <a:rPr lang="en-GB" sz="1100">
                <a:solidFill>
                  <a:schemeClr val="dk1"/>
                </a:solidFill>
              </a:rPr>
              <a:t>Node.js</a:t>
            </a:r>
            <a:endParaRPr sz="1100">
              <a:solidFill>
                <a:schemeClr val="dk1"/>
              </a:solidFill>
            </a:endParaRPr>
          </a:p>
          <a:p>
            <a:pPr indent="0" lvl="0" marL="0" rtl="0" algn="l">
              <a:spcBef>
                <a:spcPts val="1400"/>
              </a:spcBef>
              <a:spcAft>
                <a:spcPts val="0"/>
              </a:spcAft>
              <a:buNone/>
            </a:pPr>
            <a:r>
              <a:rPr b="1" lang="en-GB" sz="1300" u="sng">
                <a:solidFill>
                  <a:schemeClr val="dk1"/>
                </a:solidFill>
              </a:rPr>
              <a:t>Databases</a:t>
            </a:r>
            <a:endParaRPr b="1" sz="1300" u="sng">
              <a:solidFill>
                <a:schemeClr val="dk1"/>
              </a:solidFill>
            </a:endParaRPr>
          </a:p>
          <a:p>
            <a:pPr indent="-293211" lvl="0" marL="457200" rtl="0" algn="l">
              <a:spcBef>
                <a:spcPts val="1200"/>
              </a:spcBef>
              <a:spcAft>
                <a:spcPts val="0"/>
              </a:spcAft>
              <a:buClr>
                <a:schemeClr val="dk1"/>
              </a:buClr>
              <a:buSzPct val="100000"/>
              <a:buChar char="●"/>
            </a:pPr>
            <a:r>
              <a:rPr lang="en-GB" sz="1100">
                <a:solidFill>
                  <a:schemeClr val="dk1"/>
                </a:solidFill>
              </a:rPr>
              <a:t>InfluxDB (Time-Series Database)</a:t>
            </a:r>
            <a:endParaRPr sz="1100">
              <a:solidFill>
                <a:schemeClr val="dk1"/>
              </a:solidFill>
            </a:endParaRPr>
          </a:p>
          <a:p>
            <a:pPr indent="-293211" lvl="0" marL="457200" rtl="0" algn="l">
              <a:spcBef>
                <a:spcPts val="0"/>
              </a:spcBef>
              <a:spcAft>
                <a:spcPts val="0"/>
              </a:spcAft>
              <a:buClr>
                <a:schemeClr val="dk1"/>
              </a:buClr>
              <a:buSzPct val="100000"/>
              <a:buChar char="●"/>
            </a:pPr>
            <a:r>
              <a:rPr lang="en-GB" sz="1100">
                <a:solidFill>
                  <a:schemeClr val="dk1"/>
                </a:solidFill>
              </a:rPr>
              <a:t>PostgreSQL</a:t>
            </a:r>
            <a:endParaRPr sz="1100">
              <a:solidFill>
                <a:schemeClr val="dk1"/>
              </a:solidFill>
            </a:endParaRPr>
          </a:p>
          <a:p>
            <a:pPr indent="0" lvl="0" marL="0" rtl="0" algn="l">
              <a:spcBef>
                <a:spcPts val="1200"/>
              </a:spcBef>
              <a:spcAft>
                <a:spcPts val="1200"/>
              </a:spcAft>
              <a:buNone/>
            </a:pPr>
            <a:r>
              <a:t/>
            </a:r>
            <a:endParaRPr sz="11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4"/>
          <p:cNvSpPr txBox="1"/>
          <p:nvPr>
            <p:ph idx="1" type="body"/>
          </p:nvPr>
        </p:nvSpPr>
        <p:spPr>
          <a:xfrm>
            <a:off x="311700" y="436750"/>
            <a:ext cx="8520600" cy="4132200"/>
          </a:xfrm>
          <a:prstGeom prst="rect">
            <a:avLst/>
          </a:prstGeom>
        </p:spPr>
        <p:txBody>
          <a:bodyPr anchorCtr="0" anchor="t" bIns="91425" lIns="91425" spcFirstLastPara="1" rIns="91425" wrap="square" tIns="91425">
            <a:normAutofit lnSpcReduction="20000"/>
          </a:bodyPr>
          <a:lstStyle/>
          <a:p>
            <a:pPr indent="0" lvl="0" marL="0" rtl="0" algn="l">
              <a:spcBef>
                <a:spcPts val="1400"/>
              </a:spcBef>
              <a:spcAft>
                <a:spcPts val="0"/>
              </a:spcAft>
              <a:buNone/>
            </a:pPr>
            <a:r>
              <a:rPr b="1" lang="en-GB" sz="1200" u="sng">
                <a:solidFill>
                  <a:schemeClr val="dk1"/>
                </a:solidFill>
              </a:rPr>
              <a:t>Data Handling</a:t>
            </a:r>
            <a:endParaRPr b="1" sz="1200" u="sng">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UDP Sender &amp; Receiver</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Redis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CSV Files</a:t>
            </a:r>
            <a:endParaRPr b="1" sz="2300">
              <a:solidFill>
                <a:schemeClr val="dk1"/>
              </a:solidFill>
            </a:endParaRPr>
          </a:p>
          <a:p>
            <a:pPr indent="0" lvl="0" marL="0" rtl="0" algn="l">
              <a:spcBef>
                <a:spcPts val="1400"/>
              </a:spcBef>
              <a:spcAft>
                <a:spcPts val="0"/>
              </a:spcAft>
              <a:buNone/>
            </a:pPr>
            <a:r>
              <a:rPr b="1" lang="en-GB" sz="1200" u="sng">
                <a:solidFill>
                  <a:schemeClr val="dk1"/>
                </a:solidFill>
              </a:rPr>
              <a:t>Machine Learning</a:t>
            </a:r>
            <a:endParaRPr b="1" sz="1200" u="sng">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LSTM</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Random Forest</a:t>
            </a:r>
            <a:endParaRPr b="1" sz="2300">
              <a:solidFill>
                <a:schemeClr val="dk1"/>
              </a:solidFill>
            </a:endParaRPr>
          </a:p>
          <a:p>
            <a:pPr indent="0" lvl="0" marL="0" rtl="0" algn="l">
              <a:spcBef>
                <a:spcPts val="2400"/>
              </a:spcBef>
              <a:spcAft>
                <a:spcPts val="0"/>
              </a:spcAft>
              <a:buClr>
                <a:schemeClr val="dk1"/>
              </a:buClr>
              <a:buSzPts val="1100"/>
              <a:buFont typeface="Arial"/>
              <a:buNone/>
            </a:pPr>
            <a:r>
              <a:rPr b="1" lang="en-GB" sz="1400">
                <a:solidFill>
                  <a:schemeClr val="dk1"/>
                </a:solidFill>
              </a:rPr>
              <a:t>Conclusion:</a:t>
            </a:r>
            <a:endParaRPr b="1" sz="14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The Predictive Maintenance system integrates real-time data acquisition, visualization, database management, and Machine Learning into a unified monitoring platform.</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It enables continuous equipment health monitoring through live sensor data and historical trend analysis.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By combining intelligent prediction models with real-time dashboards, the system supports proactive maintenance planning, reduces unexpected failures, and improves equipment reliability.</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The project demonstrates how modern industrial applications leverage IoT communication, time-series databases, and AI to enhance maintenance efficiency.</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5"/>
          <p:cNvSpPr txBox="1"/>
          <p:nvPr>
            <p:ph idx="1" type="body"/>
          </p:nvPr>
        </p:nvSpPr>
        <p:spPr>
          <a:xfrm>
            <a:off x="288425" y="63462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GB" sz="1300">
                <a:solidFill>
                  <a:schemeClr val="dk1"/>
                </a:solidFill>
              </a:rPr>
              <a:t>Learning:</a:t>
            </a:r>
            <a:endParaRPr b="1" sz="13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Through studying this project, I gained an understanding of:</a:t>
            </a:r>
            <a:endParaRPr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Predictive Maintenance concepts and industrial monitoring systems.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Application development using </a:t>
            </a:r>
            <a:r>
              <a:rPr b="1" lang="en-GB" sz="1100">
                <a:solidFill>
                  <a:schemeClr val="dk1"/>
                </a:solidFill>
              </a:rPr>
              <a:t>React.js</a:t>
            </a:r>
            <a:r>
              <a:rPr lang="en-GB" sz="1100">
                <a:solidFill>
                  <a:schemeClr val="dk1"/>
                </a:solidFill>
              </a:rPr>
              <a:t> and </a:t>
            </a:r>
            <a:r>
              <a:rPr b="1" lang="en-GB" sz="1100">
                <a:solidFill>
                  <a:schemeClr val="dk1"/>
                </a:solidFill>
              </a:rPr>
              <a:t>Node.js</a:t>
            </a:r>
            <a:r>
              <a:rPr lang="en-GB"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Database integration using </a:t>
            </a:r>
            <a:r>
              <a:rPr b="1" lang="en-GB" sz="1100">
                <a:solidFill>
                  <a:schemeClr val="dk1"/>
                </a:solidFill>
              </a:rPr>
              <a:t>PostgreSQL</a:t>
            </a:r>
            <a:r>
              <a:rPr lang="en-GB"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Machine Learning-based prediction using </a:t>
            </a:r>
            <a:r>
              <a:rPr b="1" lang="en-GB" sz="1100">
                <a:solidFill>
                  <a:schemeClr val="dk1"/>
                </a:solidFill>
              </a:rPr>
              <a:t>LSTM</a:t>
            </a:r>
            <a:r>
              <a:rPr lang="en-GB" sz="1100">
                <a:solidFill>
                  <a:schemeClr val="dk1"/>
                </a:solidFill>
              </a:rPr>
              <a:t> and </a:t>
            </a:r>
            <a:r>
              <a:rPr b="1" lang="en-GB" sz="1100">
                <a:solidFill>
                  <a:schemeClr val="dk1"/>
                </a:solidFill>
              </a:rPr>
              <a:t>Random Forest</a:t>
            </a:r>
            <a:r>
              <a:rPr lang="en-GB"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Industrial equipment health monitoring using temperature and motor current analysis.</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End-to-end data flow from sensor acquisition to predictive analytics.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