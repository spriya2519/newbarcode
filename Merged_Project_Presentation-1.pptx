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h6cf9211c1eb07623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h6cf9211c1eb0762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h6cf9211c1eb07623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h6cf9211c1eb0762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h6cf9211c1eb07623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6cf9211c1eb07623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h6cf9211c1eb07623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h6cf9211c1eb07623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h6cf9211c1eb07623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h6cf9211c1eb07623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h6cf9211c1eb07623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h6cf9211c1eb07623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h33206cd1bf2339e9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h33206cd1bf2339e9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h33206cd1bf2339e9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h33206cd1bf2339e9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h33206cd1bf2339e9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h33206cd1bf2339e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h33206cd1bf2339e9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h33206cd1bf2339e9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h6cf9211c1eb07623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h6cf9211c1eb0762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h6cf9211c1eb07623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h6cf9211c1eb0762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h6cf9211c1eb0762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h6cf9211c1eb0762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h6cf9211c1eb07623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h6cf9211c1eb0762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h6cf9211c1eb07623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h6cf9211c1eb0762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h6cf9211c1eb07623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h6cf9211c1eb0762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6cf9211c1eb07623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h6cf9211c1eb0762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h6cf9211c1eb07623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h6cf9211c1eb07623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h6cf9211c1eb07623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h6cf9211c1eb07623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h6cf9211c1eb07623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h6cf9211c1eb07623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h6cf9211c1eb07623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h6cf9211c1eb07623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6cf9211c1eb07623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6cf9211c1eb0762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7.xml"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3.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3.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Project summary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JavaScript Learning </a:t>
            </a:r>
            <a:endParaRPr/>
          </a:p>
        </p:txBody>
      </p:sp>
      <p:sp>
        <p:nvSpPr>
          <p:cNvPr id="61" name="Google Shape;61;p14"/>
          <p:cNvSpPr txBox="1">
            <a:spLocks noGrp="1"/>
          </p:cNvSpPr>
          <p:nvPr>
            <p:ph type="body" idx="1"/>
          </p:nvPr>
        </p:nvSpPr>
        <p:spPr>
          <a:xfrm>
            <a:off x="311700" y="1152475"/>
            <a:ext cx="8520600" cy="36597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Clr>
                <a:schemeClr val="dk1"/>
              </a:buClr>
              <a:buSzPts val="1100"/>
              <a:buFont typeface="Arial"/>
              <a:buNone/>
            </a:pPr>
            <a:r>
              <a:rPr lang="en-GB" sz="1700" b="1">
                <a:solidFill>
                  <a:schemeClr val="dk1"/>
                </a:solidFill>
              </a:rPr>
              <a:t>JavaScript Training</a:t>
            </a:r>
            <a:endParaRPr sz="1700" b="1">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Overview</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Studied JavaScript fundamentals to build a strong foundation for frontend web development.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Learned the core programming concepts required for developing dynamic and interactive web applications.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Gained an understanding of how JavaScript interacts with HTML, CSS, and browser elements to create responsive user interfaces.</a:t>
            </a:r>
            <a:endParaRPr sz="1100">
              <a:solidFill>
                <a:schemeClr val="dk1"/>
              </a:solidFill>
            </a:endParaRPr>
          </a:p>
          <a:p>
            <a:pPr marL="0" lvl="0" indent="0" algn="l" rtl="0">
              <a:spcBef>
                <a:spcPts val="1400"/>
              </a:spcBef>
              <a:spcAft>
                <a:spcPts val="0"/>
              </a:spcAft>
              <a:buNone/>
            </a:pPr>
            <a:r>
              <a:rPr lang="en-GB" sz="1300" b="1">
                <a:solidFill>
                  <a:schemeClr val="dk1"/>
                </a:solidFill>
              </a:rPr>
              <a:t>Topics Covered</a:t>
            </a:r>
            <a:endParaRPr sz="1300" b="1">
              <a:solidFill>
                <a:schemeClr val="dk1"/>
              </a:solidFill>
            </a:endParaRPr>
          </a:p>
          <a:p>
            <a:pPr marL="0" lvl="0" indent="0" algn="l" rtl="0">
              <a:spcBef>
                <a:spcPts val="1200"/>
              </a:spcBef>
              <a:spcAft>
                <a:spcPts val="0"/>
              </a:spcAft>
              <a:buNone/>
            </a:pPr>
            <a:r>
              <a:rPr lang="en-GB" sz="1100" b="1">
                <a:solidFill>
                  <a:schemeClr val="dk1"/>
                </a:solidFill>
              </a:rPr>
              <a:t>JavaScript Fundamentals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JavaScript Introduction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JavaScript Syntax</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Variables and Data Types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JavaScript Output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JavaScript Operators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body" idx="1"/>
          </p:nvPr>
        </p:nvSpPr>
        <p:spPr>
          <a:xfrm>
            <a:off x="311700" y="617125"/>
            <a:ext cx="8520600" cy="3951900"/>
          </a:xfrm>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Clr>
                <a:schemeClr val="dk1"/>
              </a:buClr>
              <a:buSzPts val="1100"/>
              <a:buFont typeface="Arial"/>
              <a:buNone/>
            </a:pPr>
            <a:r>
              <a:rPr lang="en-GB" sz="1100" b="1">
                <a:solidFill>
                  <a:schemeClr val="dk1"/>
                </a:solidFill>
              </a:rPr>
              <a:t>Programming Concepts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Conditional Statements (If, Else, Switch)</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Loops and Iterations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Functions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Scope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Objects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Arrays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Strings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Numbers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Sets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Maps</a:t>
            </a:r>
            <a:endParaRPr sz="1100">
              <a:solidFill>
                <a:schemeClr val="dk1"/>
              </a:solidFill>
            </a:endParaRPr>
          </a:p>
          <a:p>
            <a:pPr marL="0" lvl="0" indent="0" algn="l" rtl="0">
              <a:spcBef>
                <a:spcPts val="1200"/>
              </a:spcBef>
              <a:spcAft>
                <a:spcPts val="0"/>
              </a:spcAft>
              <a:buNone/>
            </a:pPr>
            <a:r>
              <a:rPr lang="en-GB" sz="1100" b="1">
                <a:solidFill>
                  <a:schemeClr val="dk1"/>
                </a:solidFill>
              </a:rPr>
              <a:t>Advanced JavaScript</a:t>
            </a:r>
            <a:endParaRPr sz="1100">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Regular Expressions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Error Handling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Modern JavaScript (ES6)</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React.js Learning </a:t>
            </a:r>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300" b="1">
                <a:solidFill>
                  <a:schemeClr val="dk1"/>
                </a:solidFill>
              </a:rPr>
              <a:t>Overview</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Learned React.js to understand modern frontend application development.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Studied component-based architecture for building scalable and reusable user interfaces.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Gained practical knowledge of React fundamentals required for enterprise web applications.</a:t>
            </a:r>
            <a:endParaRPr sz="1100">
              <a:solidFill>
                <a:schemeClr val="dk1"/>
              </a:solidFill>
            </a:endParaRPr>
          </a:p>
          <a:p>
            <a:pPr marL="0" lvl="0" indent="0" algn="l" rtl="0">
              <a:spcBef>
                <a:spcPts val="1400"/>
              </a:spcBef>
              <a:spcAft>
                <a:spcPts val="0"/>
              </a:spcAft>
              <a:buNone/>
            </a:pPr>
            <a:r>
              <a:rPr lang="en-GB" sz="1300" b="1">
                <a:solidFill>
                  <a:schemeClr val="dk1"/>
                </a:solidFill>
              </a:rPr>
              <a:t>Topics Covered</a:t>
            </a:r>
            <a:endParaRPr sz="1300" b="1">
              <a:solidFill>
                <a:schemeClr val="dk1"/>
              </a:solidFill>
            </a:endParaRPr>
          </a:p>
          <a:p>
            <a:pPr marL="0" lvl="0" indent="0" algn="l" rtl="0">
              <a:spcBef>
                <a:spcPts val="1200"/>
              </a:spcBef>
              <a:spcAft>
                <a:spcPts val="0"/>
              </a:spcAft>
              <a:buNone/>
            </a:pPr>
            <a:r>
              <a:rPr lang="en-GB" sz="1100" b="1">
                <a:solidFill>
                  <a:schemeClr val="dk1"/>
                </a:solidFill>
              </a:rPr>
              <a:t>React Fundamentals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React Introduction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Project Setup</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First React Application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Rendering HTML</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React Upgrade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ES6 Features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body" idx="1"/>
          </p:nvPr>
        </p:nvSpPr>
        <p:spPr>
          <a:xfrm>
            <a:off x="311700" y="413475"/>
            <a:ext cx="8520600" cy="41553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100" b="1">
                <a:solidFill>
                  <a:schemeClr val="dk1"/>
                </a:solidFill>
              </a:rPr>
              <a:t>JSX</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JSX Introduction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JSX Expressions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JSX Attributes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Conditional Rendering</a:t>
            </a:r>
            <a:endParaRPr sz="1100">
              <a:solidFill>
                <a:schemeClr val="dk1"/>
              </a:solidFill>
            </a:endParaRPr>
          </a:p>
          <a:p>
            <a:pPr marL="0" lvl="0" indent="0" algn="l" rtl="0">
              <a:spcBef>
                <a:spcPts val="1200"/>
              </a:spcBef>
              <a:spcAft>
                <a:spcPts val="0"/>
              </a:spcAft>
              <a:buNone/>
            </a:pPr>
            <a:r>
              <a:rPr lang="en-GB" sz="1100" b="1">
                <a:solidFill>
                  <a:schemeClr val="dk1"/>
                </a:solidFill>
              </a:rPr>
              <a:t>Component Architecture</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React Components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Class Components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Functional Components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Component Reusability</a:t>
            </a:r>
            <a:endParaRPr sz="1100">
              <a:solidFill>
                <a:schemeClr val="dk1"/>
              </a:solidFill>
            </a:endParaRPr>
          </a:p>
          <a:p>
            <a:pPr marL="0" lvl="0" indent="0" algn="l" rtl="0">
              <a:spcBef>
                <a:spcPts val="1200"/>
              </a:spcBef>
              <a:spcAft>
                <a:spcPts val="0"/>
              </a:spcAft>
              <a:buNone/>
            </a:pPr>
            <a:r>
              <a:rPr lang="en-GB" sz="1100" b="1">
                <a:solidFill>
                  <a:schemeClr val="dk1"/>
                </a:solidFill>
              </a:rPr>
              <a:t>Props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Props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Props Destructuring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Props Children</a:t>
            </a:r>
            <a:endParaRPr sz="1100">
              <a:solidFill>
                <a:schemeClr val="dk1"/>
              </a:solidFill>
            </a:endParaRPr>
          </a:p>
          <a:p>
            <a:pPr marL="0" lvl="0" indent="0" algn="l" rtl="0">
              <a:spcBef>
                <a:spcPts val="1200"/>
              </a:spcBef>
              <a:spcAft>
                <a:spcPts val="1200"/>
              </a:spcAft>
              <a:buNone/>
            </a:pP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body" idx="1"/>
          </p:nvPr>
        </p:nvSpPr>
        <p:spPr>
          <a:xfrm>
            <a:off x="311700" y="460025"/>
            <a:ext cx="8520600" cy="41088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100" b="1">
                <a:solidFill>
                  <a:schemeClr val="dk1"/>
                </a:solidFill>
              </a:rPr>
              <a:t>React Hooks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useState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useEffect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useContext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useRef</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useReducer</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 Callback</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useMemo</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Custom Hooks</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Overall Learning Outcome </a:t>
            </a:r>
            <a:endParaRPr/>
          </a:p>
        </p:txBody>
      </p:sp>
      <p:sp>
        <p:nvSpPr>
          <p:cNvPr id="88" name="Google Shape;88;p19"/>
          <p:cNvSpPr txBox="1">
            <a:spLocks noGrp="1"/>
          </p:cNvSpPr>
          <p:nvPr>
            <p:ph type="body" idx="1"/>
          </p:nvPr>
        </p:nvSpPr>
        <p:spPr>
          <a:xfrm>
            <a:off x="311700" y="1152475"/>
            <a:ext cx="8520600" cy="3671400"/>
          </a:xfrm>
          <a:prstGeom prst="rect">
            <a:avLst/>
          </a:prstGeom>
        </p:spPr>
        <p:txBody>
          <a:bodyPr spcFirstLastPara="1" wrap="square" lIns="91425" tIns="91425" rIns="91425" bIns="91425" anchor="t" anchorCtr="0">
            <a:normAutofit fontScale="92500" lnSpcReduction="20000"/>
          </a:bodyPr>
          <a:lstStyle/>
          <a:p>
            <a:pPr marL="0" lvl="0" indent="0" algn="l" rtl="0">
              <a:spcBef>
                <a:spcPts val="1400"/>
              </a:spcBef>
              <a:spcAft>
                <a:spcPts val="0"/>
              </a:spcAft>
              <a:buClr>
                <a:schemeClr val="dk1"/>
              </a:buClr>
              <a:buSzPct val="84615"/>
              <a:buFont typeface="Arial"/>
              <a:buNone/>
            </a:pPr>
            <a:r>
              <a:rPr lang="en-GB" sz="1300" b="1">
                <a:solidFill>
                  <a:schemeClr val="dk1"/>
                </a:solidFill>
              </a:rPr>
              <a:t>Frontend Development Skills</a:t>
            </a:r>
            <a:endParaRPr sz="1300" b="1">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Built a foundation in React.js.</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Learned reusable component development.</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Understood state and props management.</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Learned modern UI development practices.</a:t>
            </a:r>
            <a:endParaRPr sz="1100">
              <a:solidFill>
                <a:schemeClr val="dk1"/>
              </a:solidFill>
            </a:endParaRPr>
          </a:p>
          <a:p>
            <a:pPr marL="0" lvl="0" indent="0" algn="l" rtl="0">
              <a:spcBef>
                <a:spcPts val="1400"/>
              </a:spcBef>
              <a:spcAft>
                <a:spcPts val="0"/>
              </a:spcAft>
              <a:buClr>
                <a:schemeClr val="dk1"/>
              </a:buClr>
              <a:buSzPct val="84615"/>
              <a:buFont typeface="Arial"/>
              <a:buNone/>
            </a:pPr>
            <a:r>
              <a:rPr lang="en-GB" sz="1300" b="1">
                <a:solidFill>
                  <a:schemeClr val="dk1"/>
                </a:solidFill>
              </a:rPr>
              <a:t>Technical Understanding</a:t>
            </a:r>
            <a:endParaRPr sz="1300" b="1">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JavaScript Programming</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React.js Framework</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Component-Based Architecture</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JSX</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React Hooks</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State Management</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Event Handling</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Dynamic UI Rendering</a:t>
            </a:r>
            <a:endParaRPr sz="1100">
              <a:solidFill>
                <a:schemeClr val="dk1"/>
              </a:solidFill>
            </a:endParaRPr>
          </a:p>
          <a:p>
            <a:pPr marL="0" lvl="0" indent="0" algn="l" rtl="0">
              <a:spcBef>
                <a:spcPts val="1400"/>
              </a:spcBef>
              <a:spcAft>
                <a:spcPts val="0"/>
              </a:spcAft>
              <a:buClr>
                <a:schemeClr val="dk1"/>
              </a:buClr>
              <a:buSzPct val="84615"/>
              <a:buFont typeface="Arial"/>
              <a:buNone/>
            </a:pPr>
            <a:r>
              <a:rPr lang="en-GB" sz="1300" b="1">
                <a:solidFill>
                  <a:schemeClr val="dk1"/>
                </a:solidFill>
              </a:rPr>
              <a:t>Outcome</a:t>
            </a:r>
            <a:endParaRPr sz="1300" b="1">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Developed a strong foundation in JavaScript and React.js required for working on frontend web applications.</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Gained the necessary knowledge to understand, modify, and contribute to React-based enterprise projects.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a:spLocks noGrp="1"/>
          </p:cNvSpPr>
          <p:nvPr>
            <p:ph type="title"/>
          </p:nvPr>
        </p:nvSpPr>
        <p:spPr>
          <a:xfrm>
            <a:off x="311700" y="1627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Industry 4.0 (NIRMAN)</a:t>
            </a:r>
            <a:endParaRPr/>
          </a:p>
        </p:txBody>
      </p:sp>
      <p:sp>
        <p:nvSpPr>
          <p:cNvPr id="94" name="Google Shape;94;p20"/>
          <p:cNvSpPr txBox="1">
            <a:spLocks noGrp="1"/>
          </p:cNvSpPr>
          <p:nvPr>
            <p:ph type="body" idx="1"/>
          </p:nvPr>
        </p:nvSpPr>
        <p:spPr>
          <a:xfrm>
            <a:off x="311700" y="863550"/>
            <a:ext cx="8520600" cy="3970800"/>
          </a:xfrm>
          <a:prstGeom prst="rect">
            <a:avLst/>
          </a:prstGeom>
        </p:spPr>
        <p:txBody>
          <a:bodyPr spcFirstLastPara="1" wrap="square" lIns="91425" tIns="91425" rIns="91425" bIns="91425" anchor="t" anchorCtr="0">
            <a:normAutofit lnSpcReduction="20000"/>
          </a:bodyPr>
          <a:lstStyle/>
          <a:p>
            <a:pPr marL="0" lvl="0" indent="0" algn="l" rtl="0">
              <a:spcBef>
                <a:spcPts val="1400"/>
              </a:spcBef>
              <a:spcAft>
                <a:spcPts val="0"/>
              </a:spcAft>
              <a:buClr>
                <a:schemeClr val="dk1"/>
              </a:buClr>
              <a:buSzPts val="1100"/>
              <a:buFont typeface="Arial"/>
              <a:buNone/>
            </a:pPr>
            <a:r>
              <a:rPr lang="en-GB" sz="1300" b="1">
                <a:solidFill>
                  <a:schemeClr val="dk1"/>
                </a:solidFill>
              </a:rPr>
              <a:t>Project Overview:</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NIRMAN (Next-gen Intelligent Realtime Manufacturing Automation Network) is a centralized web-based </a:t>
            </a:r>
            <a:r>
              <a:rPr lang="en-GB" sz="1100" b="1">
                <a:solidFill>
                  <a:schemeClr val="dk1"/>
                </a:solidFill>
              </a:rPr>
              <a:t>Manufacturing automation system</a:t>
            </a:r>
            <a:r>
              <a:rPr lang="en-GB" sz="1100">
                <a:solidFill>
                  <a:schemeClr val="dk1"/>
                </a:solidFill>
              </a:rPr>
              <a:t> for managing and monitoring the complete product development lifecycle.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Eliminates manual process tracking by maintaining structured digital records and workflow management.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Provides </a:t>
            </a:r>
            <a:r>
              <a:rPr lang="en-GB" sz="1100" b="1">
                <a:solidFill>
                  <a:schemeClr val="dk1"/>
                </a:solidFill>
              </a:rPr>
              <a:t>role-based access</a:t>
            </a:r>
            <a:r>
              <a:rPr lang="en-GB" sz="1100">
                <a:solidFill>
                  <a:schemeClr val="dk1"/>
                </a:solidFill>
              </a:rPr>
              <a:t> to ensure controlled system usage based on user responsibilities.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Assigns a </a:t>
            </a:r>
            <a:r>
              <a:rPr lang="en-GB" sz="1100" b="1">
                <a:solidFill>
                  <a:schemeClr val="dk1"/>
                </a:solidFill>
              </a:rPr>
              <a:t>unique Product ID</a:t>
            </a:r>
            <a:r>
              <a:rPr lang="en-GB" sz="1100">
                <a:solidFill>
                  <a:schemeClr val="dk1"/>
                </a:solidFill>
              </a:rPr>
              <a:t> to every product for complete lifecycle tracking and traceability.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Enables centralized monitoring of product progress, task allocation, documentation, and quality verification.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Improves accountability, process consistency, visibility, and operational efficiency across the entire workflow.</a:t>
            </a:r>
            <a:endParaRPr sz="1100">
              <a:solidFill>
                <a:schemeClr val="dk1"/>
              </a:solidFill>
            </a:endParaRPr>
          </a:p>
          <a:p>
            <a:pPr marL="0" lvl="0" indent="0" algn="l" rtl="0">
              <a:spcBef>
                <a:spcPts val="2400"/>
              </a:spcBef>
              <a:spcAft>
                <a:spcPts val="0"/>
              </a:spcAft>
              <a:buNone/>
            </a:pPr>
            <a:r>
              <a:rPr lang="en-GB" sz="1300" b="1">
                <a:solidFill>
                  <a:schemeClr val="dk1"/>
                </a:solidFill>
              </a:rPr>
              <a:t>Problem Statement:</a:t>
            </a:r>
            <a:endParaRPr sz="1300" b="1">
              <a:solidFill>
                <a:schemeClr val="dk1"/>
              </a:solidFill>
            </a:endParaRPr>
          </a:p>
          <a:p>
            <a:pPr marL="0" lvl="0" indent="0" algn="l" rtl="0">
              <a:spcBef>
                <a:spcPts val="1200"/>
              </a:spcBef>
              <a:spcAft>
                <a:spcPts val="0"/>
              </a:spcAft>
              <a:buNone/>
            </a:pPr>
            <a:r>
              <a:rPr lang="en-GB" sz="1100">
                <a:solidFill>
                  <a:schemeClr val="dk1"/>
                </a:solidFill>
              </a:rPr>
              <a:t>Modern product development involves multiple stages, users, approvals, and documentation, making manual process management increasingly difficult. As the complexity of the development process grows, organizations face challenges in maintaining workflow consistency, tracking product progress, coordinating multiple users, and ensuring proper documentation at every stage.</a:t>
            </a:r>
            <a:endParaRPr sz="1100">
              <a:solidFill>
                <a:schemeClr val="dk1"/>
              </a:solidFill>
            </a:endParaRPr>
          </a:p>
          <a:p>
            <a:pPr marL="0" lvl="0" indent="0" algn="l" rtl="0">
              <a:spcBef>
                <a:spcPts val="1400"/>
              </a:spcBef>
              <a:spcAft>
                <a:spcPts val="0"/>
              </a:spcAft>
              <a:buNone/>
            </a:pPr>
            <a:r>
              <a:rPr lang="en-GB" sz="1300" b="1">
                <a:solidFill>
                  <a:schemeClr val="dk1"/>
                </a:solidFill>
              </a:rPr>
              <a:t>Objective:</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Automate and simplify the complete product development process.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Manage products through predefined sequential stages.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Ensure every stage is completed and validated before moving to the next stage.</a:t>
            </a:r>
            <a:endParaRPr sz="1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457200" lvl="0" indent="-304800" algn="l" rtl="0">
              <a:spcBef>
                <a:spcPts val="1200"/>
              </a:spcBef>
              <a:spcAft>
                <a:spcPts val="0"/>
              </a:spcAft>
              <a:buClr>
                <a:schemeClr val="dk1"/>
              </a:buClr>
              <a:buSzPts val="1200"/>
              <a:buChar char="●"/>
            </a:pPr>
            <a:r>
              <a:rPr lang="en-GB" sz="1200">
                <a:solidFill>
                  <a:schemeClr val="dk1"/>
                </a:solidFill>
              </a:rPr>
              <a:t>Maintain centralized digital documentation throughout the product lifecycle.</a:t>
            </a:r>
            <a:endParaRPr sz="1200">
              <a:solidFill>
                <a:schemeClr val="dk1"/>
              </a:solidFill>
            </a:endParaRPr>
          </a:p>
          <a:p>
            <a:pPr marL="457200" lvl="0" indent="-304800" algn="l" rtl="0">
              <a:spcBef>
                <a:spcPts val="0"/>
              </a:spcBef>
              <a:spcAft>
                <a:spcPts val="0"/>
              </a:spcAft>
              <a:buClr>
                <a:schemeClr val="dk1"/>
              </a:buClr>
              <a:buSzPts val="1200"/>
              <a:buChar char="●"/>
            </a:pPr>
            <a:r>
              <a:rPr lang="en-GB" sz="1200">
                <a:solidFill>
                  <a:schemeClr val="dk1"/>
                </a:solidFill>
              </a:rPr>
              <a:t>Support secure role-based operations and controlled user access.</a:t>
            </a:r>
            <a:endParaRPr sz="1200">
              <a:solidFill>
                <a:schemeClr val="dk1"/>
              </a:solidFill>
            </a:endParaRPr>
          </a:p>
          <a:p>
            <a:pPr marL="457200" lvl="0" indent="-304800" algn="l" rtl="0">
              <a:spcBef>
                <a:spcPts val="0"/>
              </a:spcBef>
              <a:spcAft>
                <a:spcPts val="0"/>
              </a:spcAft>
              <a:buClr>
                <a:schemeClr val="dk1"/>
              </a:buClr>
              <a:buSzPts val="1200"/>
              <a:buChar char="●"/>
            </a:pPr>
            <a:r>
              <a:rPr lang="en-GB" sz="1200">
                <a:solidFill>
                  <a:schemeClr val="dk1"/>
                </a:solidFill>
              </a:rPr>
              <a:t>Improve product traceability and progress monitoring.</a:t>
            </a:r>
            <a:endParaRPr sz="1200">
              <a:solidFill>
                <a:schemeClr val="dk1"/>
              </a:solidFill>
            </a:endParaRPr>
          </a:p>
          <a:p>
            <a:pPr marL="457200" lvl="0" indent="-304800" algn="l" rtl="0">
              <a:spcBef>
                <a:spcPts val="0"/>
              </a:spcBef>
              <a:spcAft>
                <a:spcPts val="0"/>
              </a:spcAft>
              <a:buClr>
                <a:schemeClr val="dk1"/>
              </a:buClr>
              <a:buSzPts val="1200"/>
              <a:buChar char="●"/>
            </a:pPr>
            <a:r>
              <a:rPr lang="en-GB" sz="1200">
                <a:solidFill>
                  <a:schemeClr val="dk1"/>
                </a:solidFill>
              </a:rPr>
              <a:t>Strengthen quality assurance through qualification and verification mechanisms. Pasted markdown</a:t>
            </a:r>
            <a:endParaRPr sz="1653" b="1">
              <a:solidFill>
                <a:schemeClr val="dk1"/>
              </a:solidFill>
            </a:endParaRPr>
          </a:p>
          <a:p>
            <a:pPr marL="0" lvl="0" indent="0" algn="l" rtl="0">
              <a:spcBef>
                <a:spcPts val="1400"/>
              </a:spcBef>
              <a:spcAft>
                <a:spcPts val="0"/>
              </a:spcAft>
              <a:buNone/>
            </a:pPr>
            <a:r>
              <a:rPr lang="en-GB" sz="1353" b="1">
                <a:solidFill>
                  <a:schemeClr val="dk1"/>
                </a:solidFill>
              </a:rPr>
              <a:t>User Roles &amp; Responsibilities:</a:t>
            </a:r>
            <a:endParaRPr sz="1353" b="1">
              <a:solidFill>
                <a:schemeClr val="dk1"/>
              </a:solidFill>
            </a:endParaRPr>
          </a:p>
          <a:p>
            <a:pPr marL="0" lvl="0" indent="0" algn="l" rtl="0">
              <a:spcBef>
                <a:spcPts val="1200"/>
              </a:spcBef>
              <a:spcAft>
                <a:spcPts val="0"/>
              </a:spcAft>
              <a:buNone/>
            </a:pPr>
            <a:r>
              <a:rPr lang="en-GB" sz="1253" b="1" u="sng">
                <a:solidFill>
                  <a:schemeClr val="dk1"/>
                </a:solidFill>
              </a:rPr>
              <a:t>Administrator</a:t>
            </a:r>
            <a:endParaRPr sz="1253" b="1" u="sng">
              <a:solidFill>
                <a:schemeClr val="dk1"/>
              </a:solidFill>
            </a:endParaRPr>
          </a:p>
          <a:p>
            <a:pPr marL="457200" lvl="0" indent="-300691" algn="l" rtl="0">
              <a:spcBef>
                <a:spcPts val="1200"/>
              </a:spcBef>
              <a:spcAft>
                <a:spcPts val="0"/>
              </a:spcAft>
              <a:buClr>
                <a:schemeClr val="dk1"/>
              </a:buClr>
              <a:buSzPts val="1135"/>
              <a:buChar char="●"/>
            </a:pPr>
            <a:r>
              <a:rPr lang="en-GB" sz="1135">
                <a:solidFill>
                  <a:schemeClr val="dk1"/>
                </a:solidFill>
              </a:rPr>
              <a:t>Manages the overall workflow and initial project setup.</a:t>
            </a:r>
            <a:endParaRPr sz="1135">
              <a:solidFill>
                <a:schemeClr val="dk1"/>
              </a:solidFill>
            </a:endParaRPr>
          </a:p>
          <a:p>
            <a:pPr marL="457200" lvl="0" indent="-300691" algn="l" rtl="0">
              <a:spcBef>
                <a:spcPts val="0"/>
              </a:spcBef>
              <a:spcAft>
                <a:spcPts val="0"/>
              </a:spcAft>
              <a:buClr>
                <a:schemeClr val="dk1"/>
              </a:buClr>
              <a:buSzPts val="1135"/>
              <a:buChar char="●"/>
            </a:pPr>
            <a:r>
              <a:rPr lang="en-GB" sz="1135">
                <a:solidFill>
                  <a:schemeClr val="dk1"/>
                </a:solidFill>
              </a:rPr>
              <a:t>Creates and allocates products for processing.</a:t>
            </a:r>
            <a:endParaRPr sz="1135">
              <a:solidFill>
                <a:schemeClr val="dk1"/>
              </a:solidFill>
            </a:endParaRPr>
          </a:p>
          <a:p>
            <a:pPr marL="457200" lvl="0" indent="-300691" algn="l" rtl="0">
              <a:spcBef>
                <a:spcPts val="0"/>
              </a:spcBef>
              <a:spcAft>
                <a:spcPts val="0"/>
              </a:spcAft>
              <a:buClr>
                <a:schemeClr val="dk1"/>
              </a:buClr>
              <a:buSzPts val="1135"/>
              <a:buChar char="●"/>
            </a:pPr>
            <a:r>
              <a:rPr lang="en-GB" sz="1135">
                <a:solidFill>
                  <a:schemeClr val="dk1"/>
                </a:solidFill>
              </a:rPr>
              <a:t>Organizes work distribution across different stages.</a:t>
            </a:r>
            <a:endParaRPr sz="1135">
              <a:solidFill>
                <a:schemeClr val="dk1"/>
              </a:solidFill>
            </a:endParaRPr>
          </a:p>
          <a:p>
            <a:pPr marL="457200" lvl="0" indent="-300691" algn="l" rtl="0">
              <a:spcBef>
                <a:spcPts val="0"/>
              </a:spcBef>
              <a:spcAft>
                <a:spcPts val="0"/>
              </a:spcAft>
              <a:buClr>
                <a:schemeClr val="dk1"/>
              </a:buClr>
              <a:buSzPts val="1135"/>
              <a:buChar char="●"/>
            </a:pPr>
            <a:r>
              <a:rPr lang="en-GB" sz="1135">
                <a:solidFill>
                  <a:schemeClr val="dk1"/>
                </a:solidFill>
              </a:rPr>
              <a:t>Assigns resources and coordinates the overall development process.</a:t>
            </a:r>
            <a:endParaRPr sz="1135">
              <a:solidFill>
                <a:schemeClr val="dk1"/>
              </a:solidFill>
            </a:endParaRPr>
          </a:p>
          <a:p>
            <a:pPr marL="0" lvl="0" indent="0" algn="l" rtl="0">
              <a:spcBef>
                <a:spcPts val="1200"/>
              </a:spcBef>
              <a:spcAft>
                <a:spcPts val="0"/>
              </a:spcAft>
              <a:buNone/>
            </a:pPr>
            <a:r>
              <a:rPr lang="en-GB" sz="1153" b="1" u="sng">
                <a:solidFill>
                  <a:schemeClr val="dk1"/>
                </a:solidFill>
              </a:rPr>
              <a:t>Internal Supervisor</a:t>
            </a:r>
            <a:endParaRPr sz="1153"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Assigns stage-specific tasks to operators.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Coordinates task distribution among multiple users.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Monitors task allocation and stage completion.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Ensures smooth workflow progression between stages.</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2"/>
          <p:cNvSpPr txBox="1">
            <a:spLocks noGrp="1"/>
          </p:cNvSpPr>
          <p:nvPr>
            <p:ph type="body" idx="1"/>
          </p:nvPr>
        </p:nvSpPr>
        <p:spPr>
          <a:xfrm>
            <a:off x="311700" y="340950"/>
            <a:ext cx="8520600" cy="4219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208" b="1" u="sng">
                <a:solidFill>
                  <a:schemeClr val="dk1"/>
                </a:solidFill>
              </a:rPr>
              <a:t>Operator</a:t>
            </a:r>
            <a:endParaRPr sz="1208"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Executes assigned stage-specific tasks.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Accesses only authorized tasks through role-based login.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Updates task status and submits required digital forms.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Records completion details before progressing to the next stage. </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Quality Manager</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Monitors operator qualifications and certification validity.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Verifies operator eligibility before task assignment.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Ensures compliance with quality and competency requirements.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Supports quality assurance throughout the development process.</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External Supervisor</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Performs final verification of completed products.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Reviews completed work against defined standards.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Approves products or recommends corrective actions.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Provides an additional level of quality validation before completion.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3"/>
          <p:cNvSpPr txBox="1">
            <a:spLocks noGrp="1"/>
          </p:cNvSpPr>
          <p:nvPr>
            <p:ph type="body" idx="1"/>
          </p:nvPr>
        </p:nvSpPr>
        <p:spPr>
          <a:xfrm>
            <a:off x="309550" y="223950"/>
            <a:ext cx="8385300" cy="46956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GB" sz="1100" b="1">
                <a:solidFill>
                  <a:schemeClr val="dk1"/>
                </a:solidFill>
              </a:rPr>
              <a:t>WORKFLOW:</a:t>
            </a:r>
            <a:endParaRPr sz="1100" b="1">
              <a:solidFill>
                <a:schemeClr val="dk1"/>
              </a:solidFill>
            </a:endParaRPr>
          </a:p>
          <a:p>
            <a:pPr marL="0" lvl="0" indent="0" algn="l" rtl="0">
              <a:spcBef>
                <a:spcPts val="1200"/>
              </a:spcBef>
              <a:spcAft>
                <a:spcPts val="1200"/>
              </a:spcAft>
              <a:buNone/>
            </a:pPr>
            <a:endParaRPr/>
          </a:p>
        </p:txBody>
      </p:sp>
      <p:pic>
        <p:nvPicPr>
          <p:cNvPr id="110" name="Google Shape;110;p23" title="Gemini_Generated_Image_1qemdj1qemdj1qem.png"/>
          <p:cNvPicPr preferRelativeResize="0"/>
          <p:nvPr/>
        </p:nvPicPr>
        <p:blipFill>
          <a:blip r:embed="rId3">
            <a:alphaModFix/>
          </a:blip>
          <a:stretch>
            <a:fillRect/>
          </a:stretch>
        </p:blipFill>
        <p:spPr>
          <a:xfrm>
            <a:off x="1979450" y="489100"/>
            <a:ext cx="3651350" cy="437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4"/>
          <p:cNvSpPr txBox="1">
            <a:spLocks noGrp="1"/>
          </p:cNvSpPr>
          <p:nvPr>
            <p:ph type="body" idx="1"/>
          </p:nvPr>
        </p:nvSpPr>
        <p:spPr>
          <a:xfrm>
            <a:off x="311700" y="436750"/>
            <a:ext cx="8520600" cy="4375500"/>
          </a:xfrm>
          <a:prstGeom prst="rect">
            <a:avLst/>
          </a:prstGeom>
        </p:spPr>
        <p:txBody>
          <a:bodyPr spcFirstLastPara="1" wrap="square" lIns="91425" tIns="91425" rIns="91425" bIns="91425" anchor="t" anchorCtr="0">
            <a:normAutofit fontScale="92500" lnSpcReduction="20000"/>
          </a:bodyPr>
          <a:lstStyle/>
          <a:p>
            <a:pPr marL="0" lvl="0" indent="0" algn="l" rtl="0">
              <a:spcBef>
                <a:spcPts val="2400"/>
              </a:spcBef>
              <a:spcAft>
                <a:spcPts val="0"/>
              </a:spcAft>
              <a:buClr>
                <a:schemeClr val="dk1"/>
              </a:buClr>
              <a:buSzPct val="78571"/>
              <a:buFont typeface="Arial"/>
              <a:buNone/>
            </a:pPr>
            <a:r>
              <a:rPr lang="en-GB" sz="1400" b="1">
                <a:solidFill>
                  <a:schemeClr val="dk1"/>
                </a:solidFill>
              </a:rPr>
              <a:t>Conclusion:</a:t>
            </a:r>
            <a:endParaRPr sz="1400" b="1">
              <a:solidFill>
                <a:schemeClr val="dk1"/>
              </a:solidFill>
            </a:endParaRPr>
          </a:p>
          <a:p>
            <a:pPr marL="457200" lvl="0" indent="-296148" algn="l" rtl="0">
              <a:spcBef>
                <a:spcPts val="1200"/>
              </a:spcBef>
              <a:spcAft>
                <a:spcPts val="0"/>
              </a:spcAft>
              <a:buClr>
                <a:schemeClr val="dk1"/>
              </a:buClr>
              <a:buSzPct val="100000"/>
              <a:buChar char="●"/>
            </a:pPr>
            <a:r>
              <a:rPr lang="en-GB" sz="1150">
                <a:solidFill>
                  <a:schemeClr val="dk1"/>
                </a:solidFill>
              </a:rPr>
              <a:t>The project provides a centralized platform for managing the complete product development lifecycle through a structured, stage-wise workflow.</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It improves process organization by integrating role-based access, task allocation, digital documentation, and product traceability into a single system.</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The application ensures controlled workflow execution, enhances accountability, and supports quality assurance through systematic validation and monitoring.</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Overall, the system simplifies the management of complex multi-stage development processes while improving efficiency, transparency, and record maintenance. </a:t>
            </a:r>
            <a:endParaRPr sz="1150">
              <a:solidFill>
                <a:schemeClr val="dk1"/>
              </a:solidFill>
            </a:endParaRPr>
          </a:p>
          <a:p>
            <a:pPr marL="0" lvl="0" indent="0" algn="l" rtl="0">
              <a:spcBef>
                <a:spcPts val="1800"/>
              </a:spcBef>
              <a:spcAft>
                <a:spcPts val="0"/>
              </a:spcAft>
              <a:buNone/>
            </a:pPr>
            <a:r>
              <a:rPr lang="en-GB" sz="1400" b="1">
                <a:solidFill>
                  <a:schemeClr val="dk1"/>
                </a:solidFill>
              </a:rPr>
              <a:t>Learning:</a:t>
            </a:r>
            <a:endParaRPr sz="1400">
              <a:solidFill>
                <a:schemeClr val="dk1"/>
              </a:solidFill>
            </a:endParaRPr>
          </a:p>
          <a:p>
            <a:pPr marL="457200" lvl="0" indent="-296148" algn="l" rtl="0">
              <a:spcBef>
                <a:spcPts val="1200"/>
              </a:spcBef>
              <a:spcAft>
                <a:spcPts val="0"/>
              </a:spcAft>
              <a:buClr>
                <a:schemeClr val="dk1"/>
              </a:buClr>
              <a:buSzPct val="100000"/>
              <a:buChar char="●"/>
            </a:pPr>
            <a:r>
              <a:rPr lang="en-GB" sz="1150">
                <a:solidFill>
                  <a:schemeClr val="dk1"/>
                </a:solidFill>
              </a:rPr>
              <a:t>Role-Based Access Control (RBAC) and permission hierarchy.</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Stage-wise workflow management and sequential processing.</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Product lifecycle management and traceability using unique Product IDs.</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Task allocation, progress monitoring, and digital documentation.</a:t>
            </a:r>
            <a:endParaRPr sz="1150">
              <a:solidFill>
                <a:schemeClr val="dk1"/>
              </a:solidFill>
            </a:endParaRPr>
          </a:p>
          <a:p>
            <a:pPr marL="457200" lvl="0" indent="-296148" algn="l" rtl="0">
              <a:spcBef>
                <a:spcPts val="0"/>
              </a:spcBef>
              <a:spcAft>
                <a:spcPts val="0"/>
              </a:spcAft>
              <a:buClr>
                <a:schemeClr val="dk1"/>
              </a:buClr>
              <a:buSzPct val="100000"/>
              <a:buChar char="●"/>
            </a:pPr>
            <a:r>
              <a:rPr lang="en-GB" sz="1150">
                <a:solidFill>
                  <a:schemeClr val="dk1"/>
                </a:solidFill>
              </a:rPr>
              <a:t>How multiple user roles collaborate within a centralized application.</a:t>
            </a:r>
            <a:endParaRPr sz="1150">
              <a:solidFill>
                <a:schemeClr val="dk1"/>
              </a:solidFill>
            </a:endParaRPr>
          </a:p>
          <a:p>
            <a:pPr marL="0" lvl="0" indent="0" algn="l" rtl="0">
              <a:spcBef>
                <a:spcPts val="1800"/>
              </a:spcBef>
              <a:spcAft>
                <a:spcPts val="0"/>
              </a:spcAft>
              <a:buClr>
                <a:schemeClr val="dk1"/>
              </a:buClr>
              <a:buSzPct val="78571"/>
              <a:buFont typeface="Arial"/>
              <a:buNone/>
            </a:pPr>
            <a:r>
              <a:rPr lang="en-GB" sz="1400" b="1">
                <a:solidFill>
                  <a:schemeClr val="dk1"/>
                </a:solidFill>
              </a:rPr>
              <a:t>Technologies Used:</a:t>
            </a:r>
            <a:endParaRPr sz="1400" b="1">
              <a:solidFill>
                <a:schemeClr val="dk1"/>
              </a:solidFill>
            </a:endParaRPr>
          </a:p>
          <a:p>
            <a:pPr marL="457200" lvl="0" indent="-296148" algn="l" rtl="0">
              <a:spcBef>
                <a:spcPts val="1200"/>
              </a:spcBef>
              <a:spcAft>
                <a:spcPts val="0"/>
              </a:spcAft>
              <a:buClr>
                <a:schemeClr val="dk1"/>
              </a:buClr>
              <a:buSzPct val="100000"/>
              <a:buChar char="●"/>
            </a:pPr>
            <a:r>
              <a:rPr lang="en-GB" sz="1150" b="1">
                <a:solidFill>
                  <a:schemeClr val="dk1"/>
                </a:solidFill>
              </a:rPr>
              <a:t>Frontend:</a:t>
            </a:r>
            <a:r>
              <a:rPr lang="en-GB" sz="1150">
                <a:solidFill>
                  <a:schemeClr val="dk1"/>
                </a:solidFill>
              </a:rPr>
              <a:t> React.js</a:t>
            </a:r>
            <a:endParaRPr sz="1150">
              <a:solidFill>
                <a:schemeClr val="dk1"/>
              </a:solidFill>
            </a:endParaRPr>
          </a:p>
          <a:p>
            <a:pPr marL="457200" lvl="0" indent="-296148" algn="l" rtl="0">
              <a:spcBef>
                <a:spcPts val="0"/>
              </a:spcBef>
              <a:spcAft>
                <a:spcPts val="0"/>
              </a:spcAft>
              <a:buClr>
                <a:schemeClr val="dk1"/>
              </a:buClr>
              <a:buSzPct val="100000"/>
              <a:buChar char="●"/>
            </a:pPr>
            <a:r>
              <a:rPr lang="en-GB" sz="1150" b="1">
                <a:solidFill>
                  <a:schemeClr val="dk1"/>
                </a:solidFill>
              </a:rPr>
              <a:t>Backend:</a:t>
            </a:r>
            <a:r>
              <a:rPr lang="en-GB" sz="1150">
                <a:solidFill>
                  <a:schemeClr val="dk1"/>
                </a:solidFill>
              </a:rPr>
              <a:t> Node.js, FastAPI</a:t>
            </a:r>
            <a:endParaRPr sz="1150">
              <a:solidFill>
                <a:schemeClr val="dk1"/>
              </a:solidFill>
            </a:endParaRPr>
          </a:p>
          <a:p>
            <a:pPr marL="457200" lvl="0" indent="-296148" algn="l" rtl="0">
              <a:spcBef>
                <a:spcPts val="0"/>
              </a:spcBef>
              <a:spcAft>
                <a:spcPts val="0"/>
              </a:spcAft>
              <a:buClr>
                <a:schemeClr val="dk1"/>
              </a:buClr>
              <a:buSzPct val="100000"/>
              <a:buChar char="●"/>
            </a:pPr>
            <a:r>
              <a:rPr lang="en-GB" sz="1150" b="1">
                <a:solidFill>
                  <a:schemeClr val="dk1"/>
                </a:solidFill>
              </a:rPr>
              <a:t>Database:</a:t>
            </a:r>
            <a:r>
              <a:rPr lang="en-GB" sz="1150">
                <a:solidFill>
                  <a:schemeClr val="dk1"/>
                </a:solidFill>
              </a:rPr>
              <a:t> PostgreSQL</a:t>
            </a:r>
            <a:endParaRPr sz="1150">
              <a:solidFill>
                <a:schemeClr val="dk1"/>
              </a:solidFill>
            </a:endParaRPr>
          </a:p>
          <a:p>
            <a:pPr marL="457200" lvl="0" indent="-296148" algn="l" rtl="0">
              <a:spcBef>
                <a:spcPts val="0"/>
              </a:spcBef>
              <a:spcAft>
                <a:spcPts val="0"/>
              </a:spcAft>
              <a:buClr>
                <a:schemeClr val="dk1"/>
              </a:buClr>
              <a:buSzPct val="100000"/>
              <a:buChar char="●"/>
            </a:pPr>
            <a:r>
              <a:rPr lang="en-GB" sz="1150" b="1">
                <a:solidFill>
                  <a:schemeClr val="dk1"/>
                </a:solidFill>
              </a:rPr>
              <a:t>Core Concepts:</a:t>
            </a:r>
            <a:r>
              <a:rPr lang="en-GB" sz="1150">
                <a:solidFill>
                  <a:schemeClr val="dk1"/>
                </a:solidFill>
              </a:rPr>
              <a:t> Workflow Management, Product Traceability, Digital Documentation, Quality Monitoring</a:t>
            </a:r>
            <a:endParaRPr sz="11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Industry 4.0 (GR TO UD)</a:t>
            </a:r>
            <a:endParaRPr/>
          </a:p>
        </p:txBody>
      </p:sp>
      <p:sp>
        <p:nvSpPr>
          <p:cNvPr id="121" name="Google Shape;121;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Clr>
                <a:schemeClr val="dk1"/>
              </a:buClr>
              <a:buSzPts val="1100"/>
              <a:buFont typeface="Arial"/>
              <a:buNone/>
            </a:pPr>
            <a:r>
              <a:rPr lang="en-GB" sz="1300" b="1"/>
              <a:t>Overview:</a:t>
            </a:r>
            <a:endParaRPr sz="1300" b="1"/>
          </a:p>
          <a:p>
            <a:pPr marL="0" lvl="0" indent="0" algn="l" rtl="0">
              <a:lnSpc>
                <a:spcPct val="80000"/>
              </a:lnSpc>
              <a:spcBef>
                <a:spcPts val="1200"/>
              </a:spcBef>
              <a:spcAft>
                <a:spcPts val="0"/>
              </a:spcAft>
              <a:buNone/>
            </a:pPr>
            <a:r>
              <a:rPr lang="en-GB" sz="1100"/>
              <a:t>Aim: Automate GR to UD cycle by eliminating manual interventions such as PDF, inspection data, rejection tracking.</a:t>
            </a:r>
            <a:endParaRPr sz="1100"/>
          </a:p>
          <a:p>
            <a:pPr marL="0" lvl="0" indent="0" algn="l" rtl="0">
              <a:lnSpc>
                <a:spcPct val="80000"/>
              </a:lnSpc>
              <a:spcBef>
                <a:spcPts val="1200"/>
              </a:spcBef>
              <a:spcAft>
                <a:spcPts val="0"/>
              </a:spcAft>
              <a:buNone/>
            </a:pPr>
            <a:r>
              <a:rPr lang="en-GB" sz="1300" b="1"/>
              <a:t> Problems:</a:t>
            </a:r>
            <a:endParaRPr sz="1300" b="1"/>
          </a:p>
          <a:p>
            <a:pPr marL="457200" lvl="0" indent="-298450" algn="l" rtl="0">
              <a:lnSpc>
                <a:spcPct val="80000"/>
              </a:lnSpc>
              <a:spcBef>
                <a:spcPts val="1200"/>
              </a:spcBef>
              <a:spcAft>
                <a:spcPts val="0"/>
              </a:spcAft>
              <a:buSzPts val="1100"/>
              <a:buChar char="●"/>
            </a:pPr>
            <a:r>
              <a:rPr lang="en-GB" sz="1100"/>
              <a:t>Manual PDF upload.</a:t>
            </a:r>
            <a:endParaRPr sz="1100"/>
          </a:p>
          <a:p>
            <a:pPr marL="457200" lvl="0" indent="-298450" algn="l" rtl="0">
              <a:lnSpc>
                <a:spcPct val="80000"/>
              </a:lnSpc>
              <a:spcBef>
                <a:spcPts val="0"/>
              </a:spcBef>
              <a:spcAft>
                <a:spcPts val="0"/>
              </a:spcAft>
              <a:buSzPts val="1100"/>
              <a:buChar char="●"/>
            </a:pPr>
            <a:r>
              <a:rPr lang="en-GB" sz="1100"/>
              <a:t>Paper-based verification.</a:t>
            </a:r>
            <a:endParaRPr sz="1100"/>
          </a:p>
          <a:p>
            <a:pPr marL="457200" lvl="0" indent="-298450" algn="l" rtl="0">
              <a:lnSpc>
                <a:spcPct val="80000"/>
              </a:lnSpc>
              <a:spcBef>
                <a:spcPts val="0"/>
              </a:spcBef>
              <a:spcAft>
                <a:spcPts val="0"/>
              </a:spcAft>
              <a:buSzPts val="1100"/>
              <a:buChar char="●"/>
            </a:pPr>
            <a:r>
              <a:rPr lang="en-GB" sz="1100"/>
              <a:t>Manual GR &amp; UD.</a:t>
            </a:r>
            <a:endParaRPr sz="1100"/>
          </a:p>
          <a:p>
            <a:pPr marL="457200" lvl="0" indent="-298450" algn="l" rtl="0">
              <a:lnSpc>
                <a:spcPct val="80000"/>
              </a:lnSpc>
              <a:spcBef>
                <a:spcPts val="0"/>
              </a:spcBef>
              <a:spcAft>
                <a:spcPts val="0"/>
              </a:spcAft>
              <a:buSzPts val="1100"/>
              <a:buChar char="●"/>
            </a:pPr>
            <a:r>
              <a:rPr lang="en-GB" sz="1100"/>
              <a:t>Lengthy inspection cycles.</a:t>
            </a:r>
            <a:endParaRPr sz="1100"/>
          </a:p>
          <a:p>
            <a:pPr marL="457200" lvl="0" indent="-298450" algn="l" rtl="0">
              <a:lnSpc>
                <a:spcPct val="80000"/>
              </a:lnSpc>
              <a:spcBef>
                <a:spcPts val="0"/>
              </a:spcBef>
              <a:spcAft>
                <a:spcPts val="0"/>
              </a:spcAft>
              <a:buSzPts val="1100"/>
              <a:buChar char="●"/>
            </a:pPr>
            <a:r>
              <a:rPr lang="en-GB" sz="1100"/>
              <a:t>Manual tracking of rejected materials.</a:t>
            </a:r>
            <a:endParaRPr sz="1100"/>
          </a:p>
          <a:p>
            <a:pPr marL="0" lvl="0" indent="0" algn="l" rtl="0">
              <a:lnSpc>
                <a:spcPct val="80000"/>
              </a:lnSpc>
              <a:spcBef>
                <a:spcPts val="1200"/>
              </a:spcBef>
              <a:spcAft>
                <a:spcPts val="0"/>
              </a:spcAft>
              <a:buNone/>
            </a:pPr>
            <a:r>
              <a:rPr lang="en-GB" sz="1300" b="1"/>
              <a:t>Objectives:</a:t>
            </a:r>
            <a:endParaRPr sz="1300" b="1"/>
          </a:p>
          <a:p>
            <a:pPr marL="457200" lvl="0" indent="-298450" algn="l" rtl="0">
              <a:lnSpc>
                <a:spcPct val="80000"/>
              </a:lnSpc>
              <a:spcBef>
                <a:spcPts val="1200"/>
              </a:spcBef>
              <a:spcAft>
                <a:spcPts val="0"/>
              </a:spcAft>
              <a:buSzPts val="1100"/>
              <a:buChar char="●"/>
            </a:pPr>
            <a:r>
              <a:rPr lang="en-GB" sz="1100"/>
              <a:t>Reduce manual effort.</a:t>
            </a:r>
            <a:endParaRPr sz="1100"/>
          </a:p>
          <a:p>
            <a:pPr marL="457200" lvl="0" indent="-298450" algn="l" rtl="0">
              <a:lnSpc>
                <a:spcPct val="80000"/>
              </a:lnSpc>
              <a:spcBef>
                <a:spcPts val="0"/>
              </a:spcBef>
              <a:spcAft>
                <a:spcPts val="0"/>
              </a:spcAft>
              <a:buSzPts val="1100"/>
              <a:buChar char="●"/>
            </a:pPr>
            <a:r>
              <a:rPr lang="en-GB" sz="1100"/>
              <a:t>Improve operational accuracy &amp; reduce data errors.</a:t>
            </a:r>
            <a:endParaRPr sz="1100"/>
          </a:p>
          <a:p>
            <a:pPr marL="457200" lvl="0" indent="-298450" algn="l" rtl="0">
              <a:lnSpc>
                <a:spcPct val="80000"/>
              </a:lnSpc>
              <a:spcBef>
                <a:spcPts val="0"/>
              </a:spcBef>
              <a:spcAft>
                <a:spcPts val="0"/>
              </a:spcAft>
              <a:buSzPts val="1100"/>
              <a:buChar char="●"/>
            </a:pPr>
            <a:r>
              <a:rPr lang="en-GB" sz="1100"/>
              <a:t>Enable real-time tracking.</a:t>
            </a:r>
            <a:endParaRPr sz="1100"/>
          </a:p>
          <a:p>
            <a:pPr marL="457200" lvl="0" indent="-298450" algn="l" rtl="0">
              <a:lnSpc>
                <a:spcPct val="80000"/>
              </a:lnSpc>
              <a:spcBef>
                <a:spcPts val="0"/>
              </a:spcBef>
              <a:spcAft>
                <a:spcPts val="0"/>
              </a:spcAft>
              <a:buSzPts val="1100"/>
              <a:buChar char="●"/>
            </a:pPr>
            <a:r>
              <a:rPr lang="en-GB" sz="1100"/>
              <a:t>Introduce end-to-end traceability.</a:t>
            </a:r>
            <a:endParaRPr sz="1100"/>
          </a:p>
          <a:p>
            <a:pPr marL="457200" lvl="0" indent="-298450" algn="l" rtl="0">
              <a:lnSpc>
                <a:spcPct val="80000"/>
              </a:lnSpc>
              <a:spcBef>
                <a:spcPts val="0"/>
              </a:spcBef>
              <a:spcAft>
                <a:spcPts val="0"/>
              </a:spcAft>
              <a:buSzPts val="1100"/>
              <a:buChar char="●"/>
            </a:pPr>
            <a:r>
              <a:rPr lang="en-GB" sz="1100"/>
              <a:t>Accelerate approval, info &amp; decision boosting in SAP.</a:t>
            </a:r>
            <a:endParaRPr sz="1100"/>
          </a:p>
          <a:p>
            <a:pPr marL="0" lvl="0" indent="0" algn="l" rtl="0">
              <a:spcBef>
                <a:spcPts val="120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6"/>
          <p:cNvSpPr txBox="1">
            <a:spLocks noGrp="1"/>
          </p:cNvSpPr>
          <p:nvPr>
            <p:ph type="body" idx="1"/>
          </p:nvPr>
        </p:nvSpPr>
        <p:spPr>
          <a:xfrm>
            <a:off x="311700" y="378625"/>
            <a:ext cx="8520600" cy="4369500"/>
          </a:xfrm>
          <a:prstGeom prst="rect">
            <a:avLst/>
          </a:prstGeom>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300" b="1"/>
              <a:t>Scope:</a:t>
            </a:r>
            <a:endParaRPr sz="1300" b="1"/>
          </a:p>
          <a:p>
            <a:pPr marL="457200" lvl="0" indent="-298450" algn="l" rtl="0">
              <a:lnSpc>
                <a:spcPct val="80000"/>
              </a:lnSpc>
              <a:spcBef>
                <a:spcPts val="1200"/>
              </a:spcBef>
              <a:spcAft>
                <a:spcPts val="0"/>
              </a:spcAft>
              <a:buSzPts val="1100"/>
              <a:buChar char="●"/>
            </a:pPr>
            <a:r>
              <a:rPr lang="en-GB" sz="1100"/>
              <a:t>Automate PDF.</a:t>
            </a:r>
            <a:endParaRPr sz="1100"/>
          </a:p>
          <a:p>
            <a:pPr marL="457200" lvl="0" indent="-298450" algn="l" rtl="0">
              <a:lnSpc>
                <a:spcPct val="80000"/>
              </a:lnSpc>
              <a:spcBef>
                <a:spcPts val="0"/>
              </a:spcBef>
              <a:spcAft>
                <a:spcPts val="0"/>
              </a:spcAft>
              <a:buSzPts val="1100"/>
              <a:buChar char="●"/>
            </a:pPr>
            <a:r>
              <a:rPr lang="en-GB" sz="1100"/>
              <a:t>Validate extracted PO.</a:t>
            </a:r>
            <a:endParaRPr sz="1100"/>
          </a:p>
          <a:p>
            <a:pPr marL="457200" lvl="0" indent="-298450" algn="l" rtl="0">
              <a:lnSpc>
                <a:spcPct val="80000"/>
              </a:lnSpc>
              <a:spcBef>
                <a:spcPts val="0"/>
              </a:spcBef>
              <a:spcAft>
                <a:spcPts val="0"/>
              </a:spcAft>
              <a:buSzPts val="1100"/>
              <a:buChar char="●"/>
            </a:pPr>
            <a:r>
              <a:rPr lang="en-GB" sz="1100"/>
              <a:t>Generate unique QR and barcode.</a:t>
            </a:r>
            <a:endParaRPr sz="1100"/>
          </a:p>
          <a:p>
            <a:pPr marL="457200" lvl="0" indent="-298450" algn="l" rtl="0">
              <a:lnSpc>
                <a:spcPct val="80000"/>
              </a:lnSpc>
              <a:spcBef>
                <a:spcPts val="0"/>
              </a:spcBef>
              <a:spcAft>
                <a:spcPts val="0"/>
              </a:spcAft>
              <a:buSzPts val="1100"/>
              <a:buChar char="●"/>
            </a:pPr>
            <a:r>
              <a:rPr lang="en-GB" sz="1100"/>
              <a:t>Automate GR posting using QR and barcode.</a:t>
            </a:r>
            <a:endParaRPr sz="1100"/>
          </a:p>
          <a:p>
            <a:pPr marL="457200" lvl="0" indent="-298450" algn="l" rtl="0">
              <a:lnSpc>
                <a:spcPct val="80000"/>
              </a:lnSpc>
              <a:spcBef>
                <a:spcPts val="0"/>
              </a:spcBef>
              <a:spcAft>
                <a:spcPts val="0"/>
              </a:spcAft>
              <a:buSzPts val="1100"/>
              <a:buChar char="●"/>
            </a:pPr>
            <a:r>
              <a:rPr lang="en-GB" sz="1100"/>
              <a:t>Capture inspection acceptance/rejection through the system.</a:t>
            </a:r>
            <a:endParaRPr sz="1100"/>
          </a:p>
          <a:p>
            <a:pPr marL="457200" lvl="0" indent="-298450" algn="l" rtl="0">
              <a:lnSpc>
                <a:spcPct val="80000"/>
              </a:lnSpc>
              <a:spcBef>
                <a:spcPts val="0"/>
              </a:spcBef>
              <a:spcAft>
                <a:spcPts val="0"/>
              </a:spcAft>
              <a:buSzPts val="1100"/>
              <a:buChar char="●"/>
            </a:pPr>
            <a:r>
              <a:rPr lang="en-GB" sz="1100"/>
              <a:t>Auto post UD decision in SAP.</a:t>
            </a:r>
            <a:endParaRPr sz="1100"/>
          </a:p>
          <a:p>
            <a:pPr marL="457200" lvl="0" indent="-298450" algn="l" rtl="0">
              <a:lnSpc>
                <a:spcPct val="80000"/>
              </a:lnSpc>
              <a:spcBef>
                <a:spcPts val="0"/>
              </a:spcBef>
              <a:spcAft>
                <a:spcPts val="0"/>
              </a:spcAft>
              <a:buSzPts val="1100"/>
              <a:buChar char="●"/>
            </a:pPr>
            <a:r>
              <a:rPr lang="en-GB" sz="1100"/>
              <a:t>Provide dashboard for monitoring &amp; reports.</a:t>
            </a:r>
            <a:endParaRPr sz="1100"/>
          </a:p>
          <a:p>
            <a:pPr marL="0" lvl="0" indent="0" algn="l" rtl="0">
              <a:lnSpc>
                <a:spcPct val="80000"/>
              </a:lnSpc>
              <a:spcBef>
                <a:spcPts val="1200"/>
              </a:spcBef>
              <a:spcAft>
                <a:spcPts val="0"/>
              </a:spcAft>
              <a:buNone/>
            </a:pPr>
            <a:endParaRPr sz="1100"/>
          </a:p>
          <a:p>
            <a:pPr marL="0" lvl="0" indent="0" algn="l" rtl="0">
              <a:lnSpc>
                <a:spcPct val="80000"/>
              </a:lnSpc>
              <a:spcBef>
                <a:spcPts val="1200"/>
              </a:spcBef>
              <a:spcAft>
                <a:spcPts val="0"/>
              </a:spcAft>
              <a:buNone/>
            </a:pPr>
            <a:r>
              <a:rPr lang="en-GB" sz="1300" b="1"/>
              <a:t>Users/Stakeholders:</a:t>
            </a:r>
            <a:endParaRPr sz="1300" b="1"/>
          </a:p>
          <a:p>
            <a:pPr marL="0" lvl="0" indent="0" algn="l" rtl="0">
              <a:spcBef>
                <a:spcPts val="1800"/>
              </a:spcBef>
              <a:spcAft>
                <a:spcPts val="0"/>
              </a:spcAft>
              <a:buClr>
                <a:schemeClr val="dk1"/>
              </a:buClr>
              <a:buSzPts val="1100"/>
              <a:buFont typeface="Arial"/>
              <a:buNone/>
            </a:pPr>
            <a:r>
              <a:rPr lang="en-GB" sz="1300" b="1" u="sng">
                <a:solidFill>
                  <a:schemeClr val="dk1"/>
                </a:solidFill>
              </a:rPr>
              <a:t>IG Store</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Responsibilities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Receives incoming products from the Security Department.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Generates the </a:t>
            </a:r>
            <a:r>
              <a:rPr lang="en-GB" sz="1100" b="1">
                <a:solidFill>
                  <a:schemeClr val="dk1"/>
                </a:solidFill>
              </a:rPr>
              <a:t>Goods Receipt (GR)</a:t>
            </a:r>
            <a:r>
              <a:rPr lang="en-GB" sz="1100">
                <a:solidFill>
                  <a:schemeClr val="dk1"/>
                </a:solidFill>
              </a:rPr>
              <a:t> for every received product.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Records essential product information such as Product ID, Serial Number, and other identification details.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Generates and attaches </a:t>
            </a:r>
            <a:r>
              <a:rPr lang="en-GB" sz="1100" b="1">
                <a:solidFill>
                  <a:schemeClr val="dk1"/>
                </a:solidFill>
              </a:rPr>
              <a:t>QR Code</a:t>
            </a:r>
            <a:r>
              <a:rPr lang="en-GB" sz="1100">
                <a:solidFill>
                  <a:schemeClr val="dk1"/>
                </a:solidFill>
              </a:rPr>
              <a:t> and </a:t>
            </a:r>
            <a:r>
              <a:rPr lang="en-GB" sz="1100" b="1">
                <a:solidFill>
                  <a:schemeClr val="dk1"/>
                </a:solidFill>
              </a:rPr>
              <a:t>Barcode</a:t>
            </a:r>
            <a:r>
              <a:rPr lang="en-GB" sz="1100">
                <a:solidFill>
                  <a:schemeClr val="dk1"/>
                </a:solidFill>
              </a:rPr>
              <a:t> labels for product identification and traceability.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Forwards the product to the appropriate Inspector for quality inspection.</a:t>
            </a:r>
            <a:endParaRPr sz="1100">
              <a:solidFill>
                <a:schemeClr val="dk1"/>
              </a:solidFill>
            </a:endParaRPr>
          </a:p>
          <a:p>
            <a:pPr marL="0" lvl="0" indent="0" algn="l" rtl="0">
              <a:lnSpc>
                <a:spcPct val="80000"/>
              </a:lnSpc>
              <a:spcBef>
                <a:spcPts val="1200"/>
              </a:spcBef>
              <a:spcAft>
                <a:spcPts val="1200"/>
              </a:spcAft>
              <a:buNone/>
            </a:pPr>
            <a:endParaRPr sz="13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body" idx="1"/>
          </p:nvPr>
        </p:nvSpPr>
        <p:spPr>
          <a:xfrm>
            <a:off x="311700" y="471650"/>
            <a:ext cx="8520600" cy="4097100"/>
          </a:xfrm>
          <a:prstGeom prst="rect">
            <a:avLst/>
          </a:prstGeom>
        </p:spPr>
        <p:txBody>
          <a:bodyPr spcFirstLastPara="1" wrap="square" lIns="91425" tIns="91425" rIns="91425" bIns="91425" anchor="t" anchorCtr="0">
            <a:normAutofit lnSpcReduction="20000"/>
          </a:bodyPr>
          <a:lstStyle/>
          <a:p>
            <a:pPr marL="0" lvl="0" indent="0" algn="l" rtl="0">
              <a:spcBef>
                <a:spcPts val="1800"/>
              </a:spcBef>
              <a:spcAft>
                <a:spcPts val="0"/>
              </a:spcAft>
              <a:buClr>
                <a:schemeClr val="dk1"/>
              </a:buClr>
              <a:buSzPts val="1100"/>
              <a:buFont typeface="Arial"/>
              <a:buNone/>
            </a:pPr>
            <a:r>
              <a:rPr lang="en-GB" sz="1300" b="1" u="sng">
                <a:solidFill>
                  <a:schemeClr val="dk1"/>
                </a:solidFill>
              </a:rPr>
              <a:t>Material Inspector</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Responsibilities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Inspects products assigned based on the product's serial number.</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Performs inspection according to predefined inspection guidelines.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Records inspection details in a digital inspection datasheet.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Verifies product measurements using appropriate measuring instruments.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Ensures all measurements fall within the specified tolerance limits.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Approves the product for further processing if inspection is successful if doubtful forwards to Indenter.</a:t>
            </a:r>
            <a:endParaRPr sz="1100">
              <a:solidFill>
                <a:schemeClr val="dk1"/>
              </a:solidFill>
            </a:endParaRPr>
          </a:p>
          <a:p>
            <a:pPr marL="0" lvl="0" indent="0" algn="l" rtl="0">
              <a:spcBef>
                <a:spcPts val="1800"/>
              </a:spcBef>
              <a:spcAft>
                <a:spcPts val="0"/>
              </a:spcAft>
              <a:buClr>
                <a:schemeClr val="dk1"/>
              </a:buClr>
              <a:buSzPts val="1100"/>
              <a:buFont typeface="Arial"/>
              <a:buNone/>
            </a:pPr>
            <a:r>
              <a:rPr lang="en-GB" sz="1300" b="1" u="sng">
                <a:solidFill>
                  <a:schemeClr val="dk1"/>
                </a:solidFill>
              </a:rPr>
              <a:t>Subcontract Inspector</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Responsibilities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Inspects products received from subcontract vendors.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Performs inspection using the same quality guidelines and inspection standards.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Records inspection observations and measurement values.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Validates whether the product satisfies the required tolerance specifications.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Approves products that satisfy inspection criteria or forwards doubtful cases to Indenter for further review.</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8"/>
          <p:cNvSpPr txBox="1">
            <a:spLocks noGrp="1"/>
          </p:cNvSpPr>
          <p:nvPr>
            <p:ph type="body" idx="1"/>
          </p:nvPr>
        </p:nvSpPr>
        <p:spPr>
          <a:xfrm>
            <a:off x="311700" y="384375"/>
            <a:ext cx="8520600" cy="4184400"/>
          </a:xfrm>
          <a:prstGeom prst="rect">
            <a:avLst/>
          </a:prstGeom>
        </p:spPr>
        <p:txBody>
          <a:bodyPr spcFirstLastPara="1" wrap="square" lIns="91425" tIns="91425" rIns="91425" bIns="91425" anchor="t" anchorCtr="0">
            <a:normAutofit lnSpcReduction="10000"/>
          </a:bodyPr>
          <a:lstStyle/>
          <a:p>
            <a:pPr marL="0" lvl="0" indent="0" algn="l" rtl="0">
              <a:spcBef>
                <a:spcPts val="1800"/>
              </a:spcBef>
              <a:spcAft>
                <a:spcPts val="0"/>
              </a:spcAft>
              <a:buClr>
                <a:schemeClr val="dk1"/>
              </a:buClr>
              <a:buSzPts val="1100"/>
              <a:buFont typeface="Arial"/>
              <a:buNone/>
            </a:pPr>
            <a:r>
              <a:rPr lang="en-GB" sz="1300" b="1" u="sng">
                <a:solidFill>
                  <a:schemeClr val="dk1"/>
                </a:solidFill>
              </a:rPr>
              <a:t>Indenter</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Responsibilities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Acts as the person who originally placed the purchase order.</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Reviews products that require clarification after inspection.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Examines the inspector's report and inspection findings.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Decides whether the product should continue for approval or be rejected.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Places products in a </a:t>
            </a:r>
            <a:r>
              <a:rPr lang="en-GB" sz="1100" b="1">
                <a:solidFill>
                  <a:schemeClr val="dk1"/>
                </a:solidFill>
              </a:rPr>
              <a:t>Waiting</a:t>
            </a:r>
            <a:r>
              <a:rPr lang="en-GB" sz="1100">
                <a:solidFill>
                  <a:schemeClr val="dk1"/>
                </a:solidFill>
              </a:rPr>
              <a:t> state until the final usage decision is made.</a:t>
            </a:r>
            <a:endParaRPr sz="1100">
              <a:solidFill>
                <a:schemeClr val="dk1"/>
              </a:solidFill>
            </a:endParaRPr>
          </a:p>
          <a:p>
            <a:pPr marL="0" lvl="0" indent="0" algn="l" rtl="0">
              <a:spcBef>
                <a:spcPts val="1800"/>
              </a:spcBef>
              <a:spcAft>
                <a:spcPts val="0"/>
              </a:spcAft>
              <a:buClr>
                <a:schemeClr val="dk1"/>
              </a:buClr>
              <a:buSzPts val="1100"/>
              <a:buFont typeface="Arial"/>
              <a:buNone/>
            </a:pPr>
            <a:r>
              <a:rPr lang="en-GB" sz="1300" b="1" u="sng">
                <a:solidFill>
                  <a:schemeClr val="dk1"/>
                </a:solidFill>
              </a:rPr>
              <a:t>Approver</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Responsibilities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Performs the final evaluation of the product.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Reviews inspection reports and the Indentor's recommendation.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Makes the final </a:t>
            </a:r>
            <a:r>
              <a:rPr lang="en-GB" sz="1100" b="1">
                <a:solidFill>
                  <a:schemeClr val="dk1"/>
                </a:solidFill>
              </a:rPr>
              <a:t>Usage Decision (UD)</a:t>
            </a:r>
            <a:r>
              <a:rPr lang="en-GB"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Approves products for further departmental use or rejects them based on the inspection outcome.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Completes the GR to UD process.</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9"/>
          <p:cNvSpPr txBox="1">
            <a:spLocks noGrp="1"/>
          </p:cNvSpPr>
          <p:nvPr>
            <p:ph type="body" idx="1"/>
          </p:nvPr>
        </p:nvSpPr>
        <p:spPr>
          <a:xfrm>
            <a:off x="311700" y="396075"/>
            <a:ext cx="8520600" cy="4055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Workflow:</a:t>
            </a:r>
            <a:endParaRPr/>
          </a:p>
        </p:txBody>
      </p:sp>
      <p:pic>
        <p:nvPicPr>
          <p:cNvPr id="142" name="Google Shape;142;p29" title="d27b085a-0b49-493a-ac50-a973f8cf8ee6.jpg"/>
          <p:cNvPicPr preferRelativeResize="0"/>
          <p:nvPr/>
        </p:nvPicPr>
        <p:blipFill>
          <a:blip r:embed="rId3">
            <a:alphaModFix/>
          </a:blip>
          <a:stretch>
            <a:fillRect/>
          </a:stretch>
        </p:blipFill>
        <p:spPr>
          <a:xfrm>
            <a:off x="2721501" y="721875"/>
            <a:ext cx="2300225" cy="3403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PDM(Predictive maintenance)</a:t>
            </a:r>
            <a:endParaRPr/>
          </a:p>
        </p:txBody>
      </p:sp>
      <p:sp>
        <p:nvSpPr>
          <p:cNvPr id="148" name="Google Shape;148;p30"/>
          <p:cNvSpPr txBox="1">
            <a:spLocks noGrp="1"/>
          </p:cNvSpPr>
          <p:nvPr>
            <p:ph type="body" idx="1"/>
          </p:nvPr>
        </p:nvSpPr>
        <p:spPr>
          <a:xfrm>
            <a:off x="311700" y="1152475"/>
            <a:ext cx="8520600" cy="3531600"/>
          </a:xfrm>
          <a:prstGeom prst="rect">
            <a:avLst/>
          </a:prstGeom>
        </p:spPr>
        <p:txBody>
          <a:bodyPr spcFirstLastPara="1" wrap="square" lIns="91425" tIns="91425" rIns="91425" bIns="91425" anchor="t" anchorCtr="0">
            <a:normAutofit fontScale="85000"/>
          </a:bodyPr>
          <a:lstStyle/>
          <a:p>
            <a:pPr marL="0" lvl="0" indent="0" algn="l" rtl="0">
              <a:spcBef>
                <a:spcPts val="1800"/>
              </a:spcBef>
              <a:spcAft>
                <a:spcPts val="0"/>
              </a:spcAft>
              <a:buClr>
                <a:schemeClr val="dk1"/>
              </a:buClr>
              <a:buSzPct val="70088"/>
              <a:buFont typeface="Arial"/>
              <a:buNone/>
            </a:pPr>
            <a:r>
              <a:rPr lang="en-GB" sz="1569" b="1">
                <a:solidFill>
                  <a:schemeClr val="dk1"/>
                </a:solidFill>
              </a:rPr>
              <a:t>Project Overview:</a:t>
            </a:r>
            <a:endParaRPr sz="1569" b="1">
              <a:solidFill>
                <a:schemeClr val="dk1"/>
              </a:solidFill>
            </a:endParaRPr>
          </a:p>
          <a:p>
            <a:pPr marL="457200" lvl="0" indent="-295529" algn="l" rtl="0">
              <a:spcBef>
                <a:spcPts val="1200"/>
              </a:spcBef>
              <a:spcAft>
                <a:spcPts val="0"/>
              </a:spcAft>
              <a:buClr>
                <a:schemeClr val="dk1"/>
              </a:buClr>
              <a:buSzPct val="100000"/>
              <a:buChar char="●"/>
            </a:pPr>
            <a:r>
              <a:rPr lang="en-GB" sz="1240">
                <a:solidFill>
                  <a:schemeClr val="dk1"/>
                </a:solidFill>
              </a:rPr>
              <a:t>Predictive Maintenance (PdM) is an intelligent monitoring system designed to continuously collect, store, visualize, and analyze sensor data from industrial components.</a:t>
            </a:r>
            <a:endParaRPr sz="1240">
              <a:solidFill>
                <a:schemeClr val="dk1"/>
              </a:solidFill>
            </a:endParaRPr>
          </a:p>
          <a:p>
            <a:pPr marL="457200" lvl="0" indent="-295529" algn="l" rtl="0">
              <a:spcBef>
                <a:spcPts val="0"/>
              </a:spcBef>
              <a:spcAft>
                <a:spcPts val="0"/>
              </a:spcAft>
              <a:buClr>
                <a:schemeClr val="dk1"/>
              </a:buClr>
              <a:buSzPct val="100000"/>
              <a:buChar char="●"/>
            </a:pPr>
            <a:r>
              <a:rPr lang="en-GB" sz="1240">
                <a:solidFill>
                  <a:schemeClr val="dk1"/>
                </a:solidFill>
              </a:rPr>
              <a:t>The project focuses on monitoring the health and operational status of multiple equipment components using real-time sensor data.</a:t>
            </a:r>
            <a:endParaRPr sz="1240">
              <a:solidFill>
                <a:schemeClr val="dk1"/>
              </a:solidFill>
            </a:endParaRPr>
          </a:p>
          <a:p>
            <a:pPr marL="457200" lvl="0" indent="-295529" algn="l" rtl="0">
              <a:spcBef>
                <a:spcPts val="0"/>
              </a:spcBef>
              <a:spcAft>
                <a:spcPts val="0"/>
              </a:spcAft>
              <a:buClr>
                <a:schemeClr val="dk1"/>
              </a:buClr>
              <a:buSzPct val="100000"/>
              <a:buChar char="●"/>
            </a:pPr>
            <a:r>
              <a:rPr lang="en-GB" sz="1240">
                <a:solidFill>
                  <a:schemeClr val="dk1"/>
                </a:solidFill>
              </a:rPr>
              <a:t>It enables early identification of abnormal operating conditions before equipment failure occurs.</a:t>
            </a:r>
            <a:endParaRPr sz="1240">
              <a:solidFill>
                <a:schemeClr val="dk1"/>
              </a:solidFill>
            </a:endParaRPr>
          </a:p>
          <a:p>
            <a:pPr marL="457200" lvl="0" indent="-295529" algn="l" rtl="0">
              <a:spcBef>
                <a:spcPts val="0"/>
              </a:spcBef>
              <a:spcAft>
                <a:spcPts val="0"/>
              </a:spcAft>
              <a:buClr>
                <a:schemeClr val="dk1"/>
              </a:buClr>
              <a:buSzPct val="100000"/>
              <a:buChar char="●"/>
            </a:pPr>
            <a:r>
              <a:rPr lang="en-GB" sz="1240">
                <a:solidFill>
                  <a:schemeClr val="dk1"/>
                </a:solidFill>
              </a:rPr>
              <a:t>Data is collected continuously through </a:t>
            </a:r>
            <a:r>
              <a:rPr lang="en-GB" sz="1240" b="1">
                <a:solidFill>
                  <a:schemeClr val="dk1"/>
                </a:solidFill>
              </a:rPr>
              <a:t>UDP communication</a:t>
            </a:r>
            <a:r>
              <a:rPr lang="en-GB" sz="1240">
                <a:solidFill>
                  <a:schemeClr val="dk1"/>
                </a:solidFill>
              </a:rPr>
              <a:t>, processed using a real-time data pipeline, and stored in specialized databases for monitoring and prediction.</a:t>
            </a:r>
            <a:endParaRPr sz="1240">
              <a:solidFill>
                <a:schemeClr val="dk1"/>
              </a:solidFill>
            </a:endParaRPr>
          </a:p>
          <a:p>
            <a:pPr marL="457200" lvl="0" indent="-295529" algn="l" rtl="0">
              <a:spcBef>
                <a:spcPts val="0"/>
              </a:spcBef>
              <a:spcAft>
                <a:spcPts val="0"/>
              </a:spcAft>
              <a:buClr>
                <a:schemeClr val="dk1"/>
              </a:buClr>
              <a:buSzPct val="100000"/>
              <a:buChar char="●"/>
            </a:pPr>
            <a:r>
              <a:rPr lang="en-GB" sz="1240">
                <a:solidFill>
                  <a:schemeClr val="dk1"/>
                </a:solidFill>
              </a:rPr>
              <a:t>Machine Learning models analyze historical sensor readings to predict potential failures and support maintenance planning.</a:t>
            </a:r>
            <a:endParaRPr sz="1240">
              <a:solidFill>
                <a:schemeClr val="dk1"/>
              </a:solidFill>
            </a:endParaRPr>
          </a:p>
          <a:p>
            <a:pPr marL="457200" lvl="0" indent="-295529" algn="l" rtl="0">
              <a:spcBef>
                <a:spcPts val="0"/>
              </a:spcBef>
              <a:spcAft>
                <a:spcPts val="0"/>
              </a:spcAft>
              <a:buClr>
                <a:schemeClr val="dk1"/>
              </a:buClr>
              <a:buSzPct val="100000"/>
              <a:buChar char="●"/>
            </a:pPr>
            <a:r>
              <a:rPr lang="en-GB" sz="1240">
                <a:solidFill>
                  <a:schemeClr val="dk1"/>
                </a:solidFill>
              </a:rPr>
              <a:t>The system combines real-time monitoring, historical data analysis, visualization dashboards, and AI-based prediction into a single platform.</a:t>
            </a:r>
            <a:endParaRPr sz="1240">
              <a:solidFill>
                <a:schemeClr val="dk1"/>
              </a:solidFill>
            </a:endParaRPr>
          </a:p>
          <a:p>
            <a:pPr marL="0" lvl="0" indent="0" algn="l" rtl="0">
              <a:spcBef>
                <a:spcPts val="2400"/>
              </a:spcBef>
              <a:spcAft>
                <a:spcPts val="0"/>
              </a:spcAft>
              <a:buNone/>
            </a:pPr>
            <a:r>
              <a:rPr lang="en-GB" sz="1532" b="1">
                <a:solidFill>
                  <a:schemeClr val="dk1"/>
                </a:solidFill>
              </a:rPr>
              <a:t>Problem Statement:</a:t>
            </a:r>
            <a:endParaRPr sz="1532" b="1">
              <a:solidFill>
                <a:schemeClr val="dk1"/>
              </a:solidFill>
            </a:endParaRPr>
          </a:p>
          <a:p>
            <a:pPr marL="0" lvl="0" indent="0" algn="l" rtl="0">
              <a:spcBef>
                <a:spcPts val="1200"/>
              </a:spcBef>
              <a:spcAft>
                <a:spcPts val="1200"/>
              </a:spcAft>
              <a:buNone/>
            </a:pPr>
            <a:r>
              <a:rPr lang="en-GB" sz="1315">
                <a:solidFill>
                  <a:schemeClr val="dk1"/>
                </a:solidFill>
              </a:rPr>
              <a:t>Industrial equipment often operates continuously, making manual monitoring difficult and inefficient. Traditional maintenance approaches either perform maintenance after equipment failure or follow fixed maintenance schedules, resulting in unnecessary downtime, increased maintenance costs, and unexpected equipment failures.</a:t>
            </a:r>
            <a:endParaRPr sz="156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1"/>
          <p:cNvSpPr txBox="1">
            <a:spLocks noGrp="1"/>
          </p:cNvSpPr>
          <p:nvPr>
            <p:ph type="body" idx="1"/>
          </p:nvPr>
        </p:nvSpPr>
        <p:spPr>
          <a:xfrm>
            <a:off x="311700" y="436800"/>
            <a:ext cx="8520600" cy="4288200"/>
          </a:xfrm>
          <a:prstGeom prst="rect">
            <a:avLst/>
          </a:prstGeom>
        </p:spPr>
        <p:txBody>
          <a:bodyPr spcFirstLastPara="1" wrap="square" lIns="91425" tIns="91425" rIns="91425" bIns="91425" anchor="t" anchorCtr="0">
            <a:normAutofit/>
          </a:bodyPr>
          <a:lstStyle/>
          <a:p>
            <a:pPr marL="0" lvl="0" indent="0" algn="l" rtl="0">
              <a:spcBef>
                <a:spcPts val="2400"/>
              </a:spcBef>
              <a:spcAft>
                <a:spcPts val="0"/>
              </a:spcAft>
              <a:buClr>
                <a:schemeClr val="dk1"/>
              </a:buClr>
              <a:buSzPts val="1100"/>
              <a:buFont typeface="Arial"/>
              <a:buNone/>
            </a:pPr>
            <a:r>
              <a:rPr lang="en-GB" sz="1300" b="1">
                <a:solidFill>
                  <a:schemeClr val="dk1"/>
                </a:solidFill>
              </a:rPr>
              <a:t>Objective</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Continuously acquire sensor data from industrial equipment using UDP communication.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Store real-time sensor readings efficiently for monitoring and analysis.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Visualize live and historical sensor data through interactive dashboards.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Detect abnormal operating conditions using sensor thresholds.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Predict equipment health using Machine Learning models.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Reduce unexpected equipment failures through predictive maintenance.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Support data-driven maintenance planning and decision making.</a:t>
            </a:r>
            <a:endParaRPr sz="1100">
              <a:solidFill>
                <a:schemeClr val="dk1"/>
              </a:solidFill>
            </a:endParaRPr>
          </a:p>
          <a:p>
            <a:pPr marL="0" lvl="0" indent="0" algn="l" rtl="0">
              <a:spcBef>
                <a:spcPts val="2400"/>
              </a:spcBef>
              <a:spcAft>
                <a:spcPts val="0"/>
              </a:spcAft>
              <a:buNone/>
            </a:pPr>
            <a:r>
              <a:rPr lang="en-GB" sz="1300" b="1">
                <a:solidFill>
                  <a:schemeClr val="dk1"/>
                </a:solidFill>
              </a:rPr>
              <a:t>Components Monitored:</a:t>
            </a:r>
            <a:endParaRPr sz="1300" b="1">
              <a:solidFill>
                <a:schemeClr val="dk1"/>
              </a:solidFill>
            </a:endParaRPr>
          </a:p>
          <a:p>
            <a:pPr marL="0" lvl="0" indent="0" algn="l" rtl="0">
              <a:spcBef>
                <a:spcPts val="1400"/>
              </a:spcBef>
              <a:spcAft>
                <a:spcPts val="0"/>
              </a:spcAft>
              <a:buNone/>
            </a:pPr>
            <a:r>
              <a:rPr lang="en-GB" sz="1200" b="1" u="sng">
                <a:solidFill>
                  <a:schemeClr val="dk1"/>
                </a:solidFill>
              </a:rPr>
              <a:t>CWCM76/A190</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CPU/Board-based component.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Monitored using temperature sensor readings.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Operating Levels:</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Low : ≤ 40°C</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Medium : 45–60°C</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High : ≥ 100°C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2"/>
          <p:cNvSpPr txBox="1">
            <a:spLocks noGrp="1"/>
          </p:cNvSpPr>
          <p:nvPr>
            <p:ph type="body" idx="1"/>
          </p:nvPr>
        </p:nvSpPr>
        <p:spPr>
          <a:xfrm>
            <a:off x="311700" y="413475"/>
            <a:ext cx="8520600" cy="42531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None/>
            </a:pPr>
            <a:r>
              <a:rPr lang="en-GB" sz="1200" b="1" u="sng">
                <a:solidFill>
                  <a:schemeClr val="dk1"/>
                </a:solidFill>
              </a:rPr>
              <a:t>CWCMP&amp;SP</a:t>
            </a:r>
            <a:endParaRPr sz="14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CPU/Board-based component.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Temperature-based health monitoring.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Uses predefined threshold values to determine operating condition.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Temperature Ranges:</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Low : ≤ 40°C</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Medium : 45–60°C</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High : ≥ 100°C</a:t>
            </a:r>
            <a:endParaRPr sz="1100">
              <a:solidFill>
                <a:schemeClr val="dk1"/>
              </a:solidFill>
            </a:endParaRPr>
          </a:p>
          <a:p>
            <a:pPr marL="0" lvl="0" indent="0" algn="l" rtl="0">
              <a:spcBef>
                <a:spcPts val="1400"/>
              </a:spcBef>
              <a:spcAft>
                <a:spcPts val="0"/>
              </a:spcAft>
              <a:buClr>
                <a:schemeClr val="dk1"/>
              </a:buClr>
              <a:buSzPts val="1100"/>
              <a:buFont typeface="Arial"/>
              <a:buNone/>
            </a:pPr>
            <a:r>
              <a:rPr lang="en-GB" sz="1200" b="1" u="sng">
                <a:solidFill>
                  <a:schemeClr val="dk1"/>
                </a:solidFill>
              </a:rPr>
              <a:t>RADAR</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Industrial electronic component.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Continuously monitored through sensor readings.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Health status determined using collected operational parameters.</a:t>
            </a:r>
            <a:endParaRPr sz="1100">
              <a:solidFill>
                <a:schemeClr val="dk1"/>
              </a:solidFill>
            </a:endParaRPr>
          </a:p>
          <a:p>
            <a:pPr marL="0" lvl="0" indent="0" algn="l" rtl="0">
              <a:spcBef>
                <a:spcPts val="1400"/>
              </a:spcBef>
              <a:spcAft>
                <a:spcPts val="0"/>
              </a:spcAft>
              <a:buNone/>
            </a:pPr>
            <a:r>
              <a:rPr lang="en-GB" sz="1200" b="1" u="sng">
                <a:solidFill>
                  <a:schemeClr val="dk1"/>
                </a:solidFill>
              </a:rPr>
              <a:t>SERVO</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Industrial electronic component.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Included in continuous condition monitoring.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Sensor values contribute to predictive analysis.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3"/>
          <p:cNvSpPr txBox="1">
            <a:spLocks noGrp="1"/>
          </p:cNvSpPr>
          <p:nvPr>
            <p:ph type="body" idx="1"/>
          </p:nvPr>
        </p:nvSpPr>
        <p:spPr>
          <a:xfrm>
            <a:off x="311700" y="425175"/>
            <a:ext cx="8520600" cy="4323000"/>
          </a:xfrm>
          <a:prstGeom prst="rect">
            <a:avLst/>
          </a:prstGeom>
        </p:spPr>
        <p:txBody>
          <a:bodyPr spcFirstLastPara="1" wrap="square" lIns="91425" tIns="91425" rIns="91425" bIns="91425" anchor="t" anchorCtr="0">
            <a:normAutofit fontScale="92500" lnSpcReduction="20000"/>
          </a:bodyPr>
          <a:lstStyle/>
          <a:p>
            <a:pPr marL="0" lvl="0" indent="0" algn="l" rtl="0">
              <a:spcBef>
                <a:spcPts val="1400"/>
              </a:spcBef>
              <a:spcAft>
                <a:spcPts val="0"/>
              </a:spcAft>
              <a:buClr>
                <a:schemeClr val="dk1"/>
              </a:buClr>
              <a:buSzPct val="91667"/>
              <a:buFont typeface="Arial"/>
              <a:buNone/>
            </a:pPr>
            <a:r>
              <a:rPr lang="en-GB" sz="1200" b="1" u="sng">
                <a:solidFill>
                  <a:schemeClr val="dk1"/>
                </a:solidFill>
              </a:rPr>
              <a:t>MOTOR</a:t>
            </a:r>
            <a:endParaRPr sz="1200" b="1" u="sng">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Motor component.</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Monitored using </a:t>
            </a:r>
            <a:r>
              <a:rPr lang="en-GB" sz="1100" b="1">
                <a:solidFill>
                  <a:schemeClr val="dk1"/>
                </a:solidFill>
              </a:rPr>
              <a:t>Three-Phase Current</a:t>
            </a:r>
            <a:r>
              <a:rPr lang="en-GB" sz="1100">
                <a:solidFill>
                  <a:schemeClr val="dk1"/>
                </a:solidFill>
              </a:rPr>
              <a:t> measurements.</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Current imbalance or abnormal current patterns may indicate overload, electrical faults, or motor degradation.</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Sensor data is used to assess motor health and support predictive maintenance.</a:t>
            </a:r>
            <a:endParaRPr sz="1100">
              <a:solidFill>
                <a:schemeClr val="dk1"/>
              </a:solidFill>
            </a:endParaRPr>
          </a:p>
          <a:p>
            <a:pPr marL="0" lvl="0" indent="0" algn="l" rtl="0">
              <a:spcBef>
                <a:spcPts val="1200"/>
              </a:spcBef>
              <a:spcAft>
                <a:spcPts val="0"/>
              </a:spcAft>
              <a:buNone/>
            </a:pPr>
            <a:r>
              <a:rPr lang="en-GB" sz="1400" b="1">
                <a:solidFill>
                  <a:schemeClr val="dk1"/>
                </a:solidFill>
              </a:rPr>
              <a:t>Technology Stack:</a:t>
            </a:r>
            <a:endParaRPr sz="1400" b="1">
              <a:solidFill>
                <a:schemeClr val="dk1"/>
              </a:solidFill>
            </a:endParaRPr>
          </a:p>
          <a:p>
            <a:pPr marL="0" lvl="0" indent="0" algn="l" rtl="0">
              <a:spcBef>
                <a:spcPts val="1400"/>
              </a:spcBef>
              <a:spcAft>
                <a:spcPts val="0"/>
              </a:spcAft>
              <a:buNone/>
            </a:pPr>
            <a:r>
              <a:rPr lang="en-GB" sz="1300" b="1" u="sng">
                <a:solidFill>
                  <a:schemeClr val="dk1"/>
                </a:solidFill>
              </a:rPr>
              <a:t>Frontend</a:t>
            </a:r>
            <a:endParaRPr sz="1300" b="1" u="sng">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Dash Framework</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React.js</a:t>
            </a:r>
            <a:endParaRPr sz="1100">
              <a:solidFill>
                <a:schemeClr val="dk1"/>
              </a:solidFill>
            </a:endParaRPr>
          </a:p>
          <a:p>
            <a:pPr marL="0" lvl="0" indent="0" algn="l" rtl="0">
              <a:spcBef>
                <a:spcPts val="1400"/>
              </a:spcBef>
              <a:spcAft>
                <a:spcPts val="0"/>
              </a:spcAft>
              <a:buNone/>
            </a:pPr>
            <a:r>
              <a:rPr lang="en-GB" sz="1300" b="1" u="sng">
                <a:solidFill>
                  <a:schemeClr val="dk1"/>
                </a:solidFill>
              </a:rPr>
              <a:t>Backend</a:t>
            </a:r>
            <a:endParaRPr sz="1300" b="1" u="sng">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Dash Framework</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Node.js</a:t>
            </a:r>
            <a:endParaRPr sz="1100">
              <a:solidFill>
                <a:schemeClr val="dk1"/>
              </a:solidFill>
            </a:endParaRPr>
          </a:p>
          <a:p>
            <a:pPr marL="0" lvl="0" indent="0" algn="l" rtl="0">
              <a:spcBef>
                <a:spcPts val="1400"/>
              </a:spcBef>
              <a:spcAft>
                <a:spcPts val="0"/>
              </a:spcAft>
              <a:buNone/>
            </a:pPr>
            <a:r>
              <a:rPr lang="en-GB" sz="1300" b="1" u="sng">
                <a:solidFill>
                  <a:schemeClr val="dk1"/>
                </a:solidFill>
              </a:rPr>
              <a:t>Databases</a:t>
            </a:r>
            <a:endParaRPr sz="1300" b="1" u="sng">
              <a:solidFill>
                <a:schemeClr val="dk1"/>
              </a:solidFill>
            </a:endParaRPr>
          </a:p>
          <a:p>
            <a:pPr marL="457200" lvl="0" indent="-293211" algn="l" rtl="0">
              <a:spcBef>
                <a:spcPts val="1200"/>
              </a:spcBef>
              <a:spcAft>
                <a:spcPts val="0"/>
              </a:spcAft>
              <a:buClr>
                <a:schemeClr val="dk1"/>
              </a:buClr>
              <a:buSzPct val="100000"/>
              <a:buChar char="●"/>
            </a:pPr>
            <a:r>
              <a:rPr lang="en-GB" sz="1100">
                <a:solidFill>
                  <a:schemeClr val="dk1"/>
                </a:solidFill>
              </a:rPr>
              <a:t>InfluxDB (Time-Series Database)</a:t>
            </a:r>
            <a:endParaRPr sz="1100">
              <a:solidFill>
                <a:schemeClr val="dk1"/>
              </a:solidFill>
            </a:endParaRPr>
          </a:p>
          <a:p>
            <a:pPr marL="457200" lvl="0" indent="-293211" algn="l" rtl="0">
              <a:spcBef>
                <a:spcPts val="0"/>
              </a:spcBef>
              <a:spcAft>
                <a:spcPts val="0"/>
              </a:spcAft>
              <a:buClr>
                <a:schemeClr val="dk1"/>
              </a:buClr>
              <a:buSzPct val="100000"/>
              <a:buChar char="●"/>
            </a:pPr>
            <a:r>
              <a:rPr lang="en-GB" sz="1100">
                <a:solidFill>
                  <a:schemeClr val="dk1"/>
                </a:solidFill>
              </a:rPr>
              <a:t>PostgreSQL</a:t>
            </a:r>
            <a:endParaRPr sz="1100">
              <a:solidFill>
                <a:schemeClr val="dk1"/>
              </a:solidFill>
            </a:endParaRPr>
          </a:p>
          <a:p>
            <a:pPr marL="0" lvl="0" indent="0" algn="l" rtl="0">
              <a:spcBef>
                <a:spcPts val="1200"/>
              </a:spcBef>
              <a:spcAft>
                <a:spcPts val="1200"/>
              </a:spcAft>
              <a:buNone/>
            </a:pP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4"/>
          <p:cNvSpPr txBox="1">
            <a:spLocks noGrp="1"/>
          </p:cNvSpPr>
          <p:nvPr>
            <p:ph type="body" idx="1"/>
          </p:nvPr>
        </p:nvSpPr>
        <p:spPr>
          <a:xfrm>
            <a:off x="311700" y="436750"/>
            <a:ext cx="8520600" cy="4132200"/>
          </a:xfrm>
          <a:prstGeom prst="rect">
            <a:avLst/>
          </a:prstGeom>
        </p:spPr>
        <p:txBody>
          <a:bodyPr spcFirstLastPara="1" wrap="square" lIns="91425" tIns="91425" rIns="91425" bIns="91425" anchor="t" anchorCtr="0">
            <a:normAutofit lnSpcReduction="20000"/>
          </a:bodyPr>
          <a:lstStyle/>
          <a:p>
            <a:pPr marL="0" lvl="0" indent="0" algn="l" rtl="0">
              <a:spcBef>
                <a:spcPts val="1400"/>
              </a:spcBef>
              <a:spcAft>
                <a:spcPts val="0"/>
              </a:spcAft>
              <a:buNone/>
            </a:pPr>
            <a:r>
              <a:rPr lang="en-GB" sz="1200" b="1" u="sng">
                <a:solidFill>
                  <a:schemeClr val="dk1"/>
                </a:solidFill>
              </a:rPr>
              <a:t>Data Handling</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UDP Sender &amp; Receiver</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Redis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CSV Files</a:t>
            </a:r>
            <a:endParaRPr sz="2300" b="1">
              <a:solidFill>
                <a:schemeClr val="dk1"/>
              </a:solidFill>
            </a:endParaRPr>
          </a:p>
          <a:p>
            <a:pPr marL="0" lvl="0" indent="0" algn="l" rtl="0">
              <a:spcBef>
                <a:spcPts val="1400"/>
              </a:spcBef>
              <a:spcAft>
                <a:spcPts val="0"/>
              </a:spcAft>
              <a:buNone/>
            </a:pPr>
            <a:r>
              <a:rPr lang="en-GB" sz="1200" b="1" u="sng">
                <a:solidFill>
                  <a:schemeClr val="dk1"/>
                </a:solidFill>
              </a:rPr>
              <a:t>Machine Learning</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LSTM</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Random Forest</a:t>
            </a:r>
            <a:endParaRPr sz="2300" b="1">
              <a:solidFill>
                <a:schemeClr val="dk1"/>
              </a:solidFill>
            </a:endParaRPr>
          </a:p>
          <a:p>
            <a:pPr marL="0" lvl="0" indent="0" algn="l" rtl="0">
              <a:spcBef>
                <a:spcPts val="2400"/>
              </a:spcBef>
              <a:spcAft>
                <a:spcPts val="0"/>
              </a:spcAft>
              <a:buClr>
                <a:schemeClr val="dk1"/>
              </a:buClr>
              <a:buSzPts val="1100"/>
              <a:buFont typeface="Arial"/>
              <a:buNone/>
            </a:pPr>
            <a:r>
              <a:rPr lang="en-GB" sz="1400" b="1">
                <a:solidFill>
                  <a:schemeClr val="dk1"/>
                </a:solidFill>
              </a:rPr>
              <a:t>Conclusion:</a:t>
            </a:r>
            <a:endParaRPr sz="14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The Predictive Maintenance system integrates real-time data acquisition, visualization, database management, and Machine Learning into a unified monitoring platform.</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It enables continuous equipment health monitoring through live sensor data and historical trend analysis.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By combining intelligent prediction models with real-time dashboards, the system supports proactive maintenance planning, reduces unexpected failures, and improves equipment reliability.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The project demonstrates how modern industrial applications leverage IoT communication, time-series databases, and AI to enhance maintenance efficiency.</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5"/>
          <p:cNvSpPr txBox="1">
            <a:spLocks noGrp="1"/>
          </p:cNvSpPr>
          <p:nvPr>
            <p:ph type="body" idx="1"/>
          </p:nvPr>
        </p:nvSpPr>
        <p:spPr>
          <a:xfrm>
            <a:off x="288425" y="63462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300" b="1">
                <a:solidFill>
                  <a:schemeClr val="dk1"/>
                </a:solidFill>
              </a:rPr>
              <a:t>Learning:</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Through studying this project, I gained an understanding of:</a:t>
            </a:r>
            <a:endParaRPr sz="1100">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Predictive Maintenance concepts and industrial monitoring systems.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Application development using </a:t>
            </a:r>
            <a:r>
              <a:rPr lang="en-GB" sz="1100" b="1">
                <a:solidFill>
                  <a:schemeClr val="dk1"/>
                </a:solidFill>
              </a:rPr>
              <a:t>React.js</a:t>
            </a:r>
            <a:r>
              <a:rPr lang="en-GB" sz="1100">
                <a:solidFill>
                  <a:schemeClr val="dk1"/>
                </a:solidFill>
              </a:rPr>
              <a:t> and </a:t>
            </a:r>
            <a:r>
              <a:rPr lang="en-GB" sz="1100" b="1">
                <a:solidFill>
                  <a:schemeClr val="dk1"/>
                </a:solidFill>
              </a:rPr>
              <a:t>Node.js</a:t>
            </a:r>
            <a:r>
              <a:rPr lang="en-GB"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Database integration using </a:t>
            </a:r>
            <a:r>
              <a:rPr lang="en-GB" sz="1100" b="1">
                <a:solidFill>
                  <a:schemeClr val="dk1"/>
                </a:solidFill>
              </a:rPr>
              <a:t>PostgreSQL</a:t>
            </a:r>
            <a:r>
              <a:rPr lang="en-GB"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Machine Learning-based prediction using </a:t>
            </a:r>
            <a:r>
              <a:rPr lang="en-GB" sz="1100" b="1">
                <a:solidFill>
                  <a:schemeClr val="dk1"/>
                </a:solidFill>
              </a:rPr>
              <a:t>LSTM</a:t>
            </a:r>
            <a:r>
              <a:rPr lang="en-GB" sz="1100">
                <a:solidFill>
                  <a:schemeClr val="dk1"/>
                </a:solidFill>
              </a:rPr>
              <a:t> and </a:t>
            </a:r>
            <a:r>
              <a:rPr lang="en-GB" sz="1100" b="1">
                <a:solidFill>
                  <a:schemeClr val="dk1"/>
                </a:solidFill>
              </a:rPr>
              <a:t>Random Forest</a:t>
            </a:r>
            <a:r>
              <a:rPr lang="en-GB"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Industrial equipment health monitoring using temperature and motor current analysis.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End-to-end data flow from sensor acquisition to predictive analytics.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p1"/>
          <p:cNvSpPr txBox="1">
            <a:spLocks noGrp="1"/>
          </p:cNvSpPr>
          <p:nvPr>
            <p:ph type="title"/>
          </p:nvPr>
        </p:nvSpPr>
        <p:spPr>
          <a:xfrm>
            <a:off x="311700" y="1627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MROT (Maintenance Repair Operation Training)</a:t>
            </a:r>
            <a:endParaRPr/>
          </a:p>
        </p:txBody>
      </p:sp>
      <p:sp>
        <p:nvSpPr>
          <p:cNvPr id="102" name="Google Shape;102;p1"/>
          <p:cNvSpPr txBox="1">
            <a:spLocks noGrp="1"/>
          </p:cNvSpPr>
          <p:nvPr>
            <p:ph type="body" idx="1"/>
          </p:nvPr>
        </p:nvSpPr>
        <p:spPr>
          <a:xfrm>
            <a:off x="311700" y="863550"/>
            <a:ext cx="8520600" cy="397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Project Overview:</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Centralized web-based system for maintenance, repair, operation and training support of naval equipment.</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Four modules: Repair, Training, Operation and Maintenance.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Defect logs, periodic tasks, spares and equipment data are stored in the MROT_EON database.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Role-based access for maintainers, operators, supervisors, officers and administrators.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Ship-wise data (e.g. NGOPV) is loaded by bulk upload; MROT is connected to the PMS (cabinet).</a:t>
            </a:r>
            <a:endParaRPr sz="11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Problem Statement:</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Supporting complex naval systems means tracking defects, scheduling periodic maintenance, managing spares and keeping crews trained, across many users and ships. Defect records are scattered, weekly and monthly tasks can be missed, and manuals, PDFs and videos are hard to find.</a:t>
            </a:r>
            <a:endParaRPr sz="11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Objective:</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Bring repair, training, operation and maintenance into one platform.</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Log defects and guide troubleshooting.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Schedule weekly and monthly maintenance tasks.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Search manuals, PDFs and videos with advanced search.</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Test operators with MCQ-based training.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Control access by role, with admin privileges.</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3" name="Google Shape;103;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System Modules:</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Repair</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Defect logs and troubleshooting.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BIT reported defects (BD).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Functional defects (PD).</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Training</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MCQ assessments.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Operator learning (O&amp;T).</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Operation</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How the system works.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Block diagrams, PDFs and videos.</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Maintenance</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Weekly and monthly periodic tasks.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SSB (System Structure Breakdown), SI (External system interface) and PM (Periodic maintenance).</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Spares and equipment; advanced search.</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4" name="Google Shape;104;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User Roles &amp; Responsibilities:</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Maintainer (Access: MROT)</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Performs weekly and monthly maintenance tasks.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Logs and troubleshoots defects.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Checks spares and equipment details.</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Operator (Access: O&amp;T)</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Learns how the system works.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Takes MCQ-based training.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Uses the Operation module day to day.</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Supervisor (Access: MROT)</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Monitors maintenance tasks.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Tracks defect status.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Reviews work done by maintainers.</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200" b="1" u="sng">
                <a:solidFill>
                  <a:schemeClr val="dk1"/>
                </a:solidFill>
              </a:rPr>
              <a:t>Officer (Access: MROT + admin privileges)</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Oversees maintenance and repair status.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Reviews defect logs and reports.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Has admin privileges on top of MROT access.</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Administrator (Access: MROT + admin privileges)</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Manages users and their roles.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Configures the database and ship data.</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Has full control of the system.</a:t>
            </a:r>
            <a:endParaRPr sz="1100">
              <a:solidFill>
                <a:schemeClr val="dk1"/>
              </a:solidFill>
            </a:endParaRPr>
          </a:p>
          <a:p>
            <a:pPr marL="0" lvl="0" indent="0" algn="l" rtl="0">
              <a:spcBef>
                <a:spcPts val="1800"/>
              </a:spcBef>
              <a:spcAft>
                <a:spcPts val="0"/>
              </a:spcAft>
              <a:buClr>
                <a:schemeClr val="dk1"/>
              </a:buClr>
              <a:buSzPts val="1100"/>
              <a:buFont typeface="Arial"/>
              <a:buNone/>
            </a:pPr>
            <a:r>
              <a:rPr lang="en-GB" sz="1100">
                <a:solidFill>
                  <a:schemeClr val="dk1"/>
                </a:solidFill>
              </a:rPr>
              <a:t>Each login in the Users table (e.g. Navy Officer) is mapped to a system role (System Officer). MROT is connected to the PMS (cabinet).</a:t>
            </a:r>
            <a:endParaRPr sz="11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6" name="Google Shape;106;p1"/>
          <p:cNvSpPr txBox="1">
            <a:spLocks noGrp="1"/>
          </p:cNvSpPr>
          <p:nvPr>
            <p:ph type="body" idx="1"/>
          </p:nvPr>
        </p:nvSpPr>
        <p:spPr>
          <a:xfrm>
            <a:off x="311700" y="333150"/>
            <a:ext cx="8520600" cy="50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System Architecture:</a:t>
            </a:r>
            <a:endParaRPr sz="1300" b="1">
              <a:solidFill>
                <a:schemeClr val="dk1"/>
              </a:solidFill>
            </a:endParaRPr>
          </a:p>
        </p:txBody>
      </p:sp>
      <p:sp>
        <p:nvSpPr>
          <p:cNvPr id="107" name="Box 107"/>
          <p:cNvSpPr/>
          <p:nvPr/>
        </p:nvSpPr>
        <p:spPr>
          <a:xfrm>
            <a:off x="457200" y="2286000"/>
            <a:ext cx="1828800" cy="10972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Client (Frontend)</a:t>
            </a:r>
          </a:p>
          <a:p>
            <a:pPr algn="ctr"/>
            <a:r>
              <a:rPr lang="en-GB" sz="1000">
                <a:solidFill>
                  <a:schemeClr val="dk1"/>
                </a:solidFill>
              </a:rPr>
              <a:t>React build file</a:t>
            </a:r>
          </a:p>
        </p:txBody>
      </p:sp>
      <p:cxnSp>
        <p:nvCxnSpPr>
          <p:cNvPr id="108" name="Line 108"/>
          <p:cNvCxnSpPr/>
          <p:nvPr/>
        </p:nvCxnSpPr>
        <p:spPr>
          <a:xfrm>
            <a:off x="2286000" y="2834640"/>
            <a:ext cx="457200" cy="0"/>
          </a:xfrm>
          <a:prstGeom prst="straightConnector1">
            <a:avLst/>
          </a:prstGeom>
          <a:ln w="12700">
            <a:solidFill>
              <a:srgbClr val="000000"/>
            </a:solidFill>
          </a:ln>
        </p:spPr>
      </p:cxnSp>
      <p:cxnSp>
        <p:nvCxnSpPr>
          <p:cNvPr id="109" name="Line 109"/>
          <p:cNvCxnSpPr/>
          <p:nvPr/>
        </p:nvCxnSpPr>
        <p:spPr>
          <a:xfrm>
            <a:off x="2743200" y="1783080"/>
            <a:ext cx="0" cy="2103120"/>
          </a:xfrm>
          <a:prstGeom prst="straightConnector1">
            <a:avLst/>
          </a:prstGeom>
          <a:ln w="12700">
            <a:solidFill>
              <a:srgbClr val="000000"/>
            </a:solidFill>
          </a:ln>
        </p:spPr>
      </p:cxnSp>
      <p:cxnSp>
        <p:nvCxnSpPr>
          <p:cNvPr id="110" name="Line 110"/>
          <p:cNvCxnSpPr/>
          <p:nvPr/>
        </p:nvCxnSpPr>
        <p:spPr>
          <a:xfrm>
            <a:off x="2743200" y="1783080"/>
            <a:ext cx="457200" cy="0"/>
          </a:xfrm>
          <a:prstGeom prst="straightConnector1">
            <a:avLst/>
          </a:prstGeom>
          <a:ln w="12700">
            <a:solidFill>
              <a:srgbClr val="000000"/>
            </a:solidFill>
            <a:tailEnd type="triangle"/>
          </a:ln>
        </p:spPr>
      </p:cxnSp>
      <p:sp>
        <p:nvSpPr>
          <p:cNvPr id="111" name="Box 111"/>
          <p:cNvSpPr/>
          <p:nvPr/>
        </p:nvSpPr>
        <p:spPr>
          <a:xfrm>
            <a:off x="3200400" y="1325880"/>
            <a:ext cx="2926080" cy="91440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Python Server</a:t>
            </a:r>
          </a:p>
          <a:p>
            <a:pPr algn="ctr"/>
            <a:r>
              <a:rPr lang="en-GB" sz="1000">
                <a:solidFill>
                  <a:schemeClr val="dk1"/>
                </a:solidFill>
              </a:rPr>
              <a:t>Advanced search, annotation and feedback</a:t>
            </a:r>
          </a:p>
        </p:txBody>
      </p:sp>
      <p:cxnSp>
        <p:nvCxnSpPr>
          <p:cNvPr id="112" name="Line 112"/>
          <p:cNvCxnSpPr/>
          <p:nvPr/>
        </p:nvCxnSpPr>
        <p:spPr>
          <a:xfrm>
            <a:off x="2743200" y="2834640"/>
            <a:ext cx="457200" cy="0"/>
          </a:xfrm>
          <a:prstGeom prst="straightConnector1">
            <a:avLst/>
          </a:prstGeom>
          <a:ln w="12700">
            <a:solidFill>
              <a:srgbClr val="000000"/>
            </a:solidFill>
            <a:tailEnd type="triangle"/>
          </a:ln>
        </p:spPr>
      </p:cxnSp>
      <p:sp>
        <p:nvSpPr>
          <p:cNvPr id="113" name="Box 113"/>
          <p:cNvSpPr/>
          <p:nvPr/>
        </p:nvSpPr>
        <p:spPr>
          <a:xfrm>
            <a:off x="3200400" y="2377440"/>
            <a:ext cx="2926080" cy="91440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Node Server</a:t>
            </a:r>
          </a:p>
          <a:p>
            <a:pPr algn="ctr"/>
            <a:r>
              <a:rPr lang="en-GB" sz="1000">
                <a:solidFill>
                  <a:schemeClr val="dk1"/>
                </a:solidFill>
              </a:rPr>
              <a:t>PDFs, videos and database linking</a:t>
            </a:r>
          </a:p>
        </p:txBody>
      </p:sp>
      <p:cxnSp>
        <p:nvCxnSpPr>
          <p:cNvPr id="114" name="Line 114"/>
          <p:cNvCxnSpPr/>
          <p:nvPr/>
        </p:nvCxnSpPr>
        <p:spPr>
          <a:xfrm>
            <a:off x="2743200" y="3886200"/>
            <a:ext cx="457200" cy="0"/>
          </a:xfrm>
          <a:prstGeom prst="straightConnector1">
            <a:avLst/>
          </a:prstGeom>
          <a:ln w="12700">
            <a:solidFill>
              <a:srgbClr val="000000"/>
            </a:solidFill>
            <a:tailEnd type="triangle"/>
          </a:ln>
        </p:spPr>
      </p:cxnSp>
      <p:sp>
        <p:nvSpPr>
          <p:cNvPr id="115" name="Box 115"/>
          <p:cNvSpPr/>
          <p:nvPr/>
        </p:nvSpPr>
        <p:spPr>
          <a:xfrm>
            <a:off x="3200400" y="3429000"/>
            <a:ext cx="2926080" cy="91440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Third-party Server</a:t>
            </a:r>
          </a:p>
          <a:p>
            <a:pPr algn="ctr"/>
            <a:r>
              <a:rPr lang="en-GB" sz="1000">
                <a:solidFill>
                  <a:schemeClr val="dk1"/>
                </a:solidFill>
              </a:rPr>
              <a:t>Block diagrams and defects</a:t>
            </a:r>
          </a:p>
        </p:txBody>
      </p:sp>
      <p:cxnSp>
        <p:nvCxnSpPr>
          <p:cNvPr id="116" name="Line 116"/>
          <p:cNvCxnSpPr/>
          <p:nvPr/>
        </p:nvCxnSpPr>
        <p:spPr>
          <a:xfrm>
            <a:off x="6126480" y="2834640"/>
            <a:ext cx="640080" cy="0"/>
          </a:xfrm>
          <a:prstGeom prst="straightConnector1">
            <a:avLst/>
          </a:prstGeom>
          <a:ln w="12700">
            <a:solidFill>
              <a:srgbClr val="000000"/>
            </a:solidFill>
            <a:tailEnd type="triangle"/>
          </a:ln>
        </p:spPr>
      </p:cxnSp>
      <p:sp>
        <p:nvSpPr>
          <p:cNvPr id="117" name="Box 117"/>
          <p:cNvSpPr/>
          <p:nvPr/>
        </p:nvSpPr>
        <p:spPr>
          <a:xfrm>
            <a:off x="6766560" y="2286000"/>
            <a:ext cx="1920240" cy="10972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PostgreSQL</a:t>
            </a:r>
          </a:p>
          <a:p>
            <a:pPr algn="ctr"/>
            <a:r>
              <a:rPr lang="en-GB" sz="1000">
                <a:solidFill>
                  <a:schemeClr val="dk1"/>
                </a:solidFill>
              </a:rPr>
              <a:t>MROT_EON</a:t>
            </a:r>
          </a:p>
        </p:txBody>
      </p:sp>
      <p:sp>
        <p:nvSpPr>
          <p:cNvPr id="118" name="Text 118"/>
          <p:cNvSpPr txBox="1"/>
          <p:nvPr/>
        </p:nvSpPr>
        <p:spPr>
          <a:xfrm>
            <a:off x="310896" y="4434840"/>
            <a:ext cx="8229600" cy="3657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000"/>
              <a:buFont typeface="Arial"/>
              <a:buNone/>
            </a:pPr>
            <a:r>
              <a:rPr lang="en-GB" sz="1000">
                <a:solidFill>
                  <a:schemeClr val="dk1"/>
                </a:solidFill>
              </a:rPr>
              <a:t>Frontend ships as a build file only. Backend = Node, Python and third-party servers.</a:t>
            </a:r>
            <a:endParaRPr sz="10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19" name="Google Shape;119;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Setup and Data Workflow:</a:t>
            </a:r>
            <a:endParaRPr sz="1300" b="1">
              <a:solidFill>
                <a:schemeClr val="dk1"/>
              </a:solidFill>
            </a:endParaRPr>
          </a:p>
          <a:p>
            <a:pPr marL="457200" lvl="0" indent="-298450" algn="l" rtl="0">
              <a:spcBef>
                <a:spcPts val="1200"/>
              </a:spcBef>
              <a:spcAft>
                <a:spcPts val="0"/>
              </a:spcAft>
              <a:buClr>
                <a:schemeClr val="dk1"/>
              </a:buClr>
              <a:buSzPts val="1200"/>
              <a:buChar char="●"/>
            </a:pPr>
            <a:r>
              <a:rPr lang="en-GB" sz="1200" b="1">
                <a:solidFill>
                  <a:schemeClr val="dk1"/>
                </a:solidFill>
              </a:rPr>
              <a:t>Install software: </a:t>
            </a:r>
            <a:r>
              <a:rPr lang="en-GB" sz="1200">
                <a:solidFill>
                  <a:schemeClr val="dk1"/>
                </a:solidFill>
              </a:rPr>
              <a:t>Node.js, PostgreSQL (pgAdmin), VS Code, Python 3.12.</a:t>
            </a:r>
            <a:endParaRPr sz="1200">
              <a:solidFill>
                <a:schemeClr val="dk1"/>
              </a:solidFill>
            </a:endParaRPr>
          </a:p>
          <a:p>
            <a:pPr marL="457200" lvl="0" indent="-298450" algn="l" rtl="0">
              <a:spcBef>
                <a:spcPts val="0"/>
              </a:spcBef>
              <a:spcAft>
                <a:spcPts val="0"/>
              </a:spcAft>
              <a:buClr>
                <a:schemeClr val="dk1"/>
              </a:buClr>
              <a:buSzPts val="1200"/>
              <a:buChar char="●"/>
            </a:pPr>
            <a:r>
              <a:rPr lang="en-GB" sz="1200" b="1">
                <a:solidFill>
                  <a:schemeClr val="dk1"/>
                </a:solidFill>
              </a:rPr>
              <a:t>Configure database: </a:t>
            </a:r>
            <a:r>
              <a:rPr lang="en-GB" sz="1200">
                <a:solidFill>
                  <a:schemeClr val="dk1"/>
                </a:solidFill>
              </a:rPr>
              <a:t>Point db.config.js to the MROT_EON database.</a:t>
            </a:r>
            <a:endParaRPr sz="1200">
              <a:solidFill>
                <a:schemeClr val="dk1"/>
              </a:solidFill>
            </a:endParaRPr>
          </a:p>
          <a:p>
            <a:pPr marL="457200" lvl="0" indent="-298450" algn="l" rtl="0">
              <a:spcBef>
                <a:spcPts val="0"/>
              </a:spcBef>
              <a:spcAft>
                <a:spcPts val="0"/>
              </a:spcAft>
              <a:buClr>
                <a:schemeClr val="dk1"/>
              </a:buClr>
              <a:buSzPts val="1200"/>
              <a:buChar char="●"/>
            </a:pPr>
            <a:r>
              <a:rPr lang="en-GB" sz="1200" b="1">
                <a:solidFill>
                  <a:schemeClr val="dk1"/>
                </a:solidFill>
              </a:rPr>
              <a:t>Upload data: </a:t>
            </a:r>
            <a:r>
              <a:rPr lang="en-GB" sz="1200">
                <a:solidFill>
                  <a:schemeClr val="dk1"/>
                </a:solidFill>
              </a:rPr>
              <a:t>Bulk upload ship data (NGOPV); F6 saves to DB tables.</a:t>
            </a:r>
            <a:endParaRPr sz="1200">
              <a:solidFill>
                <a:schemeClr val="dk1"/>
              </a:solidFill>
            </a:endParaRPr>
          </a:p>
          <a:p>
            <a:pPr marL="457200" lvl="0" indent="-298450" algn="l" rtl="0">
              <a:spcBef>
                <a:spcPts val="0"/>
              </a:spcBef>
              <a:spcAft>
                <a:spcPts val="0"/>
              </a:spcAft>
              <a:buClr>
                <a:schemeClr val="dk1"/>
              </a:buClr>
              <a:buSzPts val="1200"/>
              <a:buChar char="●"/>
            </a:pPr>
            <a:r>
              <a:rPr lang="en-GB" sz="1200" b="1">
                <a:solidFill>
                  <a:schemeClr val="dk1"/>
                </a:solidFill>
              </a:rPr>
              <a:t>Link the client: </a:t>
            </a:r>
            <a:r>
              <a:rPr lang="en-GB" sz="1200">
                <a:solidFill>
                  <a:schemeClr val="dk1"/>
                </a:solidFill>
              </a:rPr>
              <a:t>Link the React build to EON-51, INS-NGOPV via data config.</a:t>
            </a:r>
            <a:endParaRPr sz="1200">
              <a:solidFill>
                <a:schemeClr val="dk1"/>
              </a:solidFill>
            </a:endParaRPr>
          </a:p>
          <a:p>
            <a:pPr marL="457200" lvl="0" indent="-298450" algn="l" rtl="0">
              <a:spcBef>
                <a:spcPts val="0"/>
              </a:spcBef>
              <a:spcAft>
                <a:spcPts val="0"/>
              </a:spcAft>
              <a:buClr>
                <a:schemeClr val="dk1"/>
              </a:buClr>
              <a:buSzPts val="1200"/>
              <a:buChar char="●"/>
            </a:pPr>
            <a:r>
              <a:rPr lang="en-GB" sz="1200" b="1">
                <a:solidFill>
                  <a:schemeClr val="dk1"/>
                </a:solidFill>
              </a:rPr>
              <a:t>Run servers: </a:t>
            </a:r>
            <a:r>
              <a:rPr lang="en-GB" sz="1200">
                <a:solidFill>
                  <a:schemeClr val="dk1"/>
                </a:solidFill>
              </a:rPr>
              <a:t>Start the Node and Python servers, then open the web client.</a:t>
            </a:r>
            <a:endParaRPr sz="12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20" name="Google Shape;120;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Conclusion:</a:t>
            </a:r>
            <a:endParaRPr sz="1300" b="1">
              <a:solidFill>
                <a:schemeClr val="dk1"/>
              </a:solidFill>
            </a:endParaRPr>
          </a:p>
          <a:p>
            <a:pPr marL="457200" lvl="0" indent="-298450" algn="l" rtl="0">
              <a:spcBef>
                <a:spcPts val="1200"/>
              </a:spcBef>
              <a:spcAft>
                <a:spcPts val="0"/>
              </a:spcAft>
              <a:buClr>
                <a:schemeClr val="dk1"/>
              </a:buClr>
              <a:buSzPts val="1150"/>
              <a:buChar char="●"/>
            </a:pPr>
            <a:r>
              <a:rPr lang="en-GB" sz="1150">
                <a:solidFill>
                  <a:schemeClr val="dk1"/>
                </a:solidFill>
              </a:rPr>
              <a:t>MROT gives one centralized platform for repair, training, operation and maintenance.</a:t>
            </a:r>
            <a:endParaRPr sz="1150">
              <a:solidFill>
                <a:schemeClr val="dk1"/>
              </a:solidFill>
            </a:endParaRPr>
          </a:p>
          <a:p>
            <a:pPr marL="457200" lvl="0" indent="-298450" algn="l" rtl="0">
              <a:spcBef>
                <a:spcPts val="0"/>
              </a:spcBef>
              <a:spcAft>
                <a:spcPts val="0"/>
              </a:spcAft>
              <a:buClr>
                <a:schemeClr val="dk1"/>
              </a:buClr>
              <a:buSzPts val="1150"/>
              <a:buChar char="●"/>
            </a:pPr>
            <a:r>
              <a:rPr lang="en-GB" sz="1150">
                <a:solidFill>
                  <a:schemeClr val="dk1"/>
                </a:solidFill>
              </a:rPr>
              <a:t>Role-based access gives each user the right tools and level of control.</a:t>
            </a:r>
            <a:endParaRPr sz="1150">
              <a:solidFill>
                <a:schemeClr val="dk1"/>
              </a:solidFill>
            </a:endParaRPr>
          </a:p>
          <a:p>
            <a:pPr marL="457200" lvl="0" indent="-298450" algn="l" rtl="0">
              <a:spcBef>
                <a:spcPts val="0"/>
              </a:spcBef>
              <a:spcAft>
                <a:spcPts val="0"/>
              </a:spcAft>
              <a:buClr>
                <a:schemeClr val="dk1"/>
              </a:buClr>
              <a:buSzPts val="1150"/>
              <a:buChar char="●"/>
            </a:pPr>
            <a:r>
              <a:rPr lang="en-GB" sz="1150">
                <a:solidFill>
                  <a:schemeClr val="dk1"/>
                </a:solidFill>
              </a:rPr>
              <a:t>Defect logs, periodic tasks, spares and documents in one database improve traceability.</a:t>
            </a:r>
            <a:endParaRPr sz="1150">
              <a:solidFill>
                <a:schemeClr val="dk1"/>
              </a:solidFill>
            </a:endParaRPr>
          </a:p>
          <a:p>
            <a:pPr marL="457200" lvl="0" indent="-298450" algn="l" rtl="0">
              <a:spcBef>
                <a:spcPts val="0"/>
              </a:spcBef>
              <a:spcAft>
                <a:spcPts val="0"/>
              </a:spcAft>
              <a:buClr>
                <a:schemeClr val="dk1"/>
              </a:buClr>
              <a:buSzPts val="1150"/>
              <a:buChar char="●"/>
            </a:pPr>
            <a:r>
              <a:rPr lang="en-GB" sz="1150">
                <a:solidFill>
                  <a:schemeClr val="dk1"/>
                </a:solidFill>
              </a:rPr>
              <a:t>Overall, it speeds up troubleshooting, simplifies maintenance and keeps crews trained.</a:t>
            </a:r>
            <a:endParaRPr sz="115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Technologies Used:</a:t>
            </a:r>
            <a:endParaRPr sz="1300" b="1">
              <a:solidFill>
                <a:schemeClr val="dk1"/>
              </a:solidFill>
            </a:endParaRPr>
          </a:p>
          <a:p>
            <a:pPr marL="457200" lvl="0" indent="-298450" algn="l" rtl="0">
              <a:spcBef>
                <a:spcPts val="1200"/>
              </a:spcBef>
              <a:spcAft>
                <a:spcPts val="0"/>
              </a:spcAft>
              <a:buClr>
                <a:schemeClr val="dk1"/>
              </a:buClr>
              <a:buSzPts val="1150"/>
              <a:buChar char="●"/>
            </a:pPr>
            <a:r>
              <a:rPr lang="en-GB" sz="1150" b="1">
                <a:solidFill>
                  <a:schemeClr val="dk1"/>
                </a:solidFill>
              </a:rPr>
              <a:t>Frontend: </a:t>
            </a:r>
            <a:r>
              <a:rPr lang="en-GB" sz="1150">
                <a:solidFill>
                  <a:schemeClr val="dk1"/>
                </a:solidFill>
              </a:rPr>
              <a:t>React.js (build file)</a:t>
            </a:r>
            <a:endParaRPr sz="1150">
              <a:solidFill>
                <a:schemeClr val="dk1"/>
              </a:solidFill>
            </a:endParaRPr>
          </a:p>
          <a:p>
            <a:pPr marL="457200" lvl="0" indent="-298450" algn="l" rtl="0">
              <a:spcBef>
                <a:spcPts val="0"/>
              </a:spcBef>
              <a:spcAft>
                <a:spcPts val="0"/>
              </a:spcAft>
              <a:buClr>
                <a:schemeClr val="dk1"/>
              </a:buClr>
              <a:buSzPts val="1150"/>
              <a:buChar char="●"/>
            </a:pPr>
            <a:r>
              <a:rPr lang="en-GB" sz="1150" b="1">
                <a:solidFill>
                  <a:schemeClr val="dk1"/>
                </a:solidFill>
              </a:rPr>
              <a:t>Backend: </a:t>
            </a:r>
            <a:r>
              <a:rPr lang="en-GB" sz="1150">
                <a:solidFill>
                  <a:schemeClr val="dk1"/>
                </a:solidFill>
              </a:rPr>
              <a:t>Node.js, Python</a:t>
            </a:r>
            <a:endParaRPr sz="1150">
              <a:solidFill>
                <a:schemeClr val="dk1"/>
              </a:solidFill>
            </a:endParaRPr>
          </a:p>
          <a:p>
            <a:pPr marL="457200" lvl="0" indent="-298450" algn="l" rtl="0">
              <a:spcBef>
                <a:spcPts val="0"/>
              </a:spcBef>
              <a:spcAft>
                <a:spcPts val="0"/>
              </a:spcAft>
              <a:buClr>
                <a:schemeClr val="dk1"/>
              </a:buClr>
              <a:buSzPts val="1150"/>
              <a:buChar char="●"/>
            </a:pPr>
            <a:r>
              <a:rPr lang="en-GB" sz="1150" b="1">
                <a:solidFill>
                  <a:schemeClr val="dk1"/>
                </a:solidFill>
              </a:rPr>
              <a:t>Database: </a:t>
            </a:r>
            <a:r>
              <a:rPr lang="en-GB" sz="1150">
                <a:solidFill>
                  <a:schemeClr val="dk1"/>
                </a:solidFill>
              </a:rPr>
              <a:t>PostgreSQL (pgAdmin)</a:t>
            </a:r>
            <a:endParaRPr sz="1150">
              <a:solidFill>
                <a:schemeClr val="dk1"/>
              </a:solidFill>
            </a:endParaRPr>
          </a:p>
          <a:p>
            <a:pPr marL="457200" lvl="0" indent="-298450" algn="l" rtl="0">
              <a:spcBef>
                <a:spcPts val="0"/>
              </a:spcBef>
              <a:spcAft>
                <a:spcPts val="0"/>
              </a:spcAft>
              <a:buClr>
                <a:schemeClr val="dk1"/>
              </a:buClr>
              <a:buSzPts val="1150"/>
              <a:buChar char="●"/>
            </a:pPr>
            <a:r>
              <a:rPr lang="en-GB" sz="1150" b="1">
                <a:solidFill>
                  <a:schemeClr val="dk1"/>
                </a:solidFill>
              </a:rPr>
              <a:t>Tools: </a:t>
            </a:r>
            <a:r>
              <a:rPr lang="en-GB" sz="1150">
                <a:solidFill>
                  <a:schemeClr val="dk1"/>
                </a:solidFill>
              </a:rPr>
              <a:t>VS Code, Python 3.12</a:t>
            </a:r>
            <a:endParaRPr sz="1150">
              <a:solidFill>
                <a:schemeClr val="dk1"/>
              </a:solidFill>
            </a:endParaRPr>
          </a:p>
          <a:p>
            <a:pPr marL="457200" lvl="0" indent="-298450" algn="l" rtl="0">
              <a:spcBef>
                <a:spcPts val="0"/>
              </a:spcBef>
              <a:spcAft>
                <a:spcPts val="0"/>
              </a:spcAft>
              <a:buClr>
                <a:schemeClr val="dk1"/>
              </a:buClr>
              <a:buSzPts val="1150"/>
              <a:buChar char="●"/>
            </a:pPr>
            <a:r>
              <a:rPr lang="en-GB" sz="1150" b="1">
                <a:solidFill>
                  <a:schemeClr val="dk1"/>
                </a:solidFill>
              </a:rPr>
              <a:t>Core Concepts: </a:t>
            </a:r>
            <a:r>
              <a:rPr lang="en-GB" sz="1150">
                <a:solidFill>
                  <a:schemeClr val="dk1"/>
                </a:solidFill>
              </a:rPr>
              <a:t>RBAC, defect logs, periodic maintenance, advanced search</a:t>
            </a:r>
            <a:endParaRPr sz="115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21" name="Google Shape;121;p1"/>
          <p:cNvSpPr txBox="1">
            <a:spLocks noGrp="1"/>
          </p:cNvSpPr>
          <p:nvPr>
            <p:ph type="title"/>
          </p:nvPr>
        </p:nvSpPr>
        <p:spPr>
          <a:xfrm>
            <a:off x="311700" y="1627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Marketing Portal</a:t>
            </a:r>
            <a:endParaRPr/>
          </a:p>
        </p:txBody>
      </p:sp>
      <p:sp>
        <p:nvSpPr>
          <p:cNvPr id="122" name="Google Shape;122;p1"/>
          <p:cNvSpPr txBox="1">
            <a:spLocks noGrp="1"/>
          </p:cNvSpPr>
          <p:nvPr>
            <p:ph type="body" idx="1"/>
          </p:nvPr>
        </p:nvSpPr>
        <p:spPr>
          <a:xfrm>
            <a:off x="311700" y="863550"/>
            <a:ext cx="8520600" cy="397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Project Overview:</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Web-based portal to manage marketing leads through six stages, from lead enquiry to order received.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Every lead is stored as one row in the leads table, identified by lead_reference_no.</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6 forms for data entry and 8 dashboards for marketing analysis.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Every module has three tabs: form submission, view / table and bulk upload.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Three actors use the portal: Admin, Executive and Operator.</a:t>
            </a:r>
            <a:endParaRPr sz="11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Problem Statement:</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Marketing teams handle many leads at once, each moving through quotations, tenders, bids and orders, with many details at every stage. Lead details are scattered, the current stage of a lead is not always clear, updating records is error-prone, and management lacks a single view of the pipeline.</a:t>
            </a:r>
            <a:endParaRPr sz="11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Objective:</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Capture every lead and check whether it is valid.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Track each lead through six defined stages and keep its stage history.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Support form entry and bulk upload for fast data loading.</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Update records safely using a unique key.</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Give management dashboards for pipeline and analysis.</a:t>
            </a:r>
            <a:endParaRPr sz="11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23" name="Google Shape;123;p1"/>
          <p:cNvSpPr txBox="1">
            <a:spLocks noGrp="1"/>
          </p:cNvSpPr>
          <p:nvPr>
            <p:ph type="body" idx="1"/>
          </p:nvPr>
        </p:nvSpPr>
        <p:spPr>
          <a:xfrm>
            <a:off x="311700" y="333150"/>
            <a:ext cx="8520600" cy="50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Lead Lifecycle (6 Stages):</a:t>
            </a:r>
            <a:endParaRPr sz="1300" b="1">
              <a:solidFill>
                <a:schemeClr val="dk1"/>
              </a:solidFill>
            </a:endParaRPr>
          </a:p>
        </p:txBody>
      </p:sp>
      <p:sp>
        <p:nvSpPr>
          <p:cNvPr id="124" name="Box 124"/>
          <p:cNvSpPr/>
          <p:nvPr/>
        </p:nvSpPr>
        <p:spPr>
          <a:xfrm>
            <a:off x="457200"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1. Lead Enquiry</a:t>
            </a:r>
          </a:p>
        </p:txBody>
      </p:sp>
      <p:cxnSp>
        <p:nvCxnSpPr>
          <p:cNvPr id="125" name="Line 125"/>
          <p:cNvCxnSpPr/>
          <p:nvPr/>
        </p:nvCxnSpPr>
        <p:spPr>
          <a:xfrm>
            <a:off x="1691640" y="1485900"/>
            <a:ext cx="164592" cy="0"/>
          </a:xfrm>
          <a:prstGeom prst="straightConnector1">
            <a:avLst/>
          </a:prstGeom>
          <a:ln w="12700">
            <a:solidFill>
              <a:srgbClr val="000000"/>
            </a:solidFill>
            <a:tailEnd type="triangle"/>
          </a:ln>
        </p:spPr>
      </p:cxnSp>
      <p:sp>
        <p:nvSpPr>
          <p:cNvPr id="126" name="Box 126"/>
          <p:cNvSpPr/>
          <p:nvPr/>
        </p:nvSpPr>
        <p:spPr>
          <a:xfrm>
            <a:off x="1856232"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2. Budgetary Quotation</a:t>
            </a:r>
          </a:p>
        </p:txBody>
      </p:sp>
      <p:cxnSp>
        <p:nvCxnSpPr>
          <p:cNvPr id="127" name="Line 127"/>
          <p:cNvCxnSpPr/>
          <p:nvPr/>
        </p:nvCxnSpPr>
        <p:spPr>
          <a:xfrm>
            <a:off x="3090672" y="1485900"/>
            <a:ext cx="164592" cy="0"/>
          </a:xfrm>
          <a:prstGeom prst="straightConnector1">
            <a:avLst/>
          </a:prstGeom>
          <a:ln w="12700">
            <a:solidFill>
              <a:srgbClr val="000000"/>
            </a:solidFill>
            <a:tailEnd type="triangle"/>
          </a:ln>
        </p:spPr>
      </p:cxnSp>
      <p:sp>
        <p:nvSpPr>
          <p:cNvPr id="128" name="Box 128"/>
          <p:cNvSpPr/>
          <p:nvPr/>
        </p:nvSpPr>
        <p:spPr>
          <a:xfrm>
            <a:off x="3255264"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3. Tender</a:t>
            </a:r>
          </a:p>
        </p:txBody>
      </p:sp>
      <p:cxnSp>
        <p:nvCxnSpPr>
          <p:cNvPr id="129" name="Line 129"/>
          <p:cNvCxnSpPr/>
          <p:nvPr/>
        </p:nvCxnSpPr>
        <p:spPr>
          <a:xfrm>
            <a:off x="4489704" y="1485900"/>
            <a:ext cx="164592" cy="0"/>
          </a:xfrm>
          <a:prstGeom prst="straightConnector1">
            <a:avLst/>
          </a:prstGeom>
          <a:ln w="12700">
            <a:solidFill>
              <a:srgbClr val="000000"/>
            </a:solidFill>
            <a:tailEnd type="triangle"/>
          </a:ln>
        </p:spPr>
      </p:cxnSp>
      <p:sp>
        <p:nvSpPr>
          <p:cNvPr id="130" name="Box 130"/>
          <p:cNvSpPr/>
          <p:nvPr/>
        </p:nvSpPr>
        <p:spPr>
          <a:xfrm>
            <a:off x="4654296"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4. Bidding</a:t>
            </a:r>
          </a:p>
        </p:txBody>
      </p:sp>
      <p:cxnSp>
        <p:nvCxnSpPr>
          <p:cNvPr id="131" name="Line 131"/>
          <p:cNvCxnSpPr/>
          <p:nvPr/>
        </p:nvCxnSpPr>
        <p:spPr>
          <a:xfrm>
            <a:off x="5888736" y="1485900"/>
            <a:ext cx="164592" cy="0"/>
          </a:xfrm>
          <a:prstGeom prst="straightConnector1">
            <a:avLst/>
          </a:prstGeom>
          <a:ln w="12700">
            <a:solidFill>
              <a:srgbClr val="000000"/>
            </a:solidFill>
            <a:tailEnd type="triangle"/>
          </a:ln>
        </p:spPr>
      </p:cxnSp>
      <p:sp>
        <p:nvSpPr>
          <p:cNvPr id="132" name="Box 132"/>
          <p:cNvSpPr/>
          <p:nvPr/>
        </p:nvSpPr>
        <p:spPr>
          <a:xfrm>
            <a:off x="6053328"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5. Order Acquisition</a:t>
            </a:r>
          </a:p>
        </p:txBody>
      </p:sp>
      <p:cxnSp>
        <p:nvCxnSpPr>
          <p:cNvPr id="133" name="Line 133"/>
          <p:cNvCxnSpPr/>
          <p:nvPr/>
        </p:nvCxnSpPr>
        <p:spPr>
          <a:xfrm>
            <a:off x="7287768" y="1485900"/>
            <a:ext cx="164592" cy="0"/>
          </a:xfrm>
          <a:prstGeom prst="straightConnector1">
            <a:avLst/>
          </a:prstGeom>
          <a:ln w="12700">
            <a:solidFill>
              <a:srgbClr val="000000"/>
            </a:solidFill>
            <a:tailEnd type="triangle"/>
          </a:ln>
        </p:spPr>
      </p:cxnSp>
      <p:sp>
        <p:nvSpPr>
          <p:cNvPr id="134" name="Box 134"/>
          <p:cNvSpPr/>
          <p:nvPr/>
        </p:nvSpPr>
        <p:spPr>
          <a:xfrm>
            <a:off x="7452360" y="1051560"/>
            <a:ext cx="1234440" cy="86868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6. Order Received</a:t>
            </a:r>
          </a:p>
        </p:txBody>
      </p:sp>
      <p:sp>
        <p:nvSpPr>
          <p:cNvPr id="135" name="Text 135"/>
          <p:cNvSpPr txBox="1"/>
          <p:nvPr/>
        </p:nvSpPr>
        <p:spPr>
          <a:xfrm>
            <a:off x="310896" y="2286000"/>
            <a:ext cx="8229600" cy="1828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200"/>
              <a:buChar char="●"/>
            </a:pPr>
            <a:r>
              <a:rPr lang="en-GB" sz="1200">
                <a:solidFill>
                  <a:schemeClr val="dk1"/>
                </a:solidFill>
              </a:rPr>
              <a:t>Start with a new lead: capture the enquiry and lead information.</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Check: is the lead valid?</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If valid, prepare a price estimate as a budgetary quotation.</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Then continue through tender, bidding, order acquisition and order received.</a:t>
            </a:r>
            <a:endParaRPr sz="12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36" name="Google Shape;136;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Module Structure:</a:t>
            </a:r>
            <a:endParaRPr sz="1300" b="1">
              <a:solidFill>
                <a:schemeClr val="dk1"/>
              </a:solidFill>
            </a:endParaRPr>
          </a:p>
          <a:p>
            <a:pPr marL="457200" lvl="0" indent="-298450" algn="l" rtl="0">
              <a:spcBef>
                <a:spcPts val="1200"/>
              </a:spcBef>
              <a:spcAft>
                <a:spcPts val="0"/>
              </a:spcAft>
              <a:buClr>
                <a:schemeClr val="dk1"/>
              </a:buClr>
              <a:buSzPts val="1200"/>
              <a:buChar char="●"/>
            </a:pPr>
            <a:r>
              <a:rPr lang="en-GB" sz="1200">
                <a:solidFill>
                  <a:schemeClr val="dk1"/>
                </a:solidFill>
              </a:rPr>
              <a:t>Every module has 3 tabs: form submission, view / table and bulk upload.</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Form submission has multiple sections, with 4 major ones.</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A unique key is used to update existing data; the first table uses the primary key (PK).</a:t>
            </a:r>
            <a:endParaRPr sz="12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Dashboards (8):</a:t>
            </a:r>
            <a:endParaRPr sz="1300" b="1">
              <a:solidFill>
                <a:schemeClr val="dk1"/>
              </a:solidFill>
            </a:endParaRPr>
          </a:p>
          <a:p>
            <a:pPr marL="457200" lvl="0" indent="-298450" algn="l" rtl="0">
              <a:spcBef>
                <a:spcPts val="1200"/>
              </a:spcBef>
              <a:spcAft>
                <a:spcPts val="0"/>
              </a:spcAft>
              <a:buClr>
                <a:schemeClr val="dk1"/>
              </a:buClr>
              <a:buSzPts val="1200"/>
              <a:buChar char="●"/>
            </a:pPr>
            <a:r>
              <a:rPr lang="en-GB" sz="1200">
                <a:solidFill>
                  <a:schemeClr val="dk1"/>
                </a:solidFill>
              </a:rPr>
              <a:t>Domestic, Export, Overview, Analysis, Pipeline, Monthly, Yearly and Radar.</a:t>
            </a:r>
            <a:endParaRPr sz="1200">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Forms (6):</a:t>
            </a:r>
            <a:endParaRPr sz="1300" b="1">
              <a:solidFill>
                <a:schemeClr val="dk1"/>
              </a:solidFill>
            </a:endParaRPr>
          </a:p>
          <a:p>
            <a:pPr marL="457200" lvl="0" indent="-298450" algn="l" rtl="0">
              <a:spcBef>
                <a:spcPts val="1200"/>
              </a:spcBef>
              <a:spcAft>
                <a:spcPts val="0"/>
              </a:spcAft>
              <a:buClr>
                <a:schemeClr val="dk1"/>
              </a:buClr>
              <a:buSzPts val="1200"/>
              <a:buChar char="●"/>
            </a:pPr>
            <a:r>
              <a:rPr lang="en-GB" sz="1200">
                <a:solidFill>
                  <a:schemeClr val="dk1"/>
                </a:solidFill>
              </a:rPr>
              <a:t>Leads, Budgetary Quotation, Tender, Bid, Order Acquisition and Order Received.</a:t>
            </a:r>
            <a:endParaRPr sz="12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37" name="Google Shape;137;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User Roles &amp; Responsibilities:</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Admin (Access: All)</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Full access to every dashboard, form and tool.</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Manages the portal overall.</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Executive (Access: Dashboards)</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Views dashboards in the lead tabs.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Monitors pipeline and analysis.</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200" b="1" u="sng">
                <a:solidFill>
                  <a:schemeClr val="dk1"/>
                </a:solidFill>
              </a:rPr>
              <a:t>Operator (Access: All 6 forms)</a:t>
            </a:r>
            <a:endParaRPr sz="1200" b="1" u="sng">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Enters data through all 6 forms.</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Uses bulk upload tools.</a:t>
            </a:r>
            <a:endParaRPr sz="11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38" name="Google Shape;138;p1"/>
          <p:cNvSpPr txBox="1">
            <a:spLocks noGrp="1"/>
          </p:cNvSpPr>
          <p:nvPr>
            <p:ph type="body" idx="1"/>
          </p:nvPr>
        </p:nvSpPr>
        <p:spPr>
          <a:xfrm>
            <a:off x="311700" y="333150"/>
            <a:ext cx="8520600" cy="50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Data Model:</a:t>
            </a:r>
            <a:endParaRPr sz="1300" b="1">
              <a:solidFill>
                <a:schemeClr val="dk1"/>
              </a:solidFill>
            </a:endParaRPr>
          </a:p>
        </p:txBody>
      </p:sp>
      <p:sp>
        <p:nvSpPr>
          <p:cNvPr id="139" name="Box 139"/>
          <p:cNvSpPr/>
          <p:nvPr/>
        </p:nvSpPr>
        <p:spPr>
          <a:xfrm>
            <a:off x="2286000" y="960120"/>
            <a:ext cx="4572000" cy="73152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200" b="1">
                <a:solidFill>
                  <a:schemeClr val="dk1"/>
                </a:solidFill>
              </a:rPr>
              <a:t>leads (one row per lead)</a:t>
            </a:r>
          </a:p>
          <a:p>
            <a:pPr algn="ctr"/>
            <a:r>
              <a:rPr lang="en-GB" sz="1000">
                <a:solidFill>
                  <a:schemeClr val="dk1"/>
                </a:solidFill>
              </a:rPr>
              <a:t>lead_reference_no (PK)</a:t>
            </a:r>
          </a:p>
        </p:txBody>
      </p:sp>
      <p:cxnSp>
        <p:nvCxnSpPr>
          <p:cNvPr id="140" name="Line 140"/>
          <p:cNvCxnSpPr/>
          <p:nvPr/>
        </p:nvCxnSpPr>
        <p:spPr>
          <a:xfrm>
            <a:off x="4572000" y="1691640"/>
            <a:ext cx="0" cy="320040"/>
          </a:xfrm>
          <a:prstGeom prst="straightConnector1">
            <a:avLst/>
          </a:prstGeom>
          <a:ln w="12700">
            <a:solidFill>
              <a:srgbClr val="000000"/>
            </a:solidFill>
          </a:ln>
        </p:spPr>
      </p:cxnSp>
      <p:cxnSp>
        <p:nvCxnSpPr>
          <p:cNvPr id="141" name="Line 141"/>
          <p:cNvCxnSpPr/>
          <p:nvPr/>
        </p:nvCxnSpPr>
        <p:spPr>
          <a:xfrm>
            <a:off x="1074420" y="2011680"/>
            <a:ext cx="6995160" cy="0"/>
          </a:xfrm>
          <a:prstGeom prst="straightConnector1">
            <a:avLst/>
          </a:prstGeom>
          <a:ln w="12700">
            <a:solidFill>
              <a:srgbClr val="000000"/>
            </a:solidFill>
          </a:ln>
        </p:spPr>
      </p:cxnSp>
      <p:cxnSp>
        <p:nvCxnSpPr>
          <p:cNvPr id="142" name="Line 142"/>
          <p:cNvCxnSpPr/>
          <p:nvPr/>
        </p:nvCxnSpPr>
        <p:spPr>
          <a:xfrm>
            <a:off x="1074420" y="2011680"/>
            <a:ext cx="0" cy="274320"/>
          </a:xfrm>
          <a:prstGeom prst="straightConnector1">
            <a:avLst/>
          </a:prstGeom>
          <a:ln w="12700">
            <a:solidFill>
              <a:srgbClr val="000000"/>
            </a:solidFill>
            <a:tailEnd type="triangle"/>
          </a:ln>
        </p:spPr>
      </p:cxnSp>
      <p:sp>
        <p:nvSpPr>
          <p:cNvPr id="143" name="Box 143"/>
          <p:cNvSpPr/>
          <p:nvPr/>
        </p:nvSpPr>
        <p:spPr>
          <a:xfrm>
            <a:off x="457200"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Quotation details</a:t>
            </a:r>
          </a:p>
        </p:txBody>
      </p:sp>
      <p:cxnSp>
        <p:nvCxnSpPr>
          <p:cNvPr id="144" name="Line 144"/>
          <p:cNvCxnSpPr/>
          <p:nvPr/>
        </p:nvCxnSpPr>
        <p:spPr>
          <a:xfrm>
            <a:off x="2473452" y="2011680"/>
            <a:ext cx="0" cy="274320"/>
          </a:xfrm>
          <a:prstGeom prst="straightConnector1">
            <a:avLst/>
          </a:prstGeom>
          <a:ln w="12700">
            <a:solidFill>
              <a:srgbClr val="000000"/>
            </a:solidFill>
            <a:tailEnd type="triangle"/>
          </a:ln>
        </p:spPr>
      </p:cxnSp>
      <p:sp>
        <p:nvSpPr>
          <p:cNvPr id="145" name="Box 145"/>
          <p:cNvSpPr/>
          <p:nvPr/>
        </p:nvSpPr>
        <p:spPr>
          <a:xfrm>
            <a:off x="1856232"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Tender details</a:t>
            </a:r>
          </a:p>
        </p:txBody>
      </p:sp>
      <p:cxnSp>
        <p:nvCxnSpPr>
          <p:cNvPr id="146" name="Line 146"/>
          <p:cNvCxnSpPr/>
          <p:nvPr/>
        </p:nvCxnSpPr>
        <p:spPr>
          <a:xfrm>
            <a:off x="3872484" y="2011680"/>
            <a:ext cx="0" cy="274320"/>
          </a:xfrm>
          <a:prstGeom prst="straightConnector1">
            <a:avLst/>
          </a:prstGeom>
          <a:ln w="12700">
            <a:solidFill>
              <a:srgbClr val="000000"/>
            </a:solidFill>
            <a:tailEnd type="triangle"/>
          </a:ln>
        </p:spPr>
      </p:cxnSp>
      <p:sp>
        <p:nvSpPr>
          <p:cNvPr id="147" name="Box 147"/>
          <p:cNvSpPr/>
          <p:nvPr/>
        </p:nvSpPr>
        <p:spPr>
          <a:xfrm>
            <a:off x="3255264"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Bidding details</a:t>
            </a:r>
          </a:p>
        </p:txBody>
      </p:sp>
      <p:cxnSp>
        <p:nvCxnSpPr>
          <p:cNvPr id="148" name="Line 148"/>
          <p:cNvCxnSpPr/>
          <p:nvPr/>
        </p:nvCxnSpPr>
        <p:spPr>
          <a:xfrm>
            <a:off x="5271516" y="2011680"/>
            <a:ext cx="0" cy="274320"/>
          </a:xfrm>
          <a:prstGeom prst="straightConnector1">
            <a:avLst/>
          </a:prstGeom>
          <a:ln w="12700">
            <a:solidFill>
              <a:srgbClr val="000000"/>
            </a:solidFill>
            <a:tailEnd type="triangle"/>
          </a:ln>
        </p:spPr>
      </p:cxnSp>
      <p:sp>
        <p:nvSpPr>
          <p:cNvPr id="149" name="Box 149"/>
          <p:cNvSpPr/>
          <p:nvPr/>
        </p:nvSpPr>
        <p:spPr>
          <a:xfrm>
            <a:off x="4654296"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Order acquisition details</a:t>
            </a:r>
          </a:p>
        </p:txBody>
      </p:sp>
      <p:cxnSp>
        <p:nvCxnSpPr>
          <p:cNvPr id="150" name="Line 150"/>
          <p:cNvCxnSpPr/>
          <p:nvPr/>
        </p:nvCxnSpPr>
        <p:spPr>
          <a:xfrm>
            <a:off x="6670548" y="2011680"/>
            <a:ext cx="0" cy="274320"/>
          </a:xfrm>
          <a:prstGeom prst="straightConnector1">
            <a:avLst/>
          </a:prstGeom>
          <a:ln w="12700">
            <a:solidFill>
              <a:srgbClr val="000000"/>
            </a:solidFill>
            <a:tailEnd type="triangle"/>
          </a:ln>
        </p:spPr>
      </p:cxnSp>
      <p:sp>
        <p:nvSpPr>
          <p:cNvPr id="151" name="Box 151"/>
          <p:cNvSpPr/>
          <p:nvPr/>
        </p:nvSpPr>
        <p:spPr>
          <a:xfrm>
            <a:off x="6053328"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Order received details</a:t>
            </a:r>
          </a:p>
        </p:txBody>
      </p:sp>
      <p:cxnSp>
        <p:nvCxnSpPr>
          <p:cNvPr id="152" name="Line 152"/>
          <p:cNvCxnSpPr/>
          <p:nvPr/>
        </p:nvCxnSpPr>
        <p:spPr>
          <a:xfrm>
            <a:off x="8069580" y="2011680"/>
            <a:ext cx="0" cy="274320"/>
          </a:xfrm>
          <a:prstGeom prst="straightConnector1">
            <a:avLst/>
          </a:prstGeom>
          <a:ln w="12700">
            <a:solidFill>
              <a:srgbClr val="000000"/>
            </a:solidFill>
            <a:tailEnd type="triangle"/>
          </a:ln>
        </p:spPr>
      </p:cxnSp>
      <p:sp>
        <p:nvSpPr>
          <p:cNvPr id="153" name="Box 153"/>
          <p:cNvSpPr/>
          <p:nvPr/>
        </p:nvSpPr>
        <p:spPr>
          <a:xfrm>
            <a:off x="7452360" y="2286000"/>
            <a:ext cx="1234440" cy="822960"/>
          </a:xfrm>
          <a:prstGeom prst="rect">
            <a:avLst/>
          </a:prstGeom>
          <a:solidFill>
            <a:srgbClr val="FFFFFF"/>
          </a:solidFill>
          <a:ln w="12700">
            <a:solidFill>
              <a:srgbClr val="000000"/>
            </a:solidFill>
          </a:ln>
        </p:spPr>
        <p:txBody>
          <a:bodyPr wrap="square" lIns="45720" tIns="45720" rIns="45720" bIns="45720" anchor="ctr">
            <a:noAutofit/>
          </a:bodyPr>
          <a:lstStyle/>
          <a:p>
            <a:pPr algn="ctr"/>
            <a:r>
              <a:rPr lang="en-GB" sz="1100" b="1">
                <a:solidFill>
                  <a:schemeClr val="dk1"/>
                </a:solidFill>
              </a:rPr>
              <a:t>Stage history</a:t>
            </a:r>
          </a:p>
        </p:txBody>
      </p:sp>
      <p:sp>
        <p:nvSpPr>
          <p:cNvPr id="154" name="Text 154"/>
          <p:cNvSpPr txBox="1"/>
          <p:nvPr/>
        </p:nvSpPr>
        <p:spPr>
          <a:xfrm>
            <a:off x="310896" y="3383280"/>
            <a:ext cx="8229600"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200" b="1">
                <a:solidFill>
                  <a:schemeClr val="dk1"/>
                </a:solidFill>
              </a:rPr>
              <a:t>Supporting data:</a:t>
            </a:r>
            <a:endParaRPr sz="1200" b="1">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Partners, competitors, corrigenda and milestones.</a:t>
            </a:r>
            <a:endParaRPr sz="12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55" name="Google Shape;155;p1"/>
          <p:cNvSpPr txBox="1">
            <a:spLocks noGrp="1"/>
          </p:cNvSpPr>
          <p:nvPr>
            <p:ph type="body" idx="1"/>
          </p:nvPr>
        </p:nvSpPr>
        <p:spPr>
          <a:xfrm>
            <a:off x="311700" y="333150"/>
            <a:ext cx="8520600" cy="447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300" b="1">
                <a:solidFill>
                  <a:schemeClr val="dk1"/>
                </a:solidFill>
              </a:rPr>
              <a:t>Conclusion:</a:t>
            </a:r>
            <a:endParaRPr sz="1300" b="1">
              <a:solidFill>
                <a:schemeClr val="dk1"/>
              </a:solidFill>
            </a:endParaRPr>
          </a:p>
          <a:p>
            <a:pPr marL="457200" lvl="0" indent="-298450" algn="l" rtl="0">
              <a:spcBef>
                <a:spcPts val="1200"/>
              </a:spcBef>
              <a:spcAft>
                <a:spcPts val="0"/>
              </a:spcAft>
              <a:buClr>
                <a:schemeClr val="dk1"/>
              </a:buClr>
              <a:buSzPts val="1200"/>
              <a:buChar char="●"/>
            </a:pPr>
            <a:r>
              <a:rPr lang="en-GB" sz="1200">
                <a:solidFill>
                  <a:schemeClr val="dk1"/>
                </a:solidFill>
              </a:rPr>
              <a:t>The Marketing Portal manages every lead in one place, from enquiry to order received.</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Three tabs per module make data entry, viewing and bulk upload simple.</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Eight dashboards give management a clear view of the pipeline.</a:t>
            </a:r>
            <a:endParaRPr sz="1200">
              <a:solidFill>
                <a:schemeClr val="dk1"/>
              </a:solidFill>
            </a:endParaRPr>
          </a:p>
          <a:p>
            <a:pPr marL="457200" lvl="0" indent="-298450" algn="l" rtl="0">
              <a:spcBef>
                <a:spcPts val="0"/>
              </a:spcBef>
              <a:spcAft>
                <a:spcPts val="0"/>
              </a:spcAft>
              <a:buClr>
                <a:schemeClr val="dk1"/>
              </a:buClr>
              <a:buSzPts val="1200"/>
              <a:buChar char="●"/>
            </a:pPr>
            <a:r>
              <a:rPr lang="en-GB" sz="1200">
                <a:solidFill>
                  <a:schemeClr val="dk1"/>
                </a:solidFill>
              </a:rPr>
              <a:t>Role-based access and a unique key keep the data controlled and consistent.</a:t>
            </a:r>
            <a:endParaRPr sz="12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36</Slides>
  <Notes>23</Notes>
  <HiddenSlides>0</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Simple Light</vt:lpstr>
      <vt:lpstr>Project summary</vt:lpstr>
      <vt:lpstr>JavaScript Learning </vt:lpstr>
      <vt:lpstr>PowerPoint Presentation</vt:lpstr>
      <vt:lpstr>React.js Learning </vt:lpstr>
      <vt:lpstr>PowerPoint Presentation</vt:lpstr>
      <vt:lpstr>PowerPoint Presentation</vt:lpstr>
      <vt:lpstr>Overall Learning Outcome </vt:lpstr>
      <vt:lpstr>Industry 4.0 (NIRMAN)</vt:lpstr>
      <vt:lpstr>PowerPoint Presentation</vt:lpstr>
      <vt:lpstr>PowerPoint Presentation</vt:lpstr>
      <vt:lpstr>PowerPoint Presentation</vt:lpstr>
      <vt:lpstr>PowerPoint Presentation</vt:lpstr>
      <vt:lpstr>Industry 4.0 (GR TO UD)</vt:lpstr>
      <vt:lpstr>PowerPoint Presentation</vt:lpstr>
      <vt:lpstr>PowerPoint Presentation</vt:lpstr>
      <vt:lpstr>PowerPoint Presentation</vt:lpstr>
      <vt:lpstr>PowerPoint Presentation</vt:lpstr>
      <vt:lpstr>PDM(Predictive maintenance)</vt:lpstr>
      <vt:lpstr>PowerPoint Presentation</vt:lpstr>
      <vt:lpstr>PowerPoint Presentation</vt:lpstr>
      <vt:lpstr>PowerPoint Presentation</vt:lpstr>
      <vt:lpstr>PowerPoint Presentation</vt:lpstr>
      <vt:lpstr>PowerPoint Presentation</vt:lpstr>
      <vt:lpstr>MROT (Maintenance Repair Operation Training)</vt:lpstr>
      <vt:lpstr>PowerPoint Presentation</vt:lpstr>
      <vt:lpstr>PowerPoint Presentation</vt:lpstr>
      <vt:lpstr>PowerPoint Presentation</vt:lpstr>
      <vt:lpstr>PowerPoint Presentation</vt:lpstr>
      <vt:lpstr>PowerPoint Presentation</vt:lpstr>
      <vt:lpstr>PowerPoint Presentation</vt:lpstr>
      <vt:lpstr>Marketing Portal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summary</dc:title>
  <cp:lastModifiedBy>SANJAY P</cp:lastModifiedBy>
  <cp:revision>1</cp:revision>
  <dcterms:modified xsi:type="dcterms:W3CDTF">2026-10-13T01:32:38Z</dcterms:modified>
</cp:coreProperties>
</file>